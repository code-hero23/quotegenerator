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256" r:id="rId2"/>
    <p:sldId id="257" r:id="rId3"/>
    <p:sldId id="258" r:id="rId4"/>
    <p:sldId id="261" r:id="rId5"/>
    <p:sldId id="262" r:id="rId6"/>
    <p:sldId id="263" r:id="rId7"/>
    <p:sldId id="280" r:id="rId8"/>
    <p:sldId id="277" r:id="rId9"/>
    <p:sldId id="281" r:id="rId10"/>
    <p:sldId id="270" r:id="rId11"/>
    <p:sldId id="268" r:id="rId12"/>
    <p:sldId id="269" r:id="rId13"/>
    <p:sldId id="267" r:id="rId14"/>
    <p:sldId id="271" r:id="rId15"/>
    <p:sldId id="272" r:id="rId16"/>
    <p:sldId id="273" r:id="rId17"/>
    <p:sldId id="274" r:id="rId18"/>
    <p:sldId id="275" r:id="rId19"/>
    <p:sldId id="276" r:id="rId20"/>
    <p:sldId id="278" r:id="rId21"/>
    <p:sldId id="279" r:id="rId22"/>
    <p:sldId id="282" r:id="rId23"/>
    <p:sldId id="284" r:id="rId24"/>
    <p:sldId id="285" r:id="rId25"/>
    <p:sldId id="286" r:id="rId26"/>
    <p:sldId id="287" r:id="rId27"/>
    <p:sldId id="290" r:id="rId28"/>
    <p:sldId id="288" r:id="rId29"/>
    <p:sldId id="289" r:id="rId30"/>
  </p:sldIdLst>
  <p:sldSz cx="10045700" cy="14198600"/>
  <p:notesSz cx="7104063" cy="10234613"/>
  <p:embeddedFontLst>
    <p:embeddedFont>
      <p:font typeface="Baskerville Display PT" panose="020B0604020202020204" charset="0"/>
      <p:regular r:id="rId32"/>
    </p:embeddedFont>
    <p:embeddedFont>
      <p:font typeface="Calibri" panose="020F0502020204030204" pitchFamily="34" charset="0"/>
      <p:regular r:id="rId33"/>
      <p:bold r:id="rId34"/>
      <p:italic r:id="rId35"/>
      <p:boldItalic r:id="rId36"/>
    </p:embeddedFont>
    <p:embeddedFont>
      <p:font typeface="Caudex Bold" panose="020B0604020202020204" charset="2"/>
      <p:regular r:id="rId37"/>
    </p:embeddedFont>
    <p:embeddedFont>
      <p:font typeface="Inter" panose="020B0604020202020204" charset="0"/>
      <p:regular r:id="rId38"/>
    </p:embeddedFont>
    <p:embeddedFont>
      <p:font typeface="Klein" panose="020B0604020202020204" charset="0"/>
      <p:regular r:id="rId39"/>
    </p:embeddedFont>
    <p:embeddedFont>
      <p:font typeface="Moontime" panose="020B0604020202020204" charset="0"/>
      <p:regular r:id="rId40"/>
    </p:embeddedFont>
    <p:embeddedFont>
      <p:font typeface="Segoe UI Semibold" panose="020B0702040204020203" pitchFamily="34" charset="0"/>
      <p:bold r:id="rId41"/>
      <p:bold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7ED"/>
    <a:srgbClr val="0E0E0D"/>
    <a:srgbClr val="FAF0F1"/>
    <a:srgbClr val="F4EDE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59" autoAdjust="0"/>
    <p:restoredTop sz="95514" autoAdjust="0"/>
  </p:normalViewPr>
  <p:slideViewPr>
    <p:cSldViewPr>
      <p:cViewPr>
        <p:scale>
          <a:sx n="200" d="100"/>
          <a:sy n="200" d="100"/>
        </p:scale>
        <p:origin x="-1554" y="-111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en-IN"/>
          </a:p>
        </p:txBody>
      </p:sp>
      <p:sp>
        <p:nvSpPr>
          <p:cNvPr id="3" name="Date Placeholder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2E0BE41C-301B-4B98-B991-CEF3C26D0AAD}" type="datetimeFigureOut">
              <a:rPr lang="en-IN" smtClean="0"/>
              <a:t>10-10-2026</a:t>
            </a:fld>
            <a:endParaRPr lang="en-IN"/>
          </a:p>
        </p:txBody>
      </p:sp>
      <p:sp>
        <p:nvSpPr>
          <p:cNvPr id="4" name="Slide Image Placeholder 3"/>
          <p:cNvSpPr>
            <a:spLocks noGrp="1" noRot="1" noChangeAspect="1"/>
          </p:cNvSpPr>
          <p:nvPr>
            <p:ph type="sldImg" idx="2"/>
          </p:nvPr>
        </p:nvSpPr>
        <p:spPr>
          <a:xfrm>
            <a:off x="2330450" y="1279525"/>
            <a:ext cx="2443163" cy="3454400"/>
          </a:xfrm>
          <a:prstGeom prst="rect">
            <a:avLst/>
          </a:prstGeom>
          <a:noFill/>
          <a:ln w="12700">
            <a:solidFill>
              <a:prstClr val="black"/>
            </a:solidFill>
          </a:ln>
        </p:spPr>
        <p:txBody>
          <a:bodyPr vert="horz" lIns="99075" tIns="49538" rIns="99075" bIns="49538" rtlCol="0" anchor="ctr"/>
          <a:lstStyle/>
          <a:p>
            <a:endParaRPr lang="en-IN"/>
          </a:p>
        </p:txBody>
      </p:sp>
      <p:sp>
        <p:nvSpPr>
          <p:cNvPr id="5" name="Notes Placeholder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en-IN"/>
          </a:p>
        </p:txBody>
      </p:sp>
      <p:sp>
        <p:nvSpPr>
          <p:cNvPr id="7" name="Slide Number Placeholder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9B7A2D13-6AA5-4808-B0E5-C6DA3ED4F745}" type="slidenum">
              <a:rPr lang="en-IN" smtClean="0"/>
              <a:t>‹#›</a:t>
            </a:fld>
            <a:endParaRPr lang="en-IN"/>
          </a:p>
        </p:txBody>
      </p:sp>
    </p:spTree>
    <p:extLst>
      <p:ext uri="{BB962C8B-B14F-4D97-AF65-F5344CB8AC3E}">
        <p14:creationId xmlns:p14="http://schemas.microsoft.com/office/powerpoint/2010/main" val="3060663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13631408"/>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Mr. Aravindan | Individual Villa Adyar | 7418414780</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13631408"/>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Mr. Aravindan | Individual Villa Adyar | 7418414780</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13631408"/>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Mr. Aravindan | Individual Villa Adyar | 7418414780</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13631408"/>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Mr. Aravindan | Individual Villa Adyar | 7418414780</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13631408"/>
            <a:ext cx="2133600" cy="365125"/>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en-US"/>
              <a:t>Mr. Aravindan | Individual Villa Adyar | 7418414780</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13631408"/>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a:t>Mr. Aravindan | Individual Villa Adyar | 7418414780</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13631408"/>
            <a:ext cx="21336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Mr. Aravindan | Individual Villa Adyar | 7418414780</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13631408"/>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Mr. Aravindan | Individual Villa Adyar | 7418414780</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13631408"/>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Mr. Aravindan | Individual Villa Adyar | 7418414780</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13631408"/>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Mr. Aravindan | Individual Villa Adyar | 7418414780</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13631408"/>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Mr. Aravindan | Individual Villa Adyar | 7418414780</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EDE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1704975" y="13592175"/>
            <a:ext cx="6635750" cy="365125"/>
          </a:xfrm>
          <a:prstGeom prst="rect">
            <a:avLst/>
          </a:prstGeom>
        </p:spPr>
        <p:txBody>
          <a:bodyPr vert="horz" lIns="91440" tIns="45720" rIns="91440" bIns="45720" rtlCol="0" anchor="ctr"/>
          <a:lstStyle>
            <a:lvl1pPr algn="ctr">
              <a:defRPr sz="2000" b="1">
                <a:solidFill>
                  <a:schemeClr val="accent2">
                    <a:lumMod val="50000"/>
                  </a:schemeClr>
                </a:solidFill>
              </a:defRPr>
            </a:lvl1pPr>
          </a:lstStyle>
          <a:p>
            <a:r>
              <a:rPr lang="en-US" dirty="0"/>
              <a:t>Mr. Aravindan | Individual Villa Adyar | 7418414780</a:t>
            </a:r>
          </a:p>
        </p:txBody>
      </p:sp>
      <p:sp>
        <p:nvSpPr>
          <p:cNvPr id="6" name="Slide Number Placeholder 5"/>
          <p:cNvSpPr>
            <a:spLocks noGrp="1"/>
          </p:cNvSpPr>
          <p:nvPr>
            <p:ph type="sldNum" sz="quarter" idx="4"/>
          </p:nvPr>
        </p:nvSpPr>
        <p:spPr>
          <a:xfrm>
            <a:off x="7600450" y="13741398"/>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8" name="Picture 7">
            <a:extLst>
              <a:ext uri="{FF2B5EF4-FFF2-40B4-BE49-F238E27FC236}">
                <a16:creationId xmlns:a16="http://schemas.microsoft.com/office/drawing/2014/main" id="{A667C62E-872C-4C5E-A1B9-91303AF7546C}"/>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242050" y="274638"/>
            <a:ext cx="3493554" cy="655042"/>
          </a:xfrm>
          <a:prstGeom prst="rect">
            <a:avLst/>
          </a:prstGeom>
        </p:spPr>
      </p:pic>
      <p:cxnSp>
        <p:nvCxnSpPr>
          <p:cNvPr id="10" name="Straight Connector 9">
            <a:extLst>
              <a:ext uri="{FF2B5EF4-FFF2-40B4-BE49-F238E27FC236}">
                <a16:creationId xmlns:a16="http://schemas.microsoft.com/office/drawing/2014/main" id="{C57DEFCB-D268-4725-BC7F-591AFF762CED}"/>
              </a:ext>
            </a:extLst>
          </p:cNvPr>
          <p:cNvCxnSpPr>
            <a:cxnSpLocks/>
          </p:cNvCxnSpPr>
          <p:nvPr userDrawn="1"/>
        </p:nvCxnSpPr>
        <p:spPr>
          <a:xfrm flipH="1">
            <a:off x="6242050" y="1003300"/>
            <a:ext cx="349200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26" Type="http://schemas.openxmlformats.org/officeDocument/2006/relationships/image" Target="../media/image26.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5" Type="http://schemas.openxmlformats.org/officeDocument/2006/relationships/image" Target="../media/image25.pn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29"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image" Target="../media/image24.pn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28" Type="http://schemas.openxmlformats.org/officeDocument/2006/relationships/image" Target="../media/image28.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 Id="rId27" Type="http://schemas.openxmlformats.org/officeDocument/2006/relationships/image" Target="../media/image27.png"/><Relationship Id="rId30" Type="http://schemas.openxmlformats.org/officeDocument/2006/relationships/image" Target="../media/image30.png"/></Relationships>
</file>

<file path=ppt/slides/_rels/slide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jpeg"/><Relationship Id="rId2" Type="http://schemas.openxmlformats.org/officeDocument/2006/relationships/image" Target="../media/image37.jpe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jpeg"/><Relationship Id="rId4" Type="http://schemas.openxmlformats.org/officeDocument/2006/relationships/image" Target="../media/image3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47.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pn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70B24F09-B053-4734-8F49-F83E45A706A7}"/>
              </a:ext>
            </a:extLst>
          </p:cNvPr>
          <p:cNvPicPr>
            <a:picLocks noChangeAspect="1"/>
          </p:cNvPicPr>
          <p:nvPr/>
        </p:nvPicPr>
        <p:blipFill rotWithShape="1">
          <a:blip r:embed="rId2"/>
          <a:srcRect l="26425" t="-47" r="17419" b="47"/>
          <a:stretch/>
        </p:blipFill>
        <p:spPr>
          <a:xfrm flipH="1">
            <a:off x="3822320" y="1717"/>
            <a:ext cx="6241300" cy="8080035"/>
          </a:xfrm>
          <a:prstGeom prst="flowChartDelay">
            <a:avLst/>
          </a:prstGeom>
        </p:spPr>
      </p:pic>
      <p:sp>
        <p:nvSpPr>
          <p:cNvPr id="8" name="Freeform 8"/>
          <p:cNvSpPr/>
          <p:nvPr/>
        </p:nvSpPr>
        <p:spPr>
          <a:xfrm>
            <a:off x="190500" y="7629525"/>
            <a:ext cx="6191250" cy="2484978"/>
          </a:xfrm>
          <a:custGeom>
            <a:avLst/>
            <a:gdLst/>
            <a:ahLst/>
            <a:cxnLst/>
            <a:rect l="l" t="t" r="r" b="b"/>
            <a:pathLst>
              <a:path w="6191250" h="2667000">
                <a:moveTo>
                  <a:pt x="0" y="0"/>
                </a:moveTo>
                <a:lnTo>
                  <a:pt x="6191250" y="0"/>
                </a:lnTo>
                <a:lnTo>
                  <a:pt x="6191250" y="2667000"/>
                </a:lnTo>
                <a:lnTo>
                  <a:pt x="0" y="2667000"/>
                </a:lnTo>
                <a:lnTo>
                  <a:pt x="0" y="0"/>
                </a:lnTo>
                <a:close/>
              </a:path>
            </a:pathLst>
          </a:custGeom>
          <a:blipFill>
            <a:blip r:embed="rId3">
              <a:duotone>
                <a:prstClr val="black"/>
                <a:srgbClr val="D9C3A5">
                  <a:tint val="50000"/>
                  <a:satMod val="180000"/>
                </a:srgbClr>
              </a:duotone>
            </a:blip>
            <a:stretch>
              <a:fillRect/>
            </a:stretch>
          </a:blipFill>
        </p:spPr>
        <p:txBody>
          <a:bodyPr/>
          <a:lstStyle/>
          <a:p>
            <a:endParaRPr lang="en-IN" dirty="0"/>
          </a:p>
        </p:txBody>
      </p:sp>
      <p:sp>
        <p:nvSpPr>
          <p:cNvPr id="81" name="Freeform 8">
            <a:extLst>
              <a:ext uri="{FF2B5EF4-FFF2-40B4-BE49-F238E27FC236}">
                <a16:creationId xmlns:a16="http://schemas.microsoft.com/office/drawing/2014/main" id="{5BC164A3-715A-4CB7-AD05-077367C6A2EA}"/>
              </a:ext>
            </a:extLst>
          </p:cNvPr>
          <p:cNvSpPr/>
          <p:nvPr/>
        </p:nvSpPr>
        <p:spPr>
          <a:xfrm>
            <a:off x="3976987" y="10133269"/>
            <a:ext cx="5229225" cy="1944432"/>
          </a:xfrm>
          <a:custGeom>
            <a:avLst/>
            <a:gdLst/>
            <a:ahLst/>
            <a:cxnLst/>
            <a:rect l="l" t="t" r="r" b="b"/>
            <a:pathLst>
              <a:path w="6191250" h="2667000">
                <a:moveTo>
                  <a:pt x="0" y="0"/>
                </a:moveTo>
                <a:lnTo>
                  <a:pt x="6191250" y="0"/>
                </a:lnTo>
                <a:lnTo>
                  <a:pt x="6191250" y="2667000"/>
                </a:lnTo>
                <a:lnTo>
                  <a:pt x="0" y="2667000"/>
                </a:lnTo>
                <a:lnTo>
                  <a:pt x="0" y="0"/>
                </a:lnTo>
                <a:close/>
              </a:path>
            </a:pathLst>
          </a:custGeom>
          <a:blipFill>
            <a:blip r:embed="rId3">
              <a:duotone>
                <a:prstClr val="black"/>
                <a:srgbClr val="D9C3A5">
                  <a:tint val="50000"/>
                  <a:satMod val="180000"/>
                </a:srgbClr>
              </a:duotone>
            </a:blip>
            <a:stretch>
              <a:fillRect/>
            </a:stretch>
          </a:blipFill>
        </p:spPr>
        <p:txBody>
          <a:bodyPr/>
          <a:lstStyle/>
          <a:p>
            <a:endParaRPr lang="en-IN" dirty="0"/>
          </a:p>
        </p:txBody>
      </p:sp>
      <p:sp>
        <p:nvSpPr>
          <p:cNvPr id="3" name="Freeform 3"/>
          <p:cNvSpPr/>
          <p:nvPr/>
        </p:nvSpPr>
        <p:spPr>
          <a:xfrm>
            <a:off x="0" y="0"/>
            <a:ext cx="1162050" cy="1781175"/>
          </a:xfrm>
          <a:custGeom>
            <a:avLst/>
            <a:gdLst/>
            <a:ahLst/>
            <a:cxnLst/>
            <a:rect l="l" t="t" r="r" b="b"/>
            <a:pathLst>
              <a:path w="1162050" h="1781175">
                <a:moveTo>
                  <a:pt x="0" y="0"/>
                </a:moveTo>
                <a:lnTo>
                  <a:pt x="1162050" y="0"/>
                </a:lnTo>
                <a:lnTo>
                  <a:pt x="1162050" y="1781175"/>
                </a:lnTo>
                <a:lnTo>
                  <a:pt x="0" y="1781175"/>
                </a:lnTo>
                <a:lnTo>
                  <a:pt x="0" y="0"/>
                </a:lnTo>
                <a:close/>
              </a:path>
            </a:pathLst>
          </a:custGeom>
          <a:blipFill>
            <a:blip r:embed="rId4"/>
            <a:stretch>
              <a:fillRect/>
            </a:stretch>
          </a:blipFill>
        </p:spPr>
      </p:sp>
      <p:sp>
        <p:nvSpPr>
          <p:cNvPr id="7" name="Freeform 7"/>
          <p:cNvSpPr/>
          <p:nvPr/>
        </p:nvSpPr>
        <p:spPr>
          <a:xfrm>
            <a:off x="0" y="5308034"/>
            <a:ext cx="3088307" cy="405598"/>
          </a:xfrm>
          <a:custGeom>
            <a:avLst/>
            <a:gdLst/>
            <a:ahLst/>
            <a:cxnLst/>
            <a:rect l="l" t="t" r="r" b="b"/>
            <a:pathLst>
              <a:path w="781050" h="180975">
                <a:moveTo>
                  <a:pt x="0" y="0"/>
                </a:moveTo>
                <a:lnTo>
                  <a:pt x="781050" y="0"/>
                </a:lnTo>
                <a:lnTo>
                  <a:pt x="781050" y="180975"/>
                </a:lnTo>
                <a:lnTo>
                  <a:pt x="0" y="180975"/>
                </a:lnTo>
                <a:lnTo>
                  <a:pt x="0" y="0"/>
                </a:lnTo>
                <a:close/>
              </a:path>
            </a:pathLst>
          </a:custGeom>
          <a:blipFill>
            <a:blip r:embed="rId5"/>
            <a:stretch>
              <a:fillRect/>
            </a:stretch>
          </a:blipFill>
        </p:spPr>
      </p:sp>
      <p:sp>
        <p:nvSpPr>
          <p:cNvPr id="9" name="Freeform 9"/>
          <p:cNvSpPr/>
          <p:nvPr/>
        </p:nvSpPr>
        <p:spPr>
          <a:xfrm>
            <a:off x="381000" y="7448550"/>
            <a:ext cx="2524125" cy="542925"/>
          </a:xfrm>
          <a:custGeom>
            <a:avLst/>
            <a:gdLst/>
            <a:ahLst/>
            <a:cxnLst/>
            <a:rect l="l" t="t" r="r" b="b"/>
            <a:pathLst>
              <a:path w="2524125" h="542925">
                <a:moveTo>
                  <a:pt x="0" y="0"/>
                </a:moveTo>
                <a:lnTo>
                  <a:pt x="2524125" y="0"/>
                </a:lnTo>
                <a:lnTo>
                  <a:pt x="2524125" y="542925"/>
                </a:lnTo>
                <a:lnTo>
                  <a:pt x="0" y="542925"/>
                </a:lnTo>
                <a:lnTo>
                  <a:pt x="0" y="0"/>
                </a:lnTo>
                <a:close/>
              </a:path>
            </a:pathLst>
          </a:custGeom>
          <a:blipFill>
            <a:blip r:embed="rId6">
              <a:duotone>
                <a:prstClr val="black"/>
                <a:schemeClr val="accent2">
                  <a:tint val="45000"/>
                  <a:satMod val="400000"/>
                </a:schemeClr>
              </a:duotone>
            </a:blip>
            <a:stretch>
              <a:fillRect/>
            </a:stretch>
          </a:blipFill>
        </p:spPr>
      </p:sp>
      <p:sp>
        <p:nvSpPr>
          <p:cNvPr id="10" name="Freeform 10"/>
          <p:cNvSpPr/>
          <p:nvPr/>
        </p:nvSpPr>
        <p:spPr>
          <a:xfrm>
            <a:off x="571500" y="8162925"/>
            <a:ext cx="400050" cy="361950"/>
          </a:xfrm>
          <a:custGeom>
            <a:avLst/>
            <a:gdLst/>
            <a:ahLst/>
            <a:cxnLst/>
            <a:rect l="l" t="t" r="r" b="b"/>
            <a:pathLst>
              <a:path w="400050" h="361950">
                <a:moveTo>
                  <a:pt x="0" y="0"/>
                </a:moveTo>
                <a:lnTo>
                  <a:pt x="400050" y="0"/>
                </a:lnTo>
                <a:lnTo>
                  <a:pt x="400050" y="361950"/>
                </a:lnTo>
                <a:lnTo>
                  <a:pt x="0" y="361950"/>
                </a:lnTo>
                <a:lnTo>
                  <a:pt x="0" y="0"/>
                </a:lnTo>
                <a:close/>
              </a:path>
            </a:pathLst>
          </a:custGeom>
          <a:blipFill>
            <a:blip r:embed="rId7"/>
            <a:stretch>
              <a:fillRect/>
            </a:stretch>
          </a:blipFill>
        </p:spPr>
      </p:sp>
      <p:sp>
        <p:nvSpPr>
          <p:cNvPr id="12" name="Freeform 12"/>
          <p:cNvSpPr/>
          <p:nvPr/>
        </p:nvSpPr>
        <p:spPr>
          <a:xfrm>
            <a:off x="571500" y="8515350"/>
            <a:ext cx="400050" cy="542925"/>
          </a:xfrm>
          <a:custGeom>
            <a:avLst/>
            <a:gdLst/>
            <a:ahLst/>
            <a:cxnLst/>
            <a:rect l="l" t="t" r="r" b="b"/>
            <a:pathLst>
              <a:path w="400050" h="542925">
                <a:moveTo>
                  <a:pt x="0" y="0"/>
                </a:moveTo>
                <a:lnTo>
                  <a:pt x="400050" y="0"/>
                </a:lnTo>
                <a:lnTo>
                  <a:pt x="400050" y="542925"/>
                </a:lnTo>
                <a:lnTo>
                  <a:pt x="0" y="542925"/>
                </a:lnTo>
                <a:lnTo>
                  <a:pt x="0" y="0"/>
                </a:lnTo>
                <a:close/>
              </a:path>
            </a:pathLst>
          </a:custGeom>
          <a:blipFill>
            <a:blip r:embed="rId8"/>
            <a:stretch>
              <a:fillRect/>
            </a:stretch>
          </a:blipFill>
        </p:spPr>
      </p:sp>
      <p:sp>
        <p:nvSpPr>
          <p:cNvPr id="16" name="Freeform 16"/>
          <p:cNvSpPr/>
          <p:nvPr/>
        </p:nvSpPr>
        <p:spPr>
          <a:xfrm>
            <a:off x="571500" y="9070975"/>
            <a:ext cx="400050" cy="542925"/>
          </a:xfrm>
          <a:custGeom>
            <a:avLst/>
            <a:gdLst/>
            <a:ahLst/>
            <a:cxnLst/>
            <a:rect l="l" t="t" r="r" b="b"/>
            <a:pathLst>
              <a:path w="400050" h="542925">
                <a:moveTo>
                  <a:pt x="0" y="0"/>
                </a:moveTo>
                <a:lnTo>
                  <a:pt x="400050" y="0"/>
                </a:lnTo>
                <a:lnTo>
                  <a:pt x="400050" y="542925"/>
                </a:lnTo>
                <a:lnTo>
                  <a:pt x="0" y="542925"/>
                </a:lnTo>
                <a:lnTo>
                  <a:pt x="0" y="0"/>
                </a:lnTo>
                <a:close/>
              </a:path>
            </a:pathLst>
          </a:custGeom>
          <a:blipFill>
            <a:blip r:embed="rId9"/>
            <a:stretch>
              <a:fillRect/>
            </a:stretch>
          </a:blipFill>
        </p:spPr>
      </p:sp>
      <p:sp>
        <p:nvSpPr>
          <p:cNvPr id="19" name="Freeform 19"/>
          <p:cNvSpPr/>
          <p:nvPr/>
        </p:nvSpPr>
        <p:spPr>
          <a:xfrm>
            <a:off x="400350" y="9461500"/>
            <a:ext cx="590550" cy="542925"/>
          </a:xfrm>
          <a:custGeom>
            <a:avLst/>
            <a:gdLst/>
            <a:ahLst/>
            <a:cxnLst/>
            <a:rect l="l" t="t" r="r" b="b"/>
            <a:pathLst>
              <a:path w="590550" h="542925">
                <a:moveTo>
                  <a:pt x="0" y="0"/>
                </a:moveTo>
                <a:lnTo>
                  <a:pt x="590550" y="0"/>
                </a:lnTo>
                <a:lnTo>
                  <a:pt x="590550" y="542925"/>
                </a:lnTo>
                <a:lnTo>
                  <a:pt x="0" y="542925"/>
                </a:lnTo>
                <a:lnTo>
                  <a:pt x="0" y="0"/>
                </a:lnTo>
                <a:close/>
              </a:path>
            </a:pathLst>
          </a:custGeom>
          <a:blipFill>
            <a:blip r:embed="rId10"/>
            <a:stretch>
              <a:fillRect/>
            </a:stretch>
          </a:blipFill>
        </p:spPr>
        <p:txBody>
          <a:bodyPr/>
          <a:lstStyle/>
          <a:p>
            <a:endParaRPr lang="en-IN" dirty="0"/>
          </a:p>
        </p:txBody>
      </p:sp>
      <p:sp>
        <p:nvSpPr>
          <p:cNvPr id="22" name="Freeform 22"/>
          <p:cNvSpPr/>
          <p:nvPr/>
        </p:nvSpPr>
        <p:spPr>
          <a:xfrm>
            <a:off x="4246742" y="9943561"/>
            <a:ext cx="2524125" cy="542925"/>
          </a:xfrm>
          <a:custGeom>
            <a:avLst/>
            <a:gdLst/>
            <a:ahLst/>
            <a:cxnLst/>
            <a:rect l="l" t="t" r="r" b="b"/>
            <a:pathLst>
              <a:path w="2524125" h="542925">
                <a:moveTo>
                  <a:pt x="0" y="0"/>
                </a:moveTo>
                <a:lnTo>
                  <a:pt x="2524125" y="0"/>
                </a:lnTo>
                <a:lnTo>
                  <a:pt x="2524125" y="542925"/>
                </a:lnTo>
                <a:lnTo>
                  <a:pt x="0" y="542925"/>
                </a:lnTo>
                <a:lnTo>
                  <a:pt x="0" y="0"/>
                </a:lnTo>
                <a:close/>
              </a:path>
            </a:pathLst>
          </a:custGeom>
          <a:blipFill>
            <a:blip r:embed="rId11">
              <a:duotone>
                <a:prstClr val="black"/>
                <a:schemeClr val="accent2">
                  <a:tint val="45000"/>
                  <a:satMod val="400000"/>
                </a:schemeClr>
              </a:duotone>
            </a:blip>
            <a:stretch>
              <a:fillRect/>
            </a:stretch>
          </a:blipFill>
        </p:spPr>
      </p:sp>
      <p:sp>
        <p:nvSpPr>
          <p:cNvPr id="23" name="Freeform 23"/>
          <p:cNvSpPr/>
          <p:nvPr/>
        </p:nvSpPr>
        <p:spPr>
          <a:xfrm>
            <a:off x="4248150" y="10566940"/>
            <a:ext cx="590550" cy="371475"/>
          </a:xfrm>
          <a:custGeom>
            <a:avLst/>
            <a:gdLst/>
            <a:ahLst/>
            <a:cxnLst/>
            <a:rect l="l" t="t" r="r" b="b"/>
            <a:pathLst>
              <a:path w="590550" h="371475">
                <a:moveTo>
                  <a:pt x="0" y="0"/>
                </a:moveTo>
                <a:lnTo>
                  <a:pt x="590550" y="0"/>
                </a:lnTo>
                <a:lnTo>
                  <a:pt x="590550" y="371475"/>
                </a:lnTo>
                <a:lnTo>
                  <a:pt x="0" y="371475"/>
                </a:lnTo>
                <a:lnTo>
                  <a:pt x="0" y="0"/>
                </a:lnTo>
                <a:close/>
              </a:path>
            </a:pathLst>
          </a:custGeom>
          <a:blipFill>
            <a:blip r:embed="rId12"/>
            <a:stretch>
              <a:fillRect/>
            </a:stretch>
          </a:blipFill>
        </p:spPr>
      </p:sp>
      <p:sp>
        <p:nvSpPr>
          <p:cNvPr id="25" name="Freeform 25"/>
          <p:cNvSpPr/>
          <p:nvPr/>
        </p:nvSpPr>
        <p:spPr>
          <a:xfrm>
            <a:off x="4248150" y="11004494"/>
            <a:ext cx="590550" cy="542925"/>
          </a:xfrm>
          <a:custGeom>
            <a:avLst/>
            <a:gdLst/>
            <a:ahLst/>
            <a:cxnLst/>
            <a:rect l="l" t="t" r="r" b="b"/>
            <a:pathLst>
              <a:path w="590550" h="542925">
                <a:moveTo>
                  <a:pt x="0" y="0"/>
                </a:moveTo>
                <a:lnTo>
                  <a:pt x="590550" y="0"/>
                </a:lnTo>
                <a:lnTo>
                  <a:pt x="590550" y="542925"/>
                </a:lnTo>
                <a:lnTo>
                  <a:pt x="0" y="542925"/>
                </a:lnTo>
                <a:lnTo>
                  <a:pt x="0" y="0"/>
                </a:lnTo>
                <a:close/>
              </a:path>
            </a:pathLst>
          </a:custGeom>
          <a:blipFill>
            <a:blip r:embed="rId13"/>
            <a:stretch>
              <a:fillRect/>
            </a:stretch>
          </a:blipFill>
        </p:spPr>
      </p:sp>
      <p:sp>
        <p:nvSpPr>
          <p:cNvPr id="27" name="Freeform 27"/>
          <p:cNvSpPr/>
          <p:nvPr/>
        </p:nvSpPr>
        <p:spPr>
          <a:xfrm>
            <a:off x="4248150" y="11456931"/>
            <a:ext cx="590550" cy="542925"/>
          </a:xfrm>
          <a:custGeom>
            <a:avLst/>
            <a:gdLst/>
            <a:ahLst/>
            <a:cxnLst/>
            <a:rect l="l" t="t" r="r" b="b"/>
            <a:pathLst>
              <a:path w="590550" h="542925">
                <a:moveTo>
                  <a:pt x="0" y="0"/>
                </a:moveTo>
                <a:lnTo>
                  <a:pt x="590550" y="0"/>
                </a:lnTo>
                <a:lnTo>
                  <a:pt x="590550" y="542925"/>
                </a:lnTo>
                <a:lnTo>
                  <a:pt x="0" y="542925"/>
                </a:lnTo>
                <a:lnTo>
                  <a:pt x="0" y="0"/>
                </a:lnTo>
                <a:close/>
              </a:path>
            </a:pathLst>
          </a:custGeom>
          <a:blipFill>
            <a:blip r:embed="rId14"/>
            <a:stretch>
              <a:fillRect/>
            </a:stretch>
          </a:blipFill>
        </p:spPr>
      </p:sp>
      <p:sp>
        <p:nvSpPr>
          <p:cNvPr id="29" name="Freeform 29"/>
          <p:cNvSpPr/>
          <p:nvPr/>
        </p:nvSpPr>
        <p:spPr>
          <a:xfrm>
            <a:off x="0" y="12773025"/>
            <a:ext cx="2324100" cy="1428750"/>
          </a:xfrm>
          <a:custGeom>
            <a:avLst/>
            <a:gdLst/>
            <a:ahLst/>
            <a:cxnLst/>
            <a:rect l="l" t="t" r="r" b="b"/>
            <a:pathLst>
              <a:path w="2324100" h="1428750">
                <a:moveTo>
                  <a:pt x="0" y="0"/>
                </a:moveTo>
                <a:lnTo>
                  <a:pt x="2324100" y="0"/>
                </a:lnTo>
                <a:lnTo>
                  <a:pt x="2324100" y="1428750"/>
                </a:lnTo>
                <a:lnTo>
                  <a:pt x="0" y="1428750"/>
                </a:lnTo>
                <a:lnTo>
                  <a:pt x="0" y="0"/>
                </a:lnTo>
                <a:close/>
              </a:path>
            </a:pathLst>
          </a:custGeom>
          <a:blipFill>
            <a:blip r:embed="rId15"/>
            <a:stretch>
              <a:fillRect/>
            </a:stretch>
          </a:blipFill>
        </p:spPr>
      </p:sp>
      <p:sp>
        <p:nvSpPr>
          <p:cNvPr id="30" name="Freeform 30"/>
          <p:cNvSpPr/>
          <p:nvPr/>
        </p:nvSpPr>
        <p:spPr>
          <a:xfrm>
            <a:off x="1924050" y="12239625"/>
            <a:ext cx="981075" cy="904875"/>
          </a:xfrm>
          <a:custGeom>
            <a:avLst/>
            <a:gdLst/>
            <a:ahLst/>
            <a:cxnLst/>
            <a:rect l="l" t="t" r="r" b="b"/>
            <a:pathLst>
              <a:path w="981075" h="904875">
                <a:moveTo>
                  <a:pt x="0" y="0"/>
                </a:moveTo>
                <a:lnTo>
                  <a:pt x="981075" y="0"/>
                </a:lnTo>
                <a:lnTo>
                  <a:pt x="981075" y="904875"/>
                </a:lnTo>
                <a:lnTo>
                  <a:pt x="0" y="904875"/>
                </a:lnTo>
                <a:lnTo>
                  <a:pt x="0" y="0"/>
                </a:lnTo>
                <a:close/>
              </a:path>
            </a:pathLst>
          </a:custGeom>
          <a:blipFill>
            <a:blip r:embed="rId16"/>
            <a:stretch>
              <a:fillRect/>
            </a:stretch>
          </a:blipFill>
        </p:spPr>
      </p:sp>
      <p:sp>
        <p:nvSpPr>
          <p:cNvPr id="31" name="Freeform 31"/>
          <p:cNvSpPr/>
          <p:nvPr/>
        </p:nvSpPr>
        <p:spPr>
          <a:xfrm>
            <a:off x="2124075" y="12420600"/>
            <a:ext cx="590550" cy="542925"/>
          </a:xfrm>
          <a:custGeom>
            <a:avLst/>
            <a:gdLst/>
            <a:ahLst/>
            <a:cxnLst/>
            <a:rect l="l" t="t" r="r" b="b"/>
            <a:pathLst>
              <a:path w="590550" h="542925">
                <a:moveTo>
                  <a:pt x="0" y="0"/>
                </a:moveTo>
                <a:lnTo>
                  <a:pt x="590550" y="0"/>
                </a:lnTo>
                <a:lnTo>
                  <a:pt x="590550" y="542925"/>
                </a:lnTo>
                <a:lnTo>
                  <a:pt x="0" y="542925"/>
                </a:lnTo>
                <a:lnTo>
                  <a:pt x="0" y="0"/>
                </a:lnTo>
                <a:close/>
              </a:path>
            </a:pathLst>
          </a:custGeom>
          <a:blipFill>
            <a:blip r:embed="rId17"/>
            <a:stretch>
              <a:fillRect/>
            </a:stretch>
          </a:blipFill>
        </p:spPr>
      </p:sp>
      <p:sp>
        <p:nvSpPr>
          <p:cNvPr id="32" name="TextBox 32"/>
          <p:cNvSpPr txBox="1"/>
          <p:nvPr/>
        </p:nvSpPr>
        <p:spPr>
          <a:xfrm>
            <a:off x="1867456" y="13115374"/>
            <a:ext cx="1138301" cy="387216"/>
          </a:xfrm>
          <a:prstGeom prst="rect">
            <a:avLst/>
          </a:prstGeom>
        </p:spPr>
        <p:txBody>
          <a:bodyPr lIns="0" tIns="0" rIns="0" bIns="0" rtlCol="0" anchor="t">
            <a:spAutoFit/>
          </a:bodyPr>
          <a:lstStyle/>
          <a:p>
            <a:pPr algn="ctr">
              <a:lnSpc>
                <a:spcPts val="1623"/>
              </a:lnSpc>
            </a:pPr>
            <a:r>
              <a:rPr lang="en-US" sz="1159" spc="23">
                <a:solidFill>
                  <a:srgbClr val="08231B"/>
                </a:solidFill>
                <a:latin typeface="Klein"/>
                <a:ea typeface="Klein"/>
                <a:cs typeface="Klein"/>
                <a:sym typeface="Klein"/>
              </a:rPr>
              <a:t>PERSONALIZED DESIGN</a:t>
            </a:r>
          </a:p>
        </p:txBody>
      </p:sp>
      <p:sp>
        <p:nvSpPr>
          <p:cNvPr id="33" name="Freeform 33"/>
          <p:cNvSpPr/>
          <p:nvPr/>
        </p:nvSpPr>
        <p:spPr>
          <a:xfrm>
            <a:off x="3276600" y="12239625"/>
            <a:ext cx="209550" cy="1438275"/>
          </a:xfrm>
          <a:custGeom>
            <a:avLst/>
            <a:gdLst/>
            <a:ahLst/>
            <a:cxnLst/>
            <a:rect l="l" t="t" r="r" b="b"/>
            <a:pathLst>
              <a:path w="209550" h="1438275">
                <a:moveTo>
                  <a:pt x="0" y="0"/>
                </a:moveTo>
                <a:lnTo>
                  <a:pt x="209550" y="0"/>
                </a:lnTo>
                <a:lnTo>
                  <a:pt x="209550" y="1438275"/>
                </a:lnTo>
                <a:lnTo>
                  <a:pt x="0" y="1438275"/>
                </a:lnTo>
                <a:lnTo>
                  <a:pt x="0" y="0"/>
                </a:lnTo>
                <a:close/>
              </a:path>
            </a:pathLst>
          </a:custGeom>
          <a:blipFill>
            <a:blip r:embed="rId18"/>
            <a:stretch>
              <a:fillRect/>
            </a:stretch>
          </a:blipFill>
        </p:spPr>
      </p:sp>
      <p:sp>
        <p:nvSpPr>
          <p:cNvPr id="34" name="Freeform 34"/>
          <p:cNvSpPr/>
          <p:nvPr/>
        </p:nvSpPr>
        <p:spPr>
          <a:xfrm>
            <a:off x="3667125" y="12239625"/>
            <a:ext cx="971550" cy="904875"/>
          </a:xfrm>
          <a:custGeom>
            <a:avLst/>
            <a:gdLst/>
            <a:ahLst/>
            <a:cxnLst/>
            <a:rect l="l" t="t" r="r" b="b"/>
            <a:pathLst>
              <a:path w="971550" h="904875">
                <a:moveTo>
                  <a:pt x="0" y="0"/>
                </a:moveTo>
                <a:lnTo>
                  <a:pt x="971550" y="0"/>
                </a:lnTo>
                <a:lnTo>
                  <a:pt x="971550" y="904875"/>
                </a:lnTo>
                <a:lnTo>
                  <a:pt x="0" y="904875"/>
                </a:lnTo>
                <a:lnTo>
                  <a:pt x="0" y="0"/>
                </a:lnTo>
                <a:close/>
              </a:path>
            </a:pathLst>
          </a:custGeom>
          <a:blipFill>
            <a:blip r:embed="rId19"/>
            <a:stretch>
              <a:fillRect/>
            </a:stretch>
          </a:blipFill>
        </p:spPr>
      </p:sp>
      <p:sp>
        <p:nvSpPr>
          <p:cNvPr id="35" name="Freeform 35"/>
          <p:cNvSpPr/>
          <p:nvPr/>
        </p:nvSpPr>
        <p:spPr>
          <a:xfrm>
            <a:off x="3857625" y="12420600"/>
            <a:ext cx="590550" cy="542925"/>
          </a:xfrm>
          <a:custGeom>
            <a:avLst/>
            <a:gdLst/>
            <a:ahLst/>
            <a:cxnLst/>
            <a:rect l="l" t="t" r="r" b="b"/>
            <a:pathLst>
              <a:path w="590550" h="542925">
                <a:moveTo>
                  <a:pt x="0" y="0"/>
                </a:moveTo>
                <a:lnTo>
                  <a:pt x="590550" y="0"/>
                </a:lnTo>
                <a:lnTo>
                  <a:pt x="590550" y="542925"/>
                </a:lnTo>
                <a:lnTo>
                  <a:pt x="0" y="542925"/>
                </a:lnTo>
                <a:lnTo>
                  <a:pt x="0" y="0"/>
                </a:lnTo>
                <a:close/>
              </a:path>
            </a:pathLst>
          </a:custGeom>
          <a:blipFill>
            <a:blip r:embed="rId20"/>
            <a:stretch>
              <a:fillRect/>
            </a:stretch>
          </a:blipFill>
        </p:spPr>
      </p:sp>
      <p:sp>
        <p:nvSpPr>
          <p:cNvPr id="36" name="Freeform 36"/>
          <p:cNvSpPr/>
          <p:nvPr/>
        </p:nvSpPr>
        <p:spPr>
          <a:xfrm>
            <a:off x="5019675" y="12239625"/>
            <a:ext cx="200025" cy="1438275"/>
          </a:xfrm>
          <a:custGeom>
            <a:avLst/>
            <a:gdLst/>
            <a:ahLst/>
            <a:cxnLst/>
            <a:rect l="l" t="t" r="r" b="b"/>
            <a:pathLst>
              <a:path w="200025" h="1438275">
                <a:moveTo>
                  <a:pt x="0" y="0"/>
                </a:moveTo>
                <a:lnTo>
                  <a:pt x="200025" y="0"/>
                </a:lnTo>
                <a:lnTo>
                  <a:pt x="200025" y="1438275"/>
                </a:lnTo>
                <a:lnTo>
                  <a:pt x="0" y="1438275"/>
                </a:lnTo>
                <a:lnTo>
                  <a:pt x="0" y="0"/>
                </a:lnTo>
                <a:close/>
              </a:path>
            </a:pathLst>
          </a:custGeom>
          <a:blipFill>
            <a:blip r:embed="rId21"/>
            <a:stretch>
              <a:fillRect/>
            </a:stretch>
          </a:blipFill>
        </p:spPr>
      </p:sp>
      <p:sp>
        <p:nvSpPr>
          <p:cNvPr id="37" name="Freeform 37"/>
          <p:cNvSpPr/>
          <p:nvPr/>
        </p:nvSpPr>
        <p:spPr>
          <a:xfrm>
            <a:off x="5410200" y="12239625"/>
            <a:ext cx="971550" cy="904875"/>
          </a:xfrm>
          <a:custGeom>
            <a:avLst/>
            <a:gdLst/>
            <a:ahLst/>
            <a:cxnLst/>
            <a:rect l="l" t="t" r="r" b="b"/>
            <a:pathLst>
              <a:path w="971550" h="904875">
                <a:moveTo>
                  <a:pt x="0" y="0"/>
                </a:moveTo>
                <a:lnTo>
                  <a:pt x="971550" y="0"/>
                </a:lnTo>
                <a:lnTo>
                  <a:pt x="971550" y="904875"/>
                </a:lnTo>
                <a:lnTo>
                  <a:pt x="0" y="904875"/>
                </a:lnTo>
                <a:lnTo>
                  <a:pt x="0" y="0"/>
                </a:lnTo>
                <a:close/>
              </a:path>
            </a:pathLst>
          </a:custGeom>
          <a:blipFill>
            <a:blip r:embed="rId22"/>
            <a:stretch>
              <a:fillRect/>
            </a:stretch>
          </a:blipFill>
        </p:spPr>
      </p:sp>
      <p:sp>
        <p:nvSpPr>
          <p:cNvPr id="38" name="Freeform 38"/>
          <p:cNvSpPr/>
          <p:nvPr/>
        </p:nvSpPr>
        <p:spPr>
          <a:xfrm>
            <a:off x="5610225" y="12450502"/>
            <a:ext cx="590550" cy="542925"/>
          </a:xfrm>
          <a:custGeom>
            <a:avLst/>
            <a:gdLst/>
            <a:ahLst/>
            <a:cxnLst/>
            <a:rect l="l" t="t" r="r" b="b"/>
            <a:pathLst>
              <a:path w="590550" h="542925">
                <a:moveTo>
                  <a:pt x="0" y="0"/>
                </a:moveTo>
                <a:lnTo>
                  <a:pt x="590550" y="0"/>
                </a:lnTo>
                <a:lnTo>
                  <a:pt x="590550" y="542925"/>
                </a:lnTo>
                <a:lnTo>
                  <a:pt x="0" y="542925"/>
                </a:lnTo>
                <a:lnTo>
                  <a:pt x="0" y="0"/>
                </a:lnTo>
                <a:close/>
              </a:path>
            </a:pathLst>
          </a:custGeom>
          <a:blipFill>
            <a:blip r:embed="rId23"/>
            <a:stretch>
              <a:fillRect/>
            </a:stretch>
          </a:blipFill>
        </p:spPr>
      </p:sp>
      <p:sp>
        <p:nvSpPr>
          <p:cNvPr id="39" name="Freeform 39"/>
          <p:cNvSpPr/>
          <p:nvPr/>
        </p:nvSpPr>
        <p:spPr>
          <a:xfrm>
            <a:off x="6762750" y="12239625"/>
            <a:ext cx="200025" cy="1438275"/>
          </a:xfrm>
          <a:custGeom>
            <a:avLst/>
            <a:gdLst/>
            <a:ahLst/>
            <a:cxnLst/>
            <a:rect l="l" t="t" r="r" b="b"/>
            <a:pathLst>
              <a:path w="200025" h="1438275">
                <a:moveTo>
                  <a:pt x="0" y="0"/>
                </a:moveTo>
                <a:lnTo>
                  <a:pt x="200025" y="0"/>
                </a:lnTo>
                <a:lnTo>
                  <a:pt x="200025" y="1438275"/>
                </a:lnTo>
                <a:lnTo>
                  <a:pt x="0" y="1438275"/>
                </a:lnTo>
                <a:lnTo>
                  <a:pt x="0" y="0"/>
                </a:lnTo>
                <a:close/>
              </a:path>
            </a:pathLst>
          </a:custGeom>
          <a:blipFill>
            <a:blip r:embed="rId24"/>
            <a:stretch>
              <a:fillRect/>
            </a:stretch>
          </a:blipFill>
        </p:spPr>
      </p:sp>
      <p:sp>
        <p:nvSpPr>
          <p:cNvPr id="40" name="Freeform 40"/>
          <p:cNvSpPr/>
          <p:nvPr/>
        </p:nvSpPr>
        <p:spPr>
          <a:xfrm>
            <a:off x="7143750" y="12239625"/>
            <a:ext cx="981075" cy="904875"/>
          </a:xfrm>
          <a:custGeom>
            <a:avLst/>
            <a:gdLst/>
            <a:ahLst/>
            <a:cxnLst/>
            <a:rect l="l" t="t" r="r" b="b"/>
            <a:pathLst>
              <a:path w="981075" h="904875">
                <a:moveTo>
                  <a:pt x="0" y="0"/>
                </a:moveTo>
                <a:lnTo>
                  <a:pt x="981075" y="0"/>
                </a:lnTo>
                <a:lnTo>
                  <a:pt x="981075" y="904875"/>
                </a:lnTo>
                <a:lnTo>
                  <a:pt x="0" y="904875"/>
                </a:lnTo>
                <a:lnTo>
                  <a:pt x="0" y="0"/>
                </a:lnTo>
                <a:close/>
              </a:path>
            </a:pathLst>
          </a:custGeom>
          <a:blipFill>
            <a:blip r:embed="rId25"/>
            <a:stretch>
              <a:fillRect/>
            </a:stretch>
          </a:blipFill>
        </p:spPr>
      </p:sp>
      <p:sp>
        <p:nvSpPr>
          <p:cNvPr id="41" name="Freeform 41"/>
          <p:cNvSpPr/>
          <p:nvPr/>
        </p:nvSpPr>
        <p:spPr>
          <a:xfrm>
            <a:off x="7334250" y="12420600"/>
            <a:ext cx="590550" cy="542925"/>
          </a:xfrm>
          <a:custGeom>
            <a:avLst/>
            <a:gdLst/>
            <a:ahLst/>
            <a:cxnLst/>
            <a:rect l="l" t="t" r="r" b="b"/>
            <a:pathLst>
              <a:path w="590550" h="542925">
                <a:moveTo>
                  <a:pt x="0" y="0"/>
                </a:moveTo>
                <a:lnTo>
                  <a:pt x="590550" y="0"/>
                </a:lnTo>
                <a:lnTo>
                  <a:pt x="590550" y="542925"/>
                </a:lnTo>
                <a:lnTo>
                  <a:pt x="0" y="542925"/>
                </a:lnTo>
                <a:lnTo>
                  <a:pt x="0" y="0"/>
                </a:lnTo>
                <a:close/>
              </a:path>
            </a:pathLst>
          </a:custGeom>
          <a:blipFill>
            <a:blip r:embed="rId26"/>
            <a:stretch>
              <a:fillRect/>
            </a:stretch>
          </a:blipFill>
        </p:spPr>
      </p:sp>
      <p:sp>
        <p:nvSpPr>
          <p:cNvPr id="42" name="Freeform 42"/>
          <p:cNvSpPr/>
          <p:nvPr/>
        </p:nvSpPr>
        <p:spPr>
          <a:xfrm>
            <a:off x="8686800" y="12420600"/>
            <a:ext cx="1362075" cy="1781175"/>
          </a:xfrm>
          <a:custGeom>
            <a:avLst/>
            <a:gdLst/>
            <a:ahLst/>
            <a:cxnLst/>
            <a:rect l="l" t="t" r="r" b="b"/>
            <a:pathLst>
              <a:path w="1362075" h="1781175">
                <a:moveTo>
                  <a:pt x="0" y="0"/>
                </a:moveTo>
                <a:lnTo>
                  <a:pt x="1362075" y="0"/>
                </a:lnTo>
                <a:lnTo>
                  <a:pt x="1362075" y="1781175"/>
                </a:lnTo>
                <a:lnTo>
                  <a:pt x="0" y="1781175"/>
                </a:lnTo>
                <a:lnTo>
                  <a:pt x="0" y="0"/>
                </a:lnTo>
                <a:close/>
              </a:path>
            </a:pathLst>
          </a:custGeom>
          <a:blipFill>
            <a:blip r:embed="rId27"/>
            <a:stretch>
              <a:fillRect/>
            </a:stretch>
          </a:blipFill>
        </p:spPr>
      </p:sp>
      <p:sp>
        <p:nvSpPr>
          <p:cNvPr id="43" name="Freeform 43"/>
          <p:cNvSpPr/>
          <p:nvPr/>
        </p:nvSpPr>
        <p:spPr>
          <a:xfrm>
            <a:off x="8886825" y="10467975"/>
            <a:ext cx="1162050" cy="2314575"/>
          </a:xfrm>
          <a:custGeom>
            <a:avLst/>
            <a:gdLst/>
            <a:ahLst/>
            <a:cxnLst/>
            <a:rect l="l" t="t" r="r" b="b"/>
            <a:pathLst>
              <a:path w="1162050" h="2314575">
                <a:moveTo>
                  <a:pt x="0" y="0"/>
                </a:moveTo>
                <a:lnTo>
                  <a:pt x="1162050" y="0"/>
                </a:lnTo>
                <a:lnTo>
                  <a:pt x="1162050" y="2314575"/>
                </a:lnTo>
                <a:lnTo>
                  <a:pt x="0" y="2314575"/>
                </a:lnTo>
                <a:lnTo>
                  <a:pt x="0" y="0"/>
                </a:lnTo>
                <a:close/>
              </a:path>
            </a:pathLst>
          </a:custGeom>
          <a:blipFill>
            <a:blip r:embed="rId28"/>
            <a:stretch>
              <a:fillRect/>
            </a:stretch>
          </a:blipFill>
        </p:spPr>
      </p:sp>
      <p:sp>
        <p:nvSpPr>
          <p:cNvPr id="44" name="Freeform 44"/>
          <p:cNvSpPr/>
          <p:nvPr/>
        </p:nvSpPr>
        <p:spPr>
          <a:xfrm>
            <a:off x="-25306" y="10899378"/>
            <a:ext cx="1933575" cy="3299221"/>
          </a:xfrm>
          <a:custGeom>
            <a:avLst/>
            <a:gdLst/>
            <a:ahLst/>
            <a:cxnLst/>
            <a:rect l="l" t="t" r="r" b="b"/>
            <a:pathLst>
              <a:path w="1933575" h="3552825">
                <a:moveTo>
                  <a:pt x="0" y="0"/>
                </a:moveTo>
                <a:lnTo>
                  <a:pt x="1933575" y="0"/>
                </a:lnTo>
                <a:lnTo>
                  <a:pt x="1933575" y="3552825"/>
                </a:lnTo>
                <a:lnTo>
                  <a:pt x="0" y="3552825"/>
                </a:lnTo>
                <a:lnTo>
                  <a:pt x="0" y="0"/>
                </a:lnTo>
                <a:close/>
              </a:path>
            </a:pathLst>
          </a:custGeom>
          <a:blipFill>
            <a:blip r:embed="rId29"/>
            <a:stretch>
              <a:fillRect/>
            </a:stretch>
          </a:blipFill>
        </p:spPr>
      </p:sp>
      <p:sp>
        <p:nvSpPr>
          <p:cNvPr id="46" name="Freeform 46"/>
          <p:cNvSpPr/>
          <p:nvPr/>
        </p:nvSpPr>
        <p:spPr>
          <a:xfrm>
            <a:off x="222251" y="774700"/>
            <a:ext cx="4049644" cy="714570"/>
          </a:xfrm>
          <a:custGeom>
            <a:avLst/>
            <a:gdLst/>
            <a:ahLst/>
            <a:cxnLst/>
            <a:rect l="l" t="t" r="r" b="b"/>
            <a:pathLst>
              <a:path w="5109939" h="958114">
                <a:moveTo>
                  <a:pt x="0" y="0"/>
                </a:moveTo>
                <a:lnTo>
                  <a:pt x="5109939" y="0"/>
                </a:lnTo>
                <a:lnTo>
                  <a:pt x="5109939" y="958113"/>
                </a:lnTo>
                <a:lnTo>
                  <a:pt x="0" y="958113"/>
                </a:lnTo>
                <a:lnTo>
                  <a:pt x="0" y="0"/>
                </a:lnTo>
                <a:close/>
              </a:path>
            </a:pathLst>
          </a:custGeom>
          <a:blipFill>
            <a:blip r:embed="rId30"/>
            <a:stretch>
              <a:fillRect/>
            </a:stretch>
          </a:blipFill>
        </p:spPr>
      </p:sp>
      <p:sp>
        <p:nvSpPr>
          <p:cNvPr id="47" name="TextBox 47"/>
          <p:cNvSpPr txBox="1"/>
          <p:nvPr/>
        </p:nvSpPr>
        <p:spPr>
          <a:xfrm rot="21093">
            <a:off x="379595" y="2609141"/>
            <a:ext cx="3611738" cy="1622880"/>
          </a:xfrm>
          <a:prstGeom prst="rect">
            <a:avLst/>
          </a:prstGeom>
        </p:spPr>
        <p:txBody>
          <a:bodyPr wrap="square" lIns="0" tIns="0" rIns="0" bIns="0" rtlCol="0" anchor="t">
            <a:spAutoFit/>
          </a:bodyPr>
          <a:lstStyle/>
          <a:p>
            <a:pPr algn="l">
              <a:lnSpc>
                <a:spcPts val="6106"/>
              </a:lnSpc>
            </a:pPr>
            <a:r>
              <a:rPr lang="en-US" sz="4800" spc="-337" dirty="0">
                <a:solidFill>
                  <a:srgbClr val="08231B"/>
                </a:solidFill>
                <a:latin typeface="Baskerville Display PT"/>
                <a:ea typeface="Baskerville Display PT"/>
                <a:cs typeface="Baskerville Display PT"/>
                <a:sym typeface="Baskerville Display PT"/>
              </a:rPr>
              <a:t>Designing Spaces for a</a:t>
            </a:r>
          </a:p>
        </p:txBody>
      </p:sp>
      <p:sp>
        <p:nvSpPr>
          <p:cNvPr id="50" name="TextBox 50"/>
          <p:cNvSpPr txBox="1"/>
          <p:nvPr/>
        </p:nvSpPr>
        <p:spPr>
          <a:xfrm>
            <a:off x="355404" y="5753355"/>
            <a:ext cx="3760224" cy="519229"/>
          </a:xfrm>
          <a:prstGeom prst="rect">
            <a:avLst/>
          </a:prstGeom>
        </p:spPr>
        <p:txBody>
          <a:bodyPr lIns="0" tIns="0" rIns="0" bIns="0" rtlCol="0" anchor="t">
            <a:spAutoFit/>
          </a:bodyPr>
          <a:lstStyle/>
          <a:p>
            <a:pPr algn="l">
              <a:lnSpc>
                <a:spcPts val="2169"/>
              </a:lnSpc>
            </a:pPr>
            <a:r>
              <a:rPr lang="en-US" sz="1446" dirty="0">
                <a:solidFill>
                  <a:srgbClr val="808080"/>
                </a:solidFill>
                <a:latin typeface="Klein"/>
                <a:ea typeface="Klein"/>
                <a:cs typeface="Klein"/>
                <a:sym typeface="Klein"/>
              </a:rPr>
              <a:t>Thoughtful Design  |  Premium Materials</a:t>
            </a:r>
          </a:p>
          <a:p>
            <a:pPr algn="l">
              <a:lnSpc>
                <a:spcPts val="2169"/>
              </a:lnSpc>
            </a:pPr>
            <a:r>
              <a:rPr lang="en-US" sz="1446" dirty="0">
                <a:solidFill>
                  <a:srgbClr val="808080"/>
                </a:solidFill>
                <a:latin typeface="Klein"/>
                <a:ea typeface="Klein"/>
                <a:cs typeface="Klein"/>
                <a:sym typeface="Klein"/>
              </a:rPr>
              <a:t>Quality Execution  |  Homes That Last</a:t>
            </a:r>
          </a:p>
        </p:txBody>
      </p:sp>
      <p:sp>
        <p:nvSpPr>
          <p:cNvPr id="51" name="TextBox 51"/>
          <p:cNvSpPr txBox="1"/>
          <p:nvPr/>
        </p:nvSpPr>
        <p:spPr>
          <a:xfrm>
            <a:off x="1140000" y="8667320"/>
            <a:ext cx="667328" cy="223654"/>
          </a:xfrm>
          <a:prstGeom prst="rect">
            <a:avLst/>
          </a:prstGeom>
        </p:spPr>
        <p:txBody>
          <a:bodyPr lIns="0" tIns="0" rIns="0" bIns="0" rtlCol="0" anchor="t">
            <a:spAutoFit/>
          </a:bodyPr>
          <a:lstStyle/>
          <a:p>
            <a:pPr algn="l">
              <a:lnSpc>
                <a:spcPts val="1800"/>
              </a:lnSpc>
            </a:pPr>
            <a:r>
              <a:rPr lang="en-US" sz="1200" spc="-59">
                <a:solidFill>
                  <a:srgbClr val="08231B"/>
                </a:solidFill>
                <a:latin typeface="Inter"/>
                <a:ea typeface="Inter"/>
                <a:cs typeface="Inter"/>
                <a:sym typeface="Inter"/>
              </a:rPr>
              <a:t>Phone No</a:t>
            </a:r>
          </a:p>
        </p:txBody>
      </p:sp>
      <p:sp>
        <p:nvSpPr>
          <p:cNvPr id="52" name="TextBox 52"/>
          <p:cNvSpPr txBox="1"/>
          <p:nvPr/>
        </p:nvSpPr>
        <p:spPr>
          <a:xfrm>
            <a:off x="4552256" y="10075796"/>
            <a:ext cx="2019879" cy="335092"/>
          </a:xfrm>
          <a:prstGeom prst="rect">
            <a:avLst/>
          </a:prstGeom>
        </p:spPr>
        <p:txBody>
          <a:bodyPr lIns="0" tIns="0" rIns="0" bIns="0" rtlCol="0" anchor="t">
            <a:spAutoFit/>
          </a:bodyPr>
          <a:lstStyle/>
          <a:p>
            <a:pPr algn="l">
              <a:lnSpc>
                <a:spcPts val="2793"/>
              </a:lnSpc>
            </a:pPr>
            <a:r>
              <a:rPr lang="en-US" sz="1862" b="1" spc="92" dirty="0">
                <a:solidFill>
                  <a:srgbClr val="08231B"/>
                </a:solidFill>
                <a:latin typeface="Caudex Bold"/>
                <a:ea typeface="Caudex Bold"/>
                <a:cs typeface="Caudex Bold"/>
                <a:sym typeface="Caudex Bold"/>
              </a:rPr>
              <a:t>Architect Details</a:t>
            </a:r>
          </a:p>
        </p:txBody>
      </p:sp>
      <p:sp>
        <p:nvSpPr>
          <p:cNvPr id="53" name="TextBox 53"/>
          <p:cNvSpPr txBox="1"/>
          <p:nvPr/>
        </p:nvSpPr>
        <p:spPr>
          <a:xfrm>
            <a:off x="4850877" y="11605675"/>
            <a:ext cx="534469" cy="223654"/>
          </a:xfrm>
          <a:prstGeom prst="rect">
            <a:avLst/>
          </a:prstGeom>
        </p:spPr>
        <p:txBody>
          <a:bodyPr lIns="0" tIns="0" rIns="0" bIns="0" rtlCol="0" anchor="t">
            <a:spAutoFit/>
          </a:bodyPr>
          <a:lstStyle/>
          <a:p>
            <a:pPr algn="l">
              <a:lnSpc>
                <a:spcPts val="1800"/>
              </a:lnSpc>
            </a:pPr>
            <a:r>
              <a:rPr lang="en-US" sz="1200" spc="-59" dirty="0">
                <a:solidFill>
                  <a:srgbClr val="08231B"/>
                </a:solidFill>
                <a:latin typeface="Inter"/>
                <a:ea typeface="Inter"/>
                <a:cs typeface="Inter"/>
                <a:sym typeface="Inter"/>
              </a:rPr>
              <a:t>Email ID</a:t>
            </a:r>
          </a:p>
        </p:txBody>
      </p:sp>
      <p:sp>
        <p:nvSpPr>
          <p:cNvPr id="54" name="TextBox 54"/>
          <p:cNvSpPr txBox="1"/>
          <p:nvPr/>
        </p:nvSpPr>
        <p:spPr>
          <a:xfrm>
            <a:off x="3738807" y="13115374"/>
            <a:ext cx="856869" cy="387216"/>
          </a:xfrm>
          <a:prstGeom prst="rect">
            <a:avLst/>
          </a:prstGeom>
        </p:spPr>
        <p:txBody>
          <a:bodyPr lIns="0" tIns="0" rIns="0" bIns="0" rtlCol="0" anchor="t">
            <a:spAutoFit/>
          </a:bodyPr>
          <a:lstStyle/>
          <a:p>
            <a:pPr algn="ctr">
              <a:lnSpc>
                <a:spcPts val="1623"/>
              </a:lnSpc>
            </a:pPr>
            <a:r>
              <a:rPr lang="en-US" sz="1159" spc="23">
                <a:solidFill>
                  <a:srgbClr val="08231B"/>
                </a:solidFill>
                <a:latin typeface="Klein"/>
                <a:ea typeface="Klein"/>
                <a:cs typeface="Klein"/>
                <a:sym typeface="Klein"/>
              </a:rPr>
              <a:t>PREMIUM MATERIALS</a:t>
            </a:r>
          </a:p>
        </p:txBody>
      </p:sp>
      <p:sp>
        <p:nvSpPr>
          <p:cNvPr id="55" name="TextBox 55"/>
          <p:cNvSpPr txBox="1"/>
          <p:nvPr/>
        </p:nvSpPr>
        <p:spPr>
          <a:xfrm>
            <a:off x="5327650" y="13119100"/>
            <a:ext cx="1244420" cy="403637"/>
          </a:xfrm>
          <a:prstGeom prst="rect">
            <a:avLst/>
          </a:prstGeom>
        </p:spPr>
        <p:txBody>
          <a:bodyPr wrap="square" lIns="0" tIns="0" rIns="0" bIns="0" rtlCol="0" anchor="t">
            <a:spAutoFit/>
          </a:bodyPr>
          <a:lstStyle/>
          <a:p>
            <a:pPr algn="ctr">
              <a:lnSpc>
                <a:spcPts val="1623"/>
              </a:lnSpc>
            </a:pPr>
            <a:r>
              <a:rPr lang="en-US" sz="1159" spc="23" dirty="0">
                <a:solidFill>
                  <a:srgbClr val="08231B"/>
                </a:solidFill>
                <a:latin typeface="Klein"/>
                <a:ea typeface="Klein"/>
                <a:cs typeface="Klein"/>
                <a:sym typeface="Klein"/>
              </a:rPr>
              <a:t>QUALITY WORKMANSHIP</a:t>
            </a:r>
          </a:p>
        </p:txBody>
      </p:sp>
      <p:sp>
        <p:nvSpPr>
          <p:cNvPr id="56" name="TextBox 56"/>
          <p:cNvSpPr txBox="1"/>
          <p:nvPr/>
        </p:nvSpPr>
        <p:spPr>
          <a:xfrm>
            <a:off x="7283637" y="13115374"/>
            <a:ext cx="816042" cy="387216"/>
          </a:xfrm>
          <a:prstGeom prst="rect">
            <a:avLst/>
          </a:prstGeom>
        </p:spPr>
        <p:txBody>
          <a:bodyPr lIns="0" tIns="0" rIns="0" bIns="0" rtlCol="0" anchor="t">
            <a:spAutoFit/>
          </a:bodyPr>
          <a:lstStyle/>
          <a:p>
            <a:pPr algn="ctr">
              <a:lnSpc>
                <a:spcPts val="1623"/>
              </a:lnSpc>
            </a:pPr>
            <a:r>
              <a:rPr lang="en-US" sz="1159" spc="23">
                <a:solidFill>
                  <a:srgbClr val="08231B"/>
                </a:solidFill>
                <a:latin typeface="Klein"/>
                <a:ea typeface="Klein"/>
                <a:cs typeface="Klein"/>
                <a:sym typeface="Klein"/>
              </a:rPr>
              <a:t>HOMES</a:t>
            </a:r>
          </a:p>
          <a:p>
            <a:pPr algn="ctr">
              <a:lnSpc>
                <a:spcPts val="1623"/>
              </a:lnSpc>
            </a:pPr>
            <a:r>
              <a:rPr lang="en-US" sz="1159" spc="23">
                <a:solidFill>
                  <a:srgbClr val="08231B"/>
                </a:solidFill>
                <a:latin typeface="Klein"/>
                <a:ea typeface="Klein"/>
                <a:cs typeface="Klein"/>
                <a:sym typeface="Klein"/>
              </a:rPr>
              <a:t>THAT LAST</a:t>
            </a:r>
          </a:p>
        </p:txBody>
      </p:sp>
      <p:sp>
        <p:nvSpPr>
          <p:cNvPr id="57" name="TextBox 57"/>
          <p:cNvSpPr txBox="1"/>
          <p:nvPr/>
        </p:nvSpPr>
        <p:spPr>
          <a:xfrm>
            <a:off x="271531" y="1729868"/>
            <a:ext cx="4878456" cy="230832"/>
          </a:xfrm>
          <a:prstGeom prst="rect">
            <a:avLst/>
          </a:prstGeom>
        </p:spPr>
        <p:txBody>
          <a:bodyPr wrap="square" lIns="0" tIns="0" rIns="0" bIns="0" rtlCol="0" anchor="t">
            <a:spAutoFit/>
          </a:bodyPr>
          <a:lstStyle/>
          <a:p>
            <a:pPr algn="l">
              <a:lnSpc>
                <a:spcPts val="1555"/>
              </a:lnSpc>
            </a:pPr>
            <a:r>
              <a:rPr lang="en-US" spc="414" dirty="0">
                <a:solidFill>
                  <a:srgbClr val="08231B"/>
                </a:solidFill>
                <a:latin typeface="Klein"/>
                <a:ea typeface="Klein"/>
                <a:cs typeface="Klein"/>
                <a:sym typeface="Klein"/>
              </a:rPr>
              <a:t>LIVE LIKE YOU MEAN IT</a:t>
            </a:r>
          </a:p>
        </p:txBody>
      </p:sp>
      <p:sp>
        <p:nvSpPr>
          <p:cNvPr id="58" name="TextBox 58"/>
          <p:cNvSpPr txBox="1"/>
          <p:nvPr/>
        </p:nvSpPr>
        <p:spPr>
          <a:xfrm>
            <a:off x="660432" y="7544748"/>
            <a:ext cx="1668972" cy="323189"/>
          </a:xfrm>
          <a:prstGeom prst="rect">
            <a:avLst/>
          </a:prstGeom>
        </p:spPr>
        <p:txBody>
          <a:bodyPr lIns="0" tIns="0" rIns="0" bIns="0" rtlCol="0" anchor="t">
            <a:spAutoFit/>
          </a:bodyPr>
          <a:lstStyle/>
          <a:p>
            <a:pPr algn="l">
              <a:lnSpc>
                <a:spcPts val="2793"/>
              </a:lnSpc>
            </a:pPr>
            <a:r>
              <a:rPr lang="en-US" sz="1862" b="1" spc="92">
                <a:solidFill>
                  <a:srgbClr val="08231B"/>
                </a:solidFill>
                <a:latin typeface="Caudex Bold"/>
                <a:ea typeface="Caudex Bold"/>
                <a:cs typeface="Caudex Bold"/>
                <a:sym typeface="Caudex Bold"/>
              </a:rPr>
              <a:t>Client Details</a:t>
            </a:r>
          </a:p>
        </p:txBody>
      </p:sp>
      <p:sp>
        <p:nvSpPr>
          <p:cNvPr id="59" name="TextBox 59"/>
          <p:cNvSpPr txBox="1"/>
          <p:nvPr/>
        </p:nvSpPr>
        <p:spPr>
          <a:xfrm>
            <a:off x="4850877" y="10693847"/>
            <a:ext cx="1044924" cy="209353"/>
          </a:xfrm>
          <a:prstGeom prst="rect">
            <a:avLst/>
          </a:prstGeom>
        </p:spPr>
        <p:txBody>
          <a:bodyPr lIns="0" tIns="0" rIns="0" bIns="0" rtlCol="0" anchor="t">
            <a:spAutoFit/>
          </a:bodyPr>
          <a:lstStyle/>
          <a:p>
            <a:pPr algn="l">
              <a:lnSpc>
                <a:spcPts val="1800"/>
              </a:lnSpc>
            </a:pPr>
            <a:r>
              <a:rPr lang="en-US" sz="1200" spc="-59" dirty="0">
                <a:solidFill>
                  <a:srgbClr val="08231B"/>
                </a:solidFill>
                <a:latin typeface="Inter"/>
                <a:ea typeface="Inter"/>
                <a:cs typeface="Inter"/>
                <a:sym typeface="Inter"/>
              </a:rPr>
              <a:t>Architect Name</a:t>
            </a:r>
          </a:p>
        </p:txBody>
      </p:sp>
      <p:sp>
        <p:nvSpPr>
          <p:cNvPr id="60" name="TextBox 60"/>
          <p:cNvSpPr txBox="1"/>
          <p:nvPr/>
        </p:nvSpPr>
        <p:spPr>
          <a:xfrm>
            <a:off x="1140000" y="8168341"/>
            <a:ext cx="823184" cy="223654"/>
          </a:xfrm>
          <a:prstGeom prst="rect">
            <a:avLst/>
          </a:prstGeom>
        </p:spPr>
        <p:txBody>
          <a:bodyPr lIns="0" tIns="0" rIns="0" bIns="0" rtlCol="0" anchor="t">
            <a:spAutoFit/>
          </a:bodyPr>
          <a:lstStyle/>
          <a:p>
            <a:pPr algn="l">
              <a:lnSpc>
                <a:spcPts val="1800"/>
              </a:lnSpc>
            </a:pPr>
            <a:r>
              <a:rPr lang="en-US" sz="1200" spc="-59">
                <a:solidFill>
                  <a:srgbClr val="08231B"/>
                </a:solidFill>
                <a:latin typeface="Inter"/>
                <a:ea typeface="Inter"/>
                <a:cs typeface="Inter"/>
                <a:sym typeface="Inter"/>
              </a:rPr>
              <a:t>Client Name</a:t>
            </a:r>
          </a:p>
        </p:txBody>
      </p:sp>
      <p:sp>
        <p:nvSpPr>
          <p:cNvPr id="61" name="TextBox 61"/>
          <p:cNvSpPr txBox="1"/>
          <p:nvPr/>
        </p:nvSpPr>
        <p:spPr>
          <a:xfrm>
            <a:off x="4850877" y="11182762"/>
            <a:ext cx="667328" cy="223654"/>
          </a:xfrm>
          <a:prstGeom prst="rect">
            <a:avLst/>
          </a:prstGeom>
        </p:spPr>
        <p:txBody>
          <a:bodyPr lIns="0" tIns="0" rIns="0" bIns="0" rtlCol="0" anchor="t">
            <a:spAutoFit/>
          </a:bodyPr>
          <a:lstStyle/>
          <a:p>
            <a:pPr algn="l">
              <a:lnSpc>
                <a:spcPts val="1800"/>
              </a:lnSpc>
            </a:pPr>
            <a:r>
              <a:rPr lang="en-US" sz="1200" spc="-59" dirty="0">
                <a:solidFill>
                  <a:srgbClr val="08231B"/>
                </a:solidFill>
                <a:latin typeface="Inter"/>
                <a:ea typeface="Inter"/>
                <a:cs typeface="Inter"/>
                <a:sym typeface="Inter"/>
              </a:rPr>
              <a:t>Phone No</a:t>
            </a:r>
          </a:p>
        </p:txBody>
      </p:sp>
      <p:sp>
        <p:nvSpPr>
          <p:cNvPr id="62" name="TextBox 62"/>
          <p:cNvSpPr txBox="1"/>
          <p:nvPr/>
        </p:nvSpPr>
        <p:spPr>
          <a:xfrm>
            <a:off x="1140000" y="9156700"/>
            <a:ext cx="574999" cy="223654"/>
          </a:xfrm>
          <a:prstGeom prst="rect">
            <a:avLst/>
          </a:prstGeom>
        </p:spPr>
        <p:txBody>
          <a:bodyPr lIns="0" tIns="0" rIns="0" bIns="0" rtlCol="0" anchor="t">
            <a:spAutoFit/>
          </a:bodyPr>
          <a:lstStyle/>
          <a:p>
            <a:pPr algn="l">
              <a:lnSpc>
                <a:spcPts val="1800"/>
              </a:lnSpc>
            </a:pPr>
            <a:r>
              <a:rPr lang="en-US" sz="1200" spc="-59" dirty="0">
                <a:solidFill>
                  <a:srgbClr val="08231B"/>
                </a:solidFill>
                <a:latin typeface="Inter"/>
                <a:ea typeface="Inter"/>
                <a:cs typeface="Inter"/>
                <a:sym typeface="Inter"/>
              </a:rPr>
              <a:t>Location</a:t>
            </a:r>
          </a:p>
        </p:txBody>
      </p:sp>
      <p:sp>
        <p:nvSpPr>
          <p:cNvPr id="64" name="TextBox 64"/>
          <p:cNvSpPr txBox="1"/>
          <p:nvPr/>
        </p:nvSpPr>
        <p:spPr>
          <a:xfrm>
            <a:off x="1140000" y="9613900"/>
            <a:ext cx="314611" cy="223654"/>
          </a:xfrm>
          <a:prstGeom prst="rect">
            <a:avLst/>
          </a:prstGeom>
        </p:spPr>
        <p:txBody>
          <a:bodyPr lIns="0" tIns="0" rIns="0" bIns="0" rtlCol="0" anchor="t">
            <a:spAutoFit/>
          </a:bodyPr>
          <a:lstStyle/>
          <a:p>
            <a:pPr algn="l">
              <a:lnSpc>
                <a:spcPts val="1800"/>
              </a:lnSpc>
            </a:pPr>
            <a:r>
              <a:rPr lang="en-US" sz="1200" spc="-59" dirty="0">
                <a:solidFill>
                  <a:srgbClr val="08231B"/>
                </a:solidFill>
                <a:latin typeface="Inter"/>
                <a:ea typeface="Inter"/>
                <a:cs typeface="Inter"/>
                <a:sym typeface="Inter"/>
              </a:rPr>
              <a:t>Date</a:t>
            </a:r>
          </a:p>
        </p:txBody>
      </p:sp>
      <p:sp>
        <p:nvSpPr>
          <p:cNvPr id="65" name="TextBox 65"/>
          <p:cNvSpPr txBox="1"/>
          <p:nvPr/>
        </p:nvSpPr>
        <p:spPr>
          <a:xfrm>
            <a:off x="2266527" y="8168341"/>
            <a:ext cx="35755" cy="223654"/>
          </a:xfrm>
          <a:prstGeom prst="rect">
            <a:avLst/>
          </a:prstGeom>
        </p:spPr>
        <p:txBody>
          <a:bodyPr lIns="0" tIns="0" rIns="0" bIns="0" rtlCol="0" anchor="t">
            <a:spAutoFit/>
          </a:bodyPr>
          <a:lstStyle/>
          <a:p>
            <a:pPr algn="l">
              <a:lnSpc>
                <a:spcPts val="1800"/>
              </a:lnSpc>
            </a:pPr>
            <a:r>
              <a:rPr lang="en-US" sz="1200" spc="-59">
                <a:solidFill>
                  <a:srgbClr val="08231B"/>
                </a:solidFill>
                <a:latin typeface="Inter"/>
                <a:ea typeface="Inter"/>
                <a:cs typeface="Inter"/>
                <a:sym typeface="Inter"/>
              </a:rPr>
              <a:t>:</a:t>
            </a:r>
          </a:p>
        </p:txBody>
      </p:sp>
      <p:sp>
        <p:nvSpPr>
          <p:cNvPr id="66" name="TextBox 66"/>
          <p:cNvSpPr txBox="1"/>
          <p:nvPr/>
        </p:nvSpPr>
        <p:spPr>
          <a:xfrm>
            <a:off x="2266527" y="8667320"/>
            <a:ext cx="35755" cy="223654"/>
          </a:xfrm>
          <a:prstGeom prst="rect">
            <a:avLst/>
          </a:prstGeom>
        </p:spPr>
        <p:txBody>
          <a:bodyPr lIns="0" tIns="0" rIns="0" bIns="0" rtlCol="0" anchor="t">
            <a:spAutoFit/>
          </a:bodyPr>
          <a:lstStyle/>
          <a:p>
            <a:pPr algn="l">
              <a:lnSpc>
                <a:spcPts val="1800"/>
              </a:lnSpc>
            </a:pPr>
            <a:r>
              <a:rPr lang="en-US" sz="1200" spc="-59">
                <a:solidFill>
                  <a:srgbClr val="08231B"/>
                </a:solidFill>
                <a:latin typeface="Inter"/>
                <a:ea typeface="Inter"/>
                <a:cs typeface="Inter"/>
                <a:sym typeface="Inter"/>
              </a:rPr>
              <a:t>:</a:t>
            </a:r>
          </a:p>
        </p:txBody>
      </p:sp>
      <p:sp>
        <p:nvSpPr>
          <p:cNvPr id="68" name="TextBox 68"/>
          <p:cNvSpPr txBox="1"/>
          <p:nvPr/>
        </p:nvSpPr>
        <p:spPr>
          <a:xfrm>
            <a:off x="2266527" y="9613900"/>
            <a:ext cx="35755" cy="223654"/>
          </a:xfrm>
          <a:prstGeom prst="rect">
            <a:avLst/>
          </a:prstGeom>
        </p:spPr>
        <p:txBody>
          <a:bodyPr lIns="0" tIns="0" rIns="0" bIns="0" rtlCol="0" anchor="t">
            <a:spAutoFit/>
          </a:bodyPr>
          <a:lstStyle/>
          <a:p>
            <a:pPr algn="l">
              <a:lnSpc>
                <a:spcPts val="1800"/>
              </a:lnSpc>
            </a:pPr>
            <a:r>
              <a:rPr lang="en-US" sz="1200" spc="-59">
                <a:solidFill>
                  <a:srgbClr val="08231B"/>
                </a:solidFill>
                <a:latin typeface="Inter"/>
                <a:ea typeface="Inter"/>
                <a:cs typeface="Inter"/>
                <a:sym typeface="Inter"/>
              </a:rPr>
              <a:t>:</a:t>
            </a:r>
          </a:p>
        </p:txBody>
      </p:sp>
      <p:sp>
        <p:nvSpPr>
          <p:cNvPr id="69" name="TextBox 69"/>
          <p:cNvSpPr txBox="1"/>
          <p:nvPr/>
        </p:nvSpPr>
        <p:spPr>
          <a:xfrm>
            <a:off x="2266527" y="9156700"/>
            <a:ext cx="35755" cy="223654"/>
          </a:xfrm>
          <a:prstGeom prst="rect">
            <a:avLst/>
          </a:prstGeom>
        </p:spPr>
        <p:txBody>
          <a:bodyPr lIns="0" tIns="0" rIns="0" bIns="0" rtlCol="0" anchor="t">
            <a:spAutoFit/>
          </a:bodyPr>
          <a:lstStyle/>
          <a:p>
            <a:pPr algn="l">
              <a:lnSpc>
                <a:spcPts val="1800"/>
              </a:lnSpc>
            </a:pPr>
            <a:r>
              <a:rPr lang="en-US" sz="1200" spc="-59" dirty="0">
                <a:solidFill>
                  <a:srgbClr val="08231B"/>
                </a:solidFill>
                <a:latin typeface="Inter"/>
                <a:ea typeface="Inter"/>
                <a:cs typeface="Inter"/>
                <a:sym typeface="Inter"/>
              </a:rPr>
              <a:t>:</a:t>
            </a:r>
          </a:p>
        </p:txBody>
      </p:sp>
      <p:sp>
        <p:nvSpPr>
          <p:cNvPr id="70" name="TextBox 70"/>
          <p:cNvSpPr txBox="1"/>
          <p:nvPr/>
        </p:nvSpPr>
        <p:spPr>
          <a:xfrm>
            <a:off x="6150000" y="11182762"/>
            <a:ext cx="35755" cy="223654"/>
          </a:xfrm>
          <a:prstGeom prst="rect">
            <a:avLst/>
          </a:prstGeom>
        </p:spPr>
        <p:txBody>
          <a:bodyPr lIns="0" tIns="0" rIns="0" bIns="0" rtlCol="0" anchor="t">
            <a:spAutoFit/>
          </a:bodyPr>
          <a:lstStyle/>
          <a:p>
            <a:pPr algn="l">
              <a:lnSpc>
                <a:spcPts val="1800"/>
              </a:lnSpc>
            </a:pPr>
            <a:r>
              <a:rPr lang="en-US" sz="1200" spc="-59" dirty="0">
                <a:solidFill>
                  <a:srgbClr val="08231B"/>
                </a:solidFill>
                <a:latin typeface="Inter"/>
                <a:ea typeface="Inter"/>
                <a:cs typeface="Inter"/>
                <a:sym typeface="Inter"/>
              </a:rPr>
              <a:t>:</a:t>
            </a:r>
          </a:p>
        </p:txBody>
      </p:sp>
      <p:sp>
        <p:nvSpPr>
          <p:cNvPr id="71" name="TextBox 71"/>
          <p:cNvSpPr txBox="1"/>
          <p:nvPr/>
        </p:nvSpPr>
        <p:spPr>
          <a:xfrm>
            <a:off x="6150000" y="10693847"/>
            <a:ext cx="35755" cy="223654"/>
          </a:xfrm>
          <a:prstGeom prst="rect">
            <a:avLst/>
          </a:prstGeom>
        </p:spPr>
        <p:txBody>
          <a:bodyPr lIns="0" tIns="0" rIns="0" bIns="0" rtlCol="0" anchor="t">
            <a:spAutoFit/>
          </a:bodyPr>
          <a:lstStyle/>
          <a:p>
            <a:pPr algn="l">
              <a:lnSpc>
                <a:spcPts val="1800"/>
              </a:lnSpc>
            </a:pPr>
            <a:r>
              <a:rPr lang="en-US" sz="1200" spc="-59" dirty="0">
                <a:solidFill>
                  <a:srgbClr val="08231B"/>
                </a:solidFill>
                <a:latin typeface="Inter"/>
                <a:ea typeface="Inter"/>
                <a:cs typeface="Inter"/>
                <a:sym typeface="Inter"/>
              </a:rPr>
              <a:t>:</a:t>
            </a:r>
          </a:p>
        </p:txBody>
      </p:sp>
      <p:sp>
        <p:nvSpPr>
          <p:cNvPr id="72" name="TextBox 72"/>
          <p:cNvSpPr txBox="1"/>
          <p:nvPr/>
        </p:nvSpPr>
        <p:spPr>
          <a:xfrm>
            <a:off x="6150000" y="11605675"/>
            <a:ext cx="35755" cy="223654"/>
          </a:xfrm>
          <a:prstGeom prst="rect">
            <a:avLst/>
          </a:prstGeom>
        </p:spPr>
        <p:txBody>
          <a:bodyPr lIns="0" tIns="0" rIns="0" bIns="0" rtlCol="0" anchor="t">
            <a:spAutoFit/>
          </a:bodyPr>
          <a:lstStyle/>
          <a:p>
            <a:pPr algn="l">
              <a:lnSpc>
                <a:spcPts val="1800"/>
              </a:lnSpc>
            </a:pPr>
            <a:r>
              <a:rPr lang="en-US" sz="1200" spc="-59" dirty="0">
                <a:solidFill>
                  <a:srgbClr val="08231B"/>
                </a:solidFill>
                <a:latin typeface="Inter"/>
                <a:ea typeface="Inter"/>
                <a:cs typeface="Inter"/>
                <a:sym typeface="Inter"/>
              </a:rPr>
              <a:t>:</a:t>
            </a:r>
          </a:p>
        </p:txBody>
      </p:sp>
      <p:sp>
        <p:nvSpPr>
          <p:cNvPr id="73" name="TextBox 72">
            <a:extLst>
              <a:ext uri="{FF2B5EF4-FFF2-40B4-BE49-F238E27FC236}">
                <a16:creationId xmlns:a16="http://schemas.microsoft.com/office/drawing/2014/main" id="{5A3C29C2-5FAD-4E4E-8E62-8877D285A9F8}"/>
              </a:ext>
            </a:extLst>
          </p:cNvPr>
          <p:cNvSpPr txBox="1"/>
          <p:nvPr/>
        </p:nvSpPr>
        <p:spPr>
          <a:xfrm>
            <a:off x="2420000" y="8095502"/>
            <a:ext cx="3600000" cy="369332"/>
          </a:xfrm>
          <a:prstGeom prst="rect">
            <a:avLst/>
          </a:prstGeom>
          <a:noFill/>
        </p:spPr>
        <p:txBody>
          <a:bodyPr wrap="none" rtlCol="0">
            <a:spAutoFit/>
          </a:bodyPr>
          <a:lstStyle/>
          <a:p>
            <a:r>
              <a:rPr lang="en-US" dirty="0">
                <a:latin typeface="Baskerville Display PT" panose="020B0604020202020204" charset="0"/>
                <a:ea typeface="Baskerville Display PT" panose="020B0604020202020204" charset="0"/>
              </a:rPr>
              <a:t>Mr. Aravindan</a:t>
            </a:r>
            <a:endParaRPr lang="en-IN" dirty="0">
              <a:latin typeface="Baskerville Display PT" panose="020B0604020202020204" charset="0"/>
              <a:ea typeface="Baskerville Display PT" panose="020B0604020202020204" charset="0"/>
            </a:endParaRPr>
          </a:p>
        </p:txBody>
      </p:sp>
      <p:sp>
        <p:nvSpPr>
          <p:cNvPr id="74" name="TextBox 73">
            <a:extLst>
              <a:ext uri="{FF2B5EF4-FFF2-40B4-BE49-F238E27FC236}">
                <a16:creationId xmlns:a16="http://schemas.microsoft.com/office/drawing/2014/main" id="{291E5F5F-79AD-4222-91C2-B04843D80FE2}"/>
              </a:ext>
            </a:extLst>
          </p:cNvPr>
          <p:cNvSpPr txBox="1"/>
          <p:nvPr/>
        </p:nvSpPr>
        <p:spPr>
          <a:xfrm>
            <a:off x="2420000" y="8594481"/>
            <a:ext cx="3600000" cy="369332"/>
          </a:xfrm>
          <a:prstGeom prst="rect">
            <a:avLst/>
          </a:prstGeom>
          <a:noFill/>
        </p:spPr>
        <p:txBody>
          <a:bodyPr wrap="none" rtlCol="0">
            <a:spAutoFit/>
          </a:bodyPr>
          <a:lstStyle/>
          <a:p>
            <a:r>
              <a:rPr lang="en-US" dirty="0">
                <a:latin typeface="Baskerville Display PT" panose="020B0604020202020204" charset="0"/>
                <a:ea typeface="Baskerville Display PT" panose="020B0604020202020204" charset="0"/>
              </a:rPr>
              <a:t>7418414780</a:t>
            </a:r>
            <a:endParaRPr lang="en-IN" dirty="0">
              <a:latin typeface="Baskerville Display PT" panose="020B0604020202020204" charset="0"/>
              <a:ea typeface="Baskerville Display PT" panose="020B0604020202020204" charset="0"/>
            </a:endParaRPr>
          </a:p>
        </p:txBody>
      </p:sp>
      <p:sp>
        <p:nvSpPr>
          <p:cNvPr id="76" name="TextBox 75">
            <a:extLst>
              <a:ext uri="{FF2B5EF4-FFF2-40B4-BE49-F238E27FC236}">
                <a16:creationId xmlns:a16="http://schemas.microsoft.com/office/drawing/2014/main" id="{2C1A39C1-526E-4337-BBAB-42E1A6AF51A9}"/>
              </a:ext>
            </a:extLst>
          </p:cNvPr>
          <p:cNvSpPr txBox="1"/>
          <p:nvPr/>
        </p:nvSpPr>
        <p:spPr>
          <a:xfrm>
            <a:off x="2420000" y="9083861"/>
            <a:ext cx="3600000" cy="369332"/>
          </a:xfrm>
          <a:prstGeom prst="rect">
            <a:avLst/>
          </a:prstGeom>
          <a:noFill/>
        </p:spPr>
        <p:txBody>
          <a:bodyPr wrap="none" rtlCol="0">
            <a:spAutoFit/>
          </a:bodyPr>
          <a:lstStyle/>
          <a:p>
            <a:r>
              <a:rPr lang="en-US" dirty="0">
                <a:latin typeface="Baskerville Display PT" panose="020B0604020202020204" charset="0"/>
                <a:ea typeface="Baskerville Display PT" panose="020B0604020202020204" charset="0"/>
              </a:rPr>
              <a:t>Individual Villa Adyar</a:t>
            </a:r>
            <a:endParaRPr lang="en-IN" dirty="0">
              <a:latin typeface="Baskerville Display PT" panose="020B0604020202020204" charset="0"/>
              <a:ea typeface="Baskerville Display PT" panose="020B0604020202020204" charset="0"/>
            </a:endParaRPr>
          </a:p>
        </p:txBody>
      </p:sp>
      <p:sp>
        <p:nvSpPr>
          <p:cNvPr id="77" name="TextBox 76">
            <a:extLst>
              <a:ext uri="{FF2B5EF4-FFF2-40B4-BE49-F238E27FC236}">
                <a16:creationId xmlns:a16="http://schemas.microsoft.com/office/drawing/2014/main" id="{03CA7BB1-C607-4E1B-9946-0BB3ECD69AEC}"/>
              </a:ext>
            </a:extLst>
          </p:cNvPr>
          <p:cNvSpPr txBox="1"/>
          <p:nvPr/>
        </p:nvSpPr>
        <p:spPr>
          <a:xfrm>
            <a:off x="2420000" y="9541061"/>
            <a:ext cx="3600000" cy="369332"/>
          </a:xfrm>
          <a:prstGeom prst="rect">
            <a:avLst/>
          </a:prstGeom>
          <a:noFill/>
        </p:spPr>
        <p:txBody>
          <a:bodyPr wrap="none" rtlCol="0">
            <a:spAutoFit/>
          </a:bodyPr>
          <a:lstStyle/>
          <a:p>
            <a:r>
              <a:rPr lang="en-US" dirty="0">
                <a:latin typeface="Baskerville Display PT" panose="020B0604020202020204" charset="0"/>
                <a:ea typeface="Baskerville Display PT" panose="020B0604020202020204" charset="0"/>
              </a:rPr>
              <a:t>10/10/2026</a:t>
            </a:r>
            <a:endParaRPr lang="en-IN" dirty="0">
              <a:latin typeface="Baskerville Display PT" panose="020B0604020202020204" charset="0"/>
              <a:ea typeface="Baskerville Display PT" panose="020B0604020202020204" charset="0"/>
            </a:endParaRPr>
          </a:p>
        </p:txBody>
      </p:sp>
      <p:sp>
        <p:nvSpPr>
          <p:cNvPr id="78" name="TextBox 77">
            <a:extLst>
              <a:ext uri="{FF2B5EF4-FFF2-40B4-BE49-F238E27FC236}">
                <a16:creationId xmlns:a16="http://schemas.microsoft.com/office/drawing/2014/main" id="{E4155A3A-04A8-4A81-85C8-FBA74F3EA82A}"/>
              </a:ext>
            </a:extLst>
          </p:cNvPr>
          <p:cNvSpPr txBox="1"/>
          <p:nvPr/>
        </p:nvSpPr>
        <p:spPr>
          <a:xfrm>
            <a:off x="6300000" y="11596600"/>
            <a:ext cx="2750000" cy="307777"/>
          </a:xfrm>
          <a:prstGeom prst="rect">
            <a:avLst/>
          </a:prstGeom>
          <a:noFill/>
        </p:spPr>
        <p:txBody>
          <a:bodyPr wrap="square" rtlCol="0">
            <a:spAutoFit/>
          </a:bodyPr>
          <a:lstStyle/>
          <a:p>
            <a:r>
              <a:rPr lang="en-US" sz="1400" dirty="0"/>
              <a:t>designs.cookscape@gmail.com</a:t>
            </a:r>
            <a:endParaRPr lang="en-IN" sz="1400" dirty="0"/>
          </a:p>
        </p:txBody>
      </p:sp>
      <p:sp>
        <p:nvSpPr>
          <p:cNvPr id="79" name="TextBox 78">
            <a:extLst>
              <a:ext uri="{FF2B5EF4-FFF2-40B4-BE49-F238E27FC236}">
                <a16:creationId xmlns:a16="http://schemas.microsoft.com/office/drawing/2014/main" id="{9BFFEA13-4264-4C2B-B15D-46F6C2A50522}"/>
              </a:ext>
            </a:extLst>
          </p:cNvPr>
          <p:cNvSpPr txBox="1"/>
          <p:nvPr/>
        </p:nvSpPr>
        <p:spPr>
          <a:xfrm>
            <a:off x="6300000" y="11173687"/>
            <a:ext cx="2750000" cy="307777"/>
          </a:xfrm>
          <a:prstGeom prst="rect">
            <a:avLst/>
          </a:prstGeom>
          <a:noFill/>
        </p:spPr>
        <p:txBody>
          <a:bodyPr wrap="square" rtlCol="0">
            <a:spAutoFit/>
          </a:bodyPr>
          <a:lstStyle/>
          <a:p>
            <a:r>
              <a:rPr lang="en-US" sz="1400" dirty="0">
                <a:latin typeface="Baskerville Display PT" panose="020B0604020202020204" charset="0"/>
                <a:ea typeface="Baskerville Display PT" panose="020B0604020202020204" charset="0"/>
              </a:rPr>
              <a:t>93611 84787</a:t>
            </a:r>
            <a:endParaRPr lang="en-IN" sz="1400" dirty="0">
              <a:latin typeface="Baskerville Display PT" panose="020B0604020202020204" charset="0"/>
              <a:ea typeface="Baskerville Display PT" panose="020B0604020202020204" charset="0"/>
            </a:endParaRPr>
          </a:p>
        </p:txBody>
      </p:sp>
      <p:sp>
        <p:nvSpPr>
          <p:cNvPr id="80" name="TextBox 79">
            <a:extLst>
              <a:ext uri="{FF2B5EF4-FFF2-40B4-BE49-F238E27FC236}">
                <a16:creationId xmlns:a16="http://schemas.microsoft.com/office/drawing/2014/main" id="{027424F6-498C-4B65-B757-8943A7E5014A}"/>
              </a:ext>
            </a:extLst>
          </p:cNvPr>
          <p:cNvSpPr txBox="1"/>
          <p:nvPr/>
        </p:nvSpPr>
        <p:spPr>
          <a:xfrm>
            <a:off x="6300000" y="10684772"/>
            <a:ext cx="2750000" cy="307777"/>
          </a:xfrm>
          <a:prstGeom prst="rect">
            <a:avLst/>
          </a:prstGeom>
          <a:noFill/>
        </p:spPr>
        <p:txBody>
          <a:bodyPr wrap="none" rtlCol="0">
            <a:spAutoFit/>
          </a:bodyPr>
          <a:lstStyle/>
          <a:p>
            <a:r>
              <a:rPr lang="en-US" sz="1400" dirty="0">
                <a:latin typeface="Baskerville Display PT" panose="020B0604020202020204" charset="0"/>
                <a:ea typeface="Baskerville Display PT" panose="020B0604020202020204" charset="0"/>
              </a:rPr>
              <a:t>Mr. Abishek</a:t>
            </a:r>
            <a:endParaRPr lang="en-IN" sz="1400" dirty="0">
              <a:latin typeface="Baskerville Display PT" panose="020B0604020202020204" charset="0"/>
              <a:ea typeface="Baskerville Display PT" panose="020B0604020202020204" charset="0"/>
            </a:endParaRPr>
          </a:p>
        </p:txBody>
      </p:sp>
      <p:sp>
        <p:nvSpPr>
          <p:cNvPr id="49" name="TextBox 49"/>
          <p:cNvSpPr txBox="1"/>
          <p:nvPr/>
        </p:nvSpPr>
        <p:spPr>
          <a:xfrm rot="21093">
            <a:off x="1062854" y="4672025"/>
            <a:ext cx="3628649" cy="794448"/>
          </a:xfrm>
          <a:prstGeom prst="rect">
            <a:avLst/>
          </a:prstGeom>
        </p:spPr>
        <p:txBody>
          <a:bodyPr lIns="0" tIns="0" rIns="0" bIns="0" rtlCol="0" anchor="t">
            <a:spAutoFit/>
          </a:bodyPr>
          <a:lstStyle/>
          <a:p>
            <a:pPr algn="l">
              <a:lnSpc>
                <a:spcPts val="6051"/>
              </a:lnSpc>
            </a:pPr>
            <a:r>
              <a:rPr lang="en-US" sz="5400" spc="-334" dirty="0">
                <a:solidFill>
                  <a:srgbClr val="08231B"/>
                </a:solidFill>
                <a:latin typeface="Baskerville Display PT"/>
                <a:ea typeface="Baskerville Display PT"/>
                <a:cs typeface="Baskerville Display PT"/>
                <a:sym typeface="Baskerville Display PT"/>
              </a:rPr>
              <a:t>Tomorrow</a:t>
            </a:r>
          </a:p>
        </p:txBody>
      </p:sp>
      <p:sp>
        <p:nvSpPr>
          <p:cNvPr id="48" name="TextBox 48"/>
          <p:cNvSpPr txBox="1"/>
          <p:nvPr/>
        </p:nvSpPr>
        <p:spPr>
          <a:xfrm rot="21093">
            <a:off x="712407" y="3770920"/>
            <a:ext cx="3038662" cy="1183016"/>
          </a:xfrm>
          <a:prstGeom prst="rect">
            <a:avLst/>
          </a:prstGeom>
        </p:spPr>
        <p:txBody>
          <a:bodyPr lIns="0" tIns="0" rIns="0" bIns="0" rtlCol="0" anchor="t">
            <a:spAutoFit/>
          </a:bodyPr>
          <a:lstStyle/>
          <a:p>
            <a:pPr algn="l">
              <a:lnSpc>
                <a:spcPts val="9138"/>
              </a:lnSpc>
            </a:pPr>
            <a:r>
              <a:rPr lang="en-US" sz="7200" dirty="0">
                <a:solidFill>
                  <a:srgbClr val="822510"/>
                </a:solidFill>
                <a:latin typeface="Moontime"/>
                <a:ea typeface="Moontime"/>
                <a:cs typeface="Moontime"/>
                <a:sym typeface="Moontime"/>
              </a:rPr>
              <a:t>Brighter</a:t>
            </a:r>
          </a:p>
        </p:txBody>
      </p:sp>
      <p:sp>
        <p:nvSpPr>
          <p:cNvPr id="28" name="Slide Number Placeholder 27">
            <a:extLst>
              <a:ext uri="{FF2B5EF4-FFF2-40B4-BE49-F238E27FC236}">
                <a16:creationId xmlns:a16="http://schemas.microsoft.com/office/drawing/2014/main" id="{725F5EB7-5795-4680-9CA6-19042FDE1375}"/>
              </a:ext>
            </a:extLst>
          </p:cNvPr>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4D6FAF9-D97D-4006-9C02-FA68F4E34C14}"/>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2" name="Footer Placeholder 1">
            <a:extLst>
              <a:ext uri="{FF2B5EF4-FFF2-40B4-BE49-F238E27FC236}">
                <a16:creationId xmlns:a16="http://schemas.microsoft.com/office/drawing/2014/main" id="{8B15C4CB-A69E-43CB-AE35-EA0FF033273E}"/>
              </a:ext>
            </a:extLst>
          </p:cNvPr>
          <p:cNvSpPr>
            <a:spLocks noGrp="1"/>
          </p:cNvSpPr>
          <p:nvPr>
            <p:ph type="ftr" sz="quarter" idx="11"/>
          </p:nvPr>
        </p:nvSpPr>
        <p:spPr/>
        <p:txBody>
          <a:bodyPr/>
          <a:lstStyle/>
          <a:p>
            <a:r>
              <a:rPr lang="en-US"/>
              <a:t>Mr. Aravindan | Individual Villa Adyar | 7418414780</a:t>
            </a:r>
          </a:p>
        </p:txBody>
      </p:sp>
      <p:pic>
        <p:nvPicPr>
          <p:cNvPr id="4" name="Picture 3">
            <a:extLst>
              <a:ext uri="{FF2B5EF4-FFF2-40B4-BE49-F238E27FC236}">
                <a16:creationId xmlns:a16="http://schemas.microsoft.com/office/drawing/2014/main" id="{99DD768E-D8CE-4B0E-8440-18D4A1A0E7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45700" cy="14198600"/>
          </a:xfrm>
          <a:prstGeom prst="rect">
            <a:avLst/>
          </a:prstGeom>
        </p:spPr>
      </p:pic>
    </p:spTree>
    <p:extLst>
      <p:ext uri="{BB962C8B-B14F-4D97-AF65-F5344CB8AC3E}">
        <p14:creationId xmlns:p14="http://schemas.microsoft.com/office/powerpoint/2010/main" val="1537078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3AE7D65-B8D0-46B8-B80A-F0C5B0820332}"/>
              </a:ext>
            </a:extLst>
          </p:cNvPr>
          <p:cNvSpPr>
            <a:spLocks noGrp="1"/>
          </p:cNvSpPr>
          <p:nvPr>
            <p:ph type="sldNum" sz="quarter" idx="12"/>
          </p:nvPr>
        </p:nvSpPr>
        <p:spPr/>
        <p:txBody>
          <a:bodyPr/>
          <a:lstStyle/>
          <a:p>
            <a:fld id="{B6F15528-21DE-4FAA-801E-634DDDAF4B2B}" type="slidenum">
              <a:rPr lang="en-US" smtClean="0"/>
              <a:pPr/>
              <a:t>3</a:t>
            </a:fld>
            <a:endParaRPr lang="en-US"/>
          </a:p>
        </p:txBody>
      </p:sp>
      <p:pic>
        <p:nvPicPr>
          <p:cNvPr id="5" name="Picture 4">
            <a:extLst>
              <a:ext uri="{FF2B5EF4-FFF2-40B4-BE49-F238E27FC236}">
                <a16:creationId xmlns:a16="http://schemas.microsoft.com/office/drawing/2014/main" id="{6892473E-FB07-4BED-84E2-E3C5A906B1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45700" cy="14198600"/>
          </a:xfrm>
          <a:prstGeom prst="rect">
            <a:avLst/>
          </a:prstGeom>
        </p:spPr>
      </p:pic>
    </p:spTree>
    <p:extLst>
      <p:ext uri="{BB962C8B-B14F-4D97-AF65-F5344CB8AC3E}">
        <p14:creationId xmlns:p14="http://schemas.microsoft.com/office/powerpoint/2010/main" val="2130135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5613689-9E90-4D7D-A2F0-0F58BB0DCE83}"/>
              </a:ext>
            </a:extLst>
          </p:cNvPr>
          <p:cNvSpPr>
            <a:spLocks noGrp="1"/>
          </p:cNvSpPr>
          <p:nvPr>
            <p:ph type="sldNum" sz="quarter" idx="12"/>
          </p:nvPr>
        </p:nvSpPr>
        <p:spPr/>
        <p:txBody>
          <a:bodyPr/>
          <a:lstStyle/>
          <a:p>
            <a:fld id="{B6F15528-21DE-4FAA-801E-634DDDAF4B2B}" type="slidenum">
              <a:rPr lang="en-US" smtClean="0"/>
              <a:pPr/>
              <a:t>4</a:t>
            </a:fld>
            <a:endParaRPr lang="en-US"/>
          </a:p>
        </p:txBody>
      </p:sp>
      <p:pic>
        <p:nvPicPr>
          <p:cNvPr id="5" name="Picture 4">
            <a:extLst>
              <a:ext uri="{FF2B5EF4-FFF2-40B4-BE49-F238E27FC236}">
                <a16:creationId xmlns:a16="http://schemas.microsoft.com/office/drawing/2014/main" id="{9281FB47-25BD-4B33-903B-47B35B5257EC}"/>
              </a:ext>
            </a:extLst>
          </p:cNvPr>
          <p:cNvPicPr>
            <a:picLocks noChangeAspect="1"/>
          </p:cNvPicPr>
          <p:nvPr/>
        </p:nvPicPr>
        <p:blipFill>
          <a:blip r:embed="rId2"/>
          <a:stretch>
            <a:fillRect/>
          </a:stretch>
        </p:blipFill>
        <p:spPr>
          <a:xfrm>
            <a:off x="0" y="656"/>
            <a:ext cx="10045700" cy="14197288"/>
          </a:xfrm>
          <a:prstGeom prst="rect">
            <a:avLst/>
          </a:prstGeom>
        </p:spPr>
      </p:pic>
      <p:sp>
        <p:nvSpPr>
          <p:cNvPr id="9" name="Rectangle 8">
            <a:extLst>
              <a:ext uri="{FF2B5EF4-FFF2-40B4-BE49-F238E27FC236}">
                <a16:creationId xmlns:a16="http://schemas.microsoft.com/office/drawing/2014/main" id="{1FBD3003-C23B-4C7C-867E-CDB2238E77CB}"/>
              </a:ext>
            </a:extLst>
          </p:cNvPr>
          <p:cNvSpPr/>
          <p:nvPr/>
        </p:nvSpPr>
        <p:spPr>
          <a:xfrm>
            <a:off x="1593850" y="165100"/>
            <a:ext cx="2133600" cy="714375"/>
          </a:xfrm>
          <a:prstGeom prst="rect">
            <a:avLst/>
          </a:prstGeom>
          <a:solidFill>
            <a:srgbClr val="FDF7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D95A3C9C-82DA-4F75-A644-16B2BC79944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2250" y="317500"/>
            <a:ext cx="3810000" cy="714375"/>
          </a:xfrm>
          <a:prstGeom prst="rect">
            <a:avLst/>
          </a:prstGeom>
        </p:spPr>
      </p:pic>
    </p:spTree>
    <p:extLst>
      <p:ext uri="{BB962C8B-B14F-4D97-AF65-F5344CB8AC3E}">
        <p14:creationId xmlns:p14="http://schemas.microsoft.com/office/powerpoint/2010/main" val="2216042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Slide Number Placeholder 173">
            <a:extLst>
              <a:ext uri="{FF2B5EF4-FFF2-40B4-BE49-F238E27FC236}">
                <a16:creationId xmlns:a16="http://schemas.microsoft.com/office/drawing/2014/main" id="{99B9121B-367F-4A2D-A4BF-19083370677D}"/>
              </a:ext>
            </a:extLst>
          </p:cNvPr>
          <p:cNvSpPr>
            <a:spLocks noGrp="1"/>
          </p:cNvSpPr>
          <p:nvPr>
            <p:ph type="sldNum" sz="quarter" idx="12"/>
          </p:nvPr>
        </p:nvSpPr>
        <p:spPr/>
        <p:txBody>
          <a:bodyPr/>
          <a:lstStyle/>
          <a:p>
            <a:fld id="{B6F15528-21DE-4FAA-801E-634DDDAF4B2B}" type="slidenum">
              <a:rPr lang="en-US" smtClean="0"/>
              <a:pPr/>
              <a:t>5</a:t>
            </a:fld>
            <a:endParaRPr lang="en-US"/>
          </a:p>
        </p:txBody>
      </p:sp>
      <p:pic>
        <p:nvPicPr>
          <p:cNvPr id="4" name="Picture 3">
            <a:extLst>
              <a:ext uri="{FF2B5EF4-FFF2-40B4-BE49-F238E27FC236}">
                <a16:creationId xmlns:a16="http://schemas.microsoft.com/office/drawing/2014/main" id="{37DA8ACB-9714-46A1-AF3A-16A700553B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45700" cy="14198600"/>
          </a:xfrm>
          <a:prstGeom prst="rect">
            <a:avLst/>
          </a:prstGeom>
        </p:spPr>
      </p:pic>
    </p:spTree>
    <p:extLst>
      <p:ext uri="{BB962C8B-B14F-4D97-AF65-F5344CB8AC3E}">
        <p14:creationId xmlns:p14="http://schemas.microsoft.com/office/powerpoint/2010/main" val="3640786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D6A0C0-9F6C-4738-88AB-D5838C39D7F5}"/>
              </a:ext>
            </a:extLst>
          </p:cNvPr>
          <p:cNvSpPr>
            <a:spLocks noGrp="1"/>
          </p:cNvSpPr>
          <p:nvPr>
            <p:ph type="sldNum" sz="quarter" idx="12"/>
          </p:nvPr>
        </p:nvSpPr>
        <p:spPr/>
        <p:txBody>
          <a:bodyPr/>
          <a:lstStyle/>
          <a:p>
            <a:fld id="{B6F15528-21DE-4FAA-801E-634DDDAF4B2B}" type="slidenum">
              <a:rPr lang="en-US" smtClean="0"/>
              <a:pPr/>
              <a:t>6</a:t>
            </a:fld>
            <a:endParaRPr lang="en-US"/>
          </a:p>
        </p:txBody>
      </p:sp>
      <p:pic>
        <p:nvPicPr>
          <p:cNvPr id="5" name="Picture 4">
            <a:extLst>
              <a:ext uri="{FF2B5EF4-FFF2-40B4-BE49-F238E27FC236}">
                <a16:creationId xmlns:a16="http://schemas.microsoft.com/office/drawing/2014/main" id="{65D172CF-08B1-4EBB-B2B8-F98CD98BBF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45700" cy="14198600"/>
          </a:xfrm>
          <a:prstGeom prst="rect">
            <a:avLst/>
          </a:prstGeom>
        </p:spPr>
      </p:pic>
    </p:spTree>
    <p:extLst>
      <p:ext uri="{BB962C8B-B14F-4D97-AF65-F5344CB8AC3E}">
        <p14:creationId xmlns:p14="http://schemas.microsoft.com/office/powerpoint/2010/main" val="1515471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4F4F52B-06F1-46A1-B2DD-8C4CCC3B7C27}"/>
              </a:ext>
            </a:extLst>
          </p:cNvPr>
          <p:cNvSpPr>
            <a:spLocks noGrp="1"/>
          </p:cNvSpPr>
          <p:nvPr>
            <p:ph type="sldNum" sz="quarter" idx="12"/>
          </p:nvPr>
        </p:nvSpPr>
        <p:spPr/>
        <p:txBody>
          <a:bodyPr/>
          <a:lstStyle/>
          <a:p>
            <a:fld id="{B6F15528-21DE-4FAA-801E-634DDDAF4B2B}" type="slidenum">
              <a:rPr lang="en-US" smtClean="0"/>
              <a:pPr/>
              <a:t>7</a:t>
            </a:fld>
            <a:endParaRPr lang="en-US"/>
          </a:p>
        </p:txBody>
      </p:sp>
      <p:pic>
        <p:nvPicPr>
          <p:cNvPr id="12" name="Picture 11">
            <a:extLst>
              <a:ext uri="{FF2B5EF4-FFF2-40B4-BE49-F238E27FC236}">
                <a16:creationId xmlns:a16="http://schemas.microsoft.com/office/drawing/2014/main" id="{197BEC55-12E1-4590-8D45-CB75097D73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0850" y="281932"/>
            <a:ext cx="3768726" cy="706636"/>
          </a:xfrm>
          <a:prstGeom prst="rect">
            <a:avLst/>
          </a:prstGeom>
        </p:spPr>
      </p:pic>
      <p:pic>
        <p:nvPicPr>
          <p:cNvPr id="14" name="Picture 13">
            <a:extLst>
              <a:ext uri="{FF2B5EF4-FFF2-40B4-BE49-F238E27FC236}">
                <a16:creationId xmlns:a16="http://schemas.microsoft.com/office/drawing/2014/main" id="{D1EAE1F2-FD3D-4FB6-B09F-8C7DA6850890}"/>
              </a:ext>
            </a:extLst>
          </p:cNvPr>
          <p:cNvPicPr>
            <a:picLocks noChangeAspect="1"/>
          </p:cNvPicPr>
          <p:nvPr/>
        </p:nvPicPr>
        <p:blipFill rotWithShape="1">
          <a:blip r:embed="rId3">
            <a:extLst>
              <a:ext uri="{28A0092B-C50C-407E-A947-70E740481C1C}">
                <a14:useLocalDpi xmlns:a14="http://schemas.microsoft.com/office/drawing/2010/main" val="0"/>
              </a:ext>
            </a:extLst>
          </a:blip>
          <a:srcRect l="58345" t="11904" r="26150" b="81126"/>
          <a:stretch/>
        </p:blipFill>
        <p:spPr>
          <a:xfrm>
            <a:off x="5632450" y="152400"/>
            <a:ext cx="4413250" cy="1003300"/>
          </a:xfrm>
          <a:prstGeom prst="rect">
            <a:avLst/>
          </a:prstGeom>
        </p:spPr>
      </p:pic>
      <p:sp>
        <p:nvSpPr>
          <p:cNvPr id="2" name="Footer Placeholder 1">
            <a:extLst>
              <a:ext uri="{FF2B5EF4-FFF2-40B4-BE49-F238E27FC236}">
                <a16:creationId xmlns:a16="http://schemas.microsoft.com/office/drawing/2014/main" id="{7CAD71A1-809E-4D4F-813D-870EEB5A2540}"/>
              </a:ext>
            </a:extLst>
          </p:cNvPr>
          <p:cNvSpPr>
            <a:spLocks noGrp="1"/>
          </p:cNvSpPr>
          <p:nvPr>
            <p:ph type="ftr" sz="quarter" idx="11"/>
          </p:nvPr>
        </p:nvSpPr>
        <p:spPr/>
        <p:txBody>
          <a:bodyPr/>
          <a:lstStyle/>
          <a:p>
            <a:r>
              <a:rPr lang="en-US"/>
              <a:t>Mr. Aravindan | Individual Villa Adyar | 7418414780</a:t>
            </a:r>
          </a:p>
        </p:txBody>
      </p:sp>
      <p:pic>
        <p:nvPicPr>
          <p:cNvPr id="13" name="Picture 12">
            <a:extLst>
              <a:ext uri="{FF2B5EF4-FFF2-40B4-BE49-F238E27FC236}">
                <a16:creationId xmlns:a16="http://schemas.microsoft.com/office/drawing/2014/main" id="{E9E90D60-DD31-4048-8A40-EF93D85DC58F}"/>
              </a:ext>
            </a:extLst>
          </p:cNvPr>
          <p:cNvPicPr>
            <a:picLocks noChangeAspect="1"/>
          </p:cNvPicPr>
          <p:nvPr/>
        </p:nvPicPr>
        <p:blipFill rotWithShape="1">
          <a:blip r:embed="rId4"/>
          <a:srcRect l="51970" t="11881" r="30210" b="84762"/>
          <a:stretch/>
        </p:blipFill>
        <p:spPr>
          <a:xfrm>
            <a:off x="720724" y="0"/>
            <a:ext cx="3768726" cy="1003300"/>
          </a:xfrm>
          <a:prstGeom prst="rect">
            <a:avLst/>
          </a:prstGeom>
        </p:spPr>
      </p:pic>
      <p:pic>
        <p:nvPicPr>
          <p:cNvPr id="11" name="Picture 10">
            <a:extLst>
              <a:ext uri="{FF2B5EF4-FFF2-40B4-BE49-F238E27FC236}">
                <a16:creationId xmlns:a16="http://schemas.microsoft.com/office/drawing/2014/main" id="{1442D1DD-E190-44BF-823B-60DE19AB10B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38210" y="212129"/>
            <a:ext cx="4219576" cy="791171"/>
          </a:xfrm>
          <a:prstGeom prst="rect">
            <a:avLst/>
          </a:prstGeom>
        </p:spPr>
      </p:pic>
      <p:pic>
        <p:nvPicPr>
          <p:cNvPr id="16" name="Picture 15">
            <a:extLst>
              <a:ext uri="{FF2B5EF4-FFF2-40B4-BE49-F238E27FC236}">
                <a16:creationId xmlns:a16="http://schemas.microsoft.com/office/drawing/2014/main" id="{39DBFD55-40E2-4728-99BD-08EAAED60020}"/>
              </a:ext>
            </a:extLst>
          </p:cNvPr>
          <p:cNvPicPr>
            <a:picLocks noChangeAspect="1"/>
          </p:cNvPicPr>
          <p:nvPr/>
        </p:nvPicPr>
        <p:blipFill>
          <a:blip r:embed="rId6"/>
          <a:stretch>
            <a:fillRect/>
          </a:stretch>
        </p:blipFill>
        <p:spPr>
          <a:xfrm>
            <a:off x="0" y="0"/>
            <a:ext cx="10045699" cy="14198600"/>
          </a:xfrm>
          <a:prstGeom prst="rect">
            <a:avLst/>
          </a:prstGeom>
        </p:spPr>
      </p:pic>
      <p:pic>
        <p:nvPicPr>
          <p:cNvPr id="18" name="Picture 17">
            <a:extLst>
              <a:ext uri="{FF2B5EF4-FFF2-40B4-BE49-F238E27FC236}">
                <a16:creationId xmlns:a16="http://schemas.microsoft.com/office/drawing/2014/main" id="{FFD6642E-5AA5-4EAF-AE35-066B93A7802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52412" y="241300"/>
            <a:ext cx="4064001" cy="762000"/>
          </a:xfrm>
          <a:prstGeom prst="rect">
            <a:avLst/>
          </a:prstGeom>
        </p:spPr>
      </p:pic>
    </p:spTree>
    <p:extLst>
      <p:ext uri="{BB962C8B-B14F-4D97-AF65-F5344CB8AC3E}">
        <p14:creationId xmlns:p14="http://schemas.microsoft.com/office/powerpoint/2010/main" val="2942463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C239B3A-3DE5-4F7B-BCAC-73B68942C174}"/>
              </a:ext>
            </a:extLst>
          </p:cNvPr>
          <p:cNvSpPr/>
          <p:nvPr/>
        </p:nvSpPr>
        <p:spPr>
          <a:xfrm>
            <a:off x="3303501" y="1318280"/>
            <a:ext cx="3438698" cy="523220"/>
          </a:xfrm>
          <a:prstGeom prst="rect">
            <a:avLst/>
          </a:prstGeom>
        </p:spPr>
        <p:txBody>
          <a:bodyPr wrap="none">
            <a:spAutoFit/>
          </a:bodyPr>
          <a:lstStyle/>
          <a:p>
            <a:pPr algn="ctr"/>
            <a:r>
              <a:rPr lang="en-IN" sz="2800" dirty="0">
                <a:latin typeface="Baskerville Display PT" panose="020B0604020202020204" charset="0"/>
                <a:ea typeface="Baskerville Display PT" panose="020B0604020202020204" charset="0"/>
              </a:rPr>
              <a:t>SURABHI - LL ELITE</a:t>
            </a:r>
          </a:p>
        </p:txBody>
      </p:sp>
      <p:graphicFrame>
        <p:nvGraphicFramePr>
          <p:cNvPr id="4" name="Table 3">
            <a:extLst>
              <a:ext uri="{FF2B5EF4-FFF2-40B4-BE49-F238E27FC236}">
                <a16:creationId xmlns:a16="http://schemas.microsoft.com/office/drawing/2014/main" id="{CE7BE455-59CD-4711-A217-8ADD01450988}"/>
              </a:ext>
            </a:extLst>
          </p:cNvPr>
          <p:cNvGraphicFramePr>
            <a:graphicFrameLocks noGrp="1"/>
          </p:cNvGraphicFramePr>
          <p:nvPr>
            <p:extLst>
              <p:ext uri="{D42A27DB-BD31-4B8C-83A1-F6EECF244321}">
                <p14:modId xmlns:p14="http://schemas.microsoft.com/office/powerpoint/2010/main" val="2779474424"/>
              </p:ext>
            </p:extLst>
          </p:nvPr>
        </p:nvGraphicFramePr>
        <p:xfrm>
          <a:off x="679449" y="2218690"/>
          <a:ext cx="8686800" cy="4046220"/>
        </p:xfrm>
        <a:graphic>
          <a:graphicData uri="http://schemas.openxmlformats.org/drawingml/2006/table">
            <a:tbl>
              <a:tblPr firstRow="1" firstCol="1" bandRow="1">
                <a:tableStyleId>{D27102A9-8310-4765-A935-A1911B00CA55}</a:tableStyleId>
              </a:tblPr>
              <a:tblGrid>
                <a:gridCol w="2474787">
                  <a:extLst>
                    <a:ext uri="{9D8B030D-6E8A-4147-A177-3AD203B41FA5}">
                      <a16:colId xmlns:a16="http://schemas.microsoft.com/office/drawing/2014/main" val="864013631"/>
                    </a:ext>
                  </a:extLst>
                </a:gridCol>
                <a:gridCol w="6212013">
                  <a:extLst>
                    <a:ext uri="{9D8B030D-6E8A-4147-A177-3AD203B41FA5}">
                      <a16:colId xmlns:a16="http://schemas.microsoft.com/office/drawing/2014/main" val="2255826268"/>
                    </a:ext>
                  </a:extLst>
                </a:gridCol>
              </a:tblGrid>
              <a:tr h="400050">
                <a:tc>
                  <a:txBody>
                    <a:bodyPr/>
                    <a:lstStyle/>
                    <a:p>
                      <a:pPr algn="l">
                        <a:lnSpc>
                          <a:spcPct val="115000"/>
                        </a:lnSpc>
                        <a:spcAft>
                          <a:spcPts val="0"/>
                        </a:spcAft>
                      </a:pPr>
                      <a:r>
                        <a:rPr lang="en-IN" sz="2000" kern="0" dirty="0">
                          <a:effectLst/>
                        </a:rPr>
                        <a:t>Kitchen Specification</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2000" kern="0">
                          <a:effectLst/>
                        </a:rPr>
                        <a:t>Details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47490633"/>
                  </a:ext>
                </a:extLst>
              </a:tr>
              <a:tr h="400050">
                <a:tc>
                  <a:txBody>
                    <a:bodyPr/>
                    <a:lstStyle/>
                    <a:p>
                      <a:pPr rtl="0" fontAlgn="ctr"/>
                      <a:r>
                        <a:rPr lang="en-IN">
                          <a:effectLst/>
                        </a:rPr>
                        <a:t>Carcass Material</a:t>
                      </a:r>
                      <a:endParaRPr lang="en-IN" b="1">
                        <a:effectLst/>
                        <a:latin typeface="Calibri" panose="020F0502020204030204" pitchFamily="34" charset="0"/>
                      </a:endParaRPr>
                    </a:p>
                  </a:txBody>
                  <a:tcPr marL="28575" marR="28575" marT="0" marB="0" anchor="ctr"/>
                </a:tc>
                <a:tc>
                  <a:txBody>
                    <a:bodyPr/>
                    <a:lstStyle/>
                    <a:p>
                      <a:pPr rtl="0" fontAlgn="ctr"/>
                      <a:r>
                        <a:rPr lang="en-IN" dirty="0">
                          <a:effectLst/>
                        </a:rPr>
                        <a:t>Marine Ply , BSL -BWR</a:t>
                      </a:r>
                      <a:endParaRPr lang="en-IN" b="0" dirty="0">
                        <a:effectLst/>
                        <a:latin typeface="Calibri" panose="020F0502020204030204" pitchFamily="34" charset="0"/>
                      </a:endParaRPr>
                    </a:p>
                  </a:txBody>
                  <a:tcPr marL="28575" marR="28575" marT="0" marB="0" anchor="ctr"/>
                </a:tc>
                <a:extLst>
                  <a:ext uri="{0D108BD9-81ED-4DB2-BD59-A6C34878D82A}">
                    <a16:rowId xmlns:a16="http://schemas.microsoft.com/office/drawing/2014/main" val="2008959524"/>
                  </a:ext>
                </a:extLst>
              </a:tr>
              <a:tr h="400050">
                <a:tc>
                  <a:txBody>
                    <a:bodyPr/>
                    <a:lstStyle/>
                    <a:p>
                      <a:pPr rtl="0" fontAlgn="ctr"/>
                      <a:r>
                        <a:rPr lang="en-IN" dirty="0">
                          <a:effectLst/>
                        </a:rPr>
                        <a:t>Carcass Finish</a:t>
                      </a:r>
                      <a:endParaRPr lang="en-IN" b="1" dirty="0">
                        <a:effectLst/>
                        <a:latin typeface="Calibri" panose="020F0502020204030204" pitchFamily="34" charset="0"/>
                      </a:endParaRPr>
                    </a:p>
                  </a:txBody>
                  <a:tcPr marL="28575" marR="28575" marT="0" marB="0" anchor="ctr"/>
                </a:tc>
                <a:tc>
                  <a:txBody>
                    <a:bodyPr/>
                    <a:lstStyle/>
                    <a:p>
                      <a:pPr rtl="0" fontAlgn="ctr"/>
                      <a:r>
                        <a:rPr lang="en-IN">
                          <a:effectLst/>
                        </a:rPr>
                        <a:t>Frosty White</a:t>
                      </a:r>
                      <a:endParaRPr lang="en-IN" b="0">
                        <a:effectLst/>
                        <a:latin typeface="Calibri" panose="020F0502020204030204" pitchFamily="34" charset="0"/>
                      </a:endParaRPr>
                    </a:p>
                  </a:txBody>
                  <a:tcPr marL="28575" marR="28575" marT="0" marB="0" anchor="ctr"/>
                </a:tc>
                <a:extLst>
                  <a:ext uri="{0D108BD9-81ED-4DB2-BD59-A6C34878D82A}">
                    <a16:rowId xmlns:a16="http://schemas.microsoft.com/office/drawing/2014/main" val="3582911278"/>
                  </a:ext>
                </a:extLst>
              </a:tr>
              <a:tr h="400050">
                <a:tc>
                  <a:txBody>
                    <a:bodyPr/>
                    <a:lstStyle/>
                    <a:p>
                      <a:pPr rtl="0" fontAlgn="ctr"/>
                      <a:r>
                        <a:rPr lang="en-IN">
                          <a:effectLst/>
                        </a:rPr>
                        <a:t>Shutter Finish</a:t>
                      </a:r>
                      <a:endParaRPr lang="en-IN" b="1">
                        <a:effectLst/>
                        <a:latin typeface="Calibri" panose="020F0502020204030204" pitchFamily="34" charset="0"/>
                      </a:endParaRPr>
                    </a:p>
                  </a:txBody>
                  <a:tcPr marL="28575" marR="28575" marT="0" marB="0" anchor="ctr"/>
                </a:tc>
                <a:tc>
                  <a:txBody>
                    <a:bodyPr/>
                    <a:lstStyle/>
                    <a:p>
                      <a:pPr rtl="0" fontAlgn="ctr"/>
                      <a:r>
                        <a:rPr lang="en-IN" dirty="0">
                          <a:effectLst/>
                        </a:rPr>
                        <a:t>Solid laminate colours, </a:t>
                      </a:r>
                      <a:r>
                        <a:rPr lang="en-IN" dirty="0" err="1">
                          <a:effectLst/>
                        </a:rPr>
                        <a:t>Prelam</a:t>
                      </a:r>
                      <a:r>
                        <a:rPr lang="en-IN" dirty="0">
                          <a:effectLst/>
                        </a:rPr>
                        <a:t> Aqua Shield-MDF-</a:t>
                      </a:r>
                      <a:r>
                        <a:rPr lang="en-IN" dirty="0" err="1">
                          <a:effectLst/>
                        </a:rPr>
                        <a:t>Clr</a:t>
                      </a:r>
                      <a:r>
                        <a:rPr lang="en-IN" dirty="0">
                          <a:effectLst/>
                        </a:rPr>
                        <a:t>-BSL </a:t>
                      </a:r>
                      <a:endParaRPr lang="en-IN" b="0" dirty="0">
                        <a:effectLst/>
                        <a:latin typeface="Calibri" panose="020F0502020204030204" pitchFamily="34" charset="0"/>
                      </a:endParaRPr>
                    </a:p>
                  </a:txBody>
                  <a:tcPr marL="28575" marR="28575" marT="0" marB="0" anchor="ctr"/>
                </a:tc>
                <a:extLst>
                  <a:ext uri="{0D108BD9-81ED-4DB2-BD59-A6C34878D82A}">
                    <a16:rowId xmlns:a16="http://schemas.microsoft.com/office/drawing/2014/main" val="366330245"/>
                  </a:ext>
                </a:extLst>
              </a:tr>
              <a:tr h="400050">
                <a:tc>
                  <a:txBody>
                    <a:bodyPr/>
                    <a:lstStyle/>
                    <a:p>
                      <a:pPr rtl="0" fontAlgn="ctr"/>
                      <a:r>
                        <a:rPr lang="en-IN">
                          <a:effectLst/>
                        </a:rPr>
                        <a:t>Shutter Material</a:t>
                      </a:r>
                      <a:endParaRPr lang="en-IN" b="1">
                        <a:effectLst/>
                        <a:latin typeface="Calibri" panose="020F0502020204030204" pitchFamily="34" charset="0"/>
                      </a:endParaRPr>
                    </a:p>
                  </a:txBody>
                  <a:tcPr marL="28575" marR="28575" marT="0" marB="0" anchor="ctr"/>
                </a:tc>
                <a:tc>
                  <a:txBody>
                    <a:bodyPr/>
                    <a:lstStyle/>
                    <a:p>
                      <a:pPr rtl="0" fontAlgn="ctr"/>
                      <a:r>
                        <a:rPr lang="en-IN" dirty="0" err="1">
                          <a:effectLst/>
                        </a:rPr>
                        <a:t>Hydroguard</a:t>
                      </a:r>
                      <a:r>
                        <a:rPr lang="en-IN" dirty="0">
                          <a:effectLst/>
                        </a:rPr>
                        <a:t> Plus HDF, </a:t>
                      </a:r>
                      <a:r>
                        <a:rPr lang="en-IN" dirty="0" err="1">
                          <a:effectLst/>
                        </a:rPr>
                        <a:t>Prelam</a:t>
                      </a:r>
                      <a:r>
                        <a:rPr lang="en-IN" dirty="0">
                          <a:effectLst/>
                        </a:rPr>
                        <a:t> Aqua Shield-MDF-</a:t>
                      </a:r>
                      <a:r>
                        <a:rPr lang="en-IN" dirty="0" err="1">
                          <a:effectLst/>
                        </a:rPr>
                        <a:t>Clr</a:t>
                      </a:r>
                      <a:r>
                        <a:rPr lang="en-IN" dirty="0">
                          <a:effectLst/>
                        </a:rPr>
                        <a:t>-BSL, Commercial Ply, Aqua Shield-MDF-R, MDF</a:t>
                      </a:r>
                      <a:endParaRPr lang="en-IN" b="0" dirty="0">
                        <a:effectLst/>
                        <a:latin typeface="Calibri" panose="020F0502020204030204" pitchFamily="34" charset="0"/>
                      </a:endParaRPr>
                    </a:p>
                  </a:txBody>
                  <a:tcPr marL="28575" marR="28575" marT="0" marB="0" anchor="ctr"/>
                </a:tc>
                <a:extLst>
                  <a:ext uri="{0D108BD9-81ED-4DB2-BD59-A6C34878D82A}">
                    <a16:rowId xmlns:a16="http://schemas.microsoft.com/office/drawing/2014/main" val="247725432"/>
                  </a:ext>
                </a:extLst>
              </a:tr>
              <a:tr h="400050">
                <a:tc>
                  <a:txBody>
                    <a:bodyPr/>
                    <a:lstStyle/>
                    <a:p>
                      <a:pPr rtl="0" fontAlgn="ctr"/>
                      <a:r>
                        <a:rPr lang="en-IN" dirty="0">
                          <a:effectLst/>
                        </a:rPr>
                        <a:t>Handles</a:t>
                      </a:r>
                      <a:endParaRPr lang="en-IN" b="1" dirty="0">
                        <a:effectLst/>
                        <a:latin typeface="Calibri" panose="020F0502020204030204" pitchFamily="34" charset="0"/>
                      </a:endParaRPr>
                    </a:p>
                  </a:txBody>
                  <a:tcPr marL="28575" marR="28575" marT="0" marB="0" anchor="ctr"/>
                </a:tc>
                <a:tc>
                  <a:txBody>
                    <a:bodyPr/>
                    <a:lstStyle/>
                    <a:p>
                      <a:pPr rtl="0" fontAlgn="ctr"/>
                      <a:r>
                        <a:rPr lang="en-IN">
                          <a:effectLst/>
                        </a:rPr>
                        <a:t>Dual Switch EBCO</a:t>
                      </a:r>
                      <a:endParaRPr lang="en-IN" b="0">
                        <a:effectLst/>
                        <a:latin typeface="Calibri" panose="020F0502020204030204" pitchFamily="34" charset="0"/>
                      </a:endParaRPr>
                    </a:p>
                  </a:txBody>
                  <a:tcPr marL="28575" marR="28575" marT="0" marB="0" anchor="ctr"/>
                </a:tc>
                <a:extLst>
                  <a:ext uri="{0D108BD9-81ED-4DB2-BD59-A6C34878D82A}">
                    <a16:rowId xmlns:a16="http://schemas.microsoft.com/office/drawing/2014/main" val="1677851574"/>
                  </a:ext>
                </a:extLst>
              </a:tr>
              <a:tr h="400050">
                <a:tc>
                  <a:txBody>
                    <a:bodyPr/>
                    <a:lstStyle/>
                    <a:p>
                      <a:pPr rtl="0" fontAlgn="ctr"/>
                      <a:r>
                        <a:rPr lang="en-IN">
                          <a:effectLst/>
                        </a:rPr>
                        <a:t>Hardware and Accessories</a:t>
                      </a:r>
                      <a:endParaRPr lang="en-IN" b="1">
                        <a:effectLst/>
                        <a:latin typeface="Calibri" panose="020F0502020204030204" pitchFamily="34" charset="0"/>
                      </a:endParaRPr>
                    </a:p>
                  </a:txBody>
                  <a:tcPr marL="28575" marR="28575" marT="0" marB="0" anchor="ctr"/>
                </a:tc>
                <a:tc>
                  <a:txBody>
                    <a:bodyPr/>
                    <a:lstStyle/>
                    <a:p>
                      <a:pPr rtl="0" fontAlgn="ctr"/>
                      <a:r>
                        <a:rPr lang="en-IN">
                          <a:effectLst/>
                        </a:rPr>
                        <a:t>Tyrox</a:t>
                      </a:r>
                      <a:endParaRPr lang="en-IN" b="0">
                        <a:effectLst/>
                        <a:latin typeface="Calibri" panose="020F0502020204030204" pitchFamily="34" charset="0"/>
                      </a:endParaRPr>
                    </a:p>
                  </a:txBody>
                  <a:tcPr marL="28575" marR="28575" marT="0" marB="0" anchor="ctr"/>
                </a:tc>
                <a:extLst>
                  <a:ext uri="{0D108BD9-81ED-4DB2-BD59-A6C34878D82A}">
                    <a16:rowId xmlns:a16="http://schemas.microsoft.com/office/drawing/2014/main" val="2037800559"/>
                  </a:ext>
                </a:extLst>
              </a:tr>
              <a:tr h="400050">
                <a:tc>
                  <a:txBody>
                    <a:bodyPr/>
                    <a:lstStyle/>
                    <a:p>
                      <a:pPr rtl="0" fontAlgn="ctr"/>
                      <a:r>
                        <a:rPr lang="en-IN">
                          <a:effectLst/>
                        </a:rPr>
                        <a:t>Handles</a:t>
                      </a:r>
                      <a:endParaRPr lang="en-IN" b="1">
                        <a:effectLst/>
                        <a:latin typeface="Calibri" panose="020F0502020204030204" pitchFamily="34" charset="0"/>
                      </a:endParaRPr>
                    </a:p>
                  </a:txBody>
                  <a:tcPr marL="28575" marR="28575" marT="0" marB="0" anchor="ctr"/>
                </a:tc>
                <a:tc>
                  <a:txBody>
                    <a:bodyPr/>
                    <a:lstStyle/>
                    <a:p>
                      <a:pPr rtl="0" fontAlgn="ctr"/>
                      <a:r>
                        <a:rPr lang="en-IN">
                          <a:effectLst/>
                        </a:rPr>
                        <a:t>Tyrox_CH-15060_160 NB_Nickel Brush_160mm, Tyrox_CH-15061_96 NB_Nickel Brush_96mm</a:t>
                      </a:r>
                      <a:endParaRPr lang="en-IN" b="0">
                        <a:effectLst/>
                        <a:latin typeface="Calibri" panose="020F0502020204030204" pitchFamily="34" charset="0"/>
                      </a:endParaRPr>
                    </a:p>
                  </a:txBody>
                  <a:tcPr marL="28575" marR="28575" marT="0" marB="0" anchor="ctr"/>
                </a:tc>
                <a:extLst>
                  <a:ext uri="{0D108BD9-81ED-4DB2-BD59-A6C34878D82A}">
                    <a16:rowId xmlns:a16="http://schemas.microsoft.com/office/drawing/2014/main" val="148519051"/>
                  </a:ext>
                </a:extLst>
              </a:tr>
              <a:tr h="400050">
                <a:tc>
                  <a:txBody>
                    <a:bodyPr/>
                    <a:lstStyle/>
                    <a:p>
                      <a:pPr rtl="0" fontAlgn="ctr"/>
                      <a:r>
                        <a:rPr lang="en-IN">
                          <a:effectLst/>
                        </a:rPr>
                        <a:t>Finish:</a:t>
                      </a:r>
                      <a:endParaRPr lang="en-IN" b="1">
                        <a:effectLst/>
                        <a:latin typeface="Calibri" panose="020F0502020204030204" pitchFamily="34" charset="0"/>
                      </a:endParaRPr>
                    </a:p>
                  </a:txBody>
                  <a:tcPr marL="28575" marR="28575" marT="0" marB="0" anchor="ctr"/>
                </a:tc>
                <a:tc>
                  <a:txBody>
                    <a:bodyPr/>
                    <a:lstStyle/>
                    <a:p>
                      <a:pPr rtl="0" fontAlgn="ctr"/>
                      <a:r>
                        <a:rPr lang="en-IN" dirty="0">
                          <a:effectLst/>
                        </a:rPr>
                        <a:t>Nickel Brush</a:t>
                      </a:r>
                      <a:endParaRPr lang="en-IN" b="0" dirty="0">
                        <a:effectLst/>
                        <a:latin typeface="Calibri" panose="020F0502020204030204" pitchFamily="34" charset="0"/>
                      </a:endParaRPr>
                    </a:p>
                  </a:txBody>
                  <a:tcPr marL="28575" marR="28575" marT="0" marB="0" anchor="ctr"/>
                </a:tc>
                <a:extLst>
                  <a:ext uri="{0D108BD9-81ED-4DB2-BD59-A6C34878D82A}">
                    <a16:rowId xmlns:a16="http://schemas.microsoft.com/office/drawing/2014/main" val="1170318500"/>
                  </a:ext>
                </a:extLst>
              </a:tr>
            </a:tbl>
          </a:graphicData>
        </a:graphic>
      </p:graphicFrame>
      <p:sp>
        <p:nvSpPr>
          <p:cNvPr id="5" name="Slide Number Placeholder 4">
            <a:extLst>
              <a:ext uri="{FF2B5EF4-FFF2-40B4-BE49-F238E27FC236}">
                <a16:creationId xmlns:a16="http://schemas.microsoft.com/office/drawing/2014/main" id="{9E3DC621-AAC7-407E-81F6-668061713654}"/>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6" name="Footer Placeholder 5">
            <a:extLst>
              <a:ext uri="{FF2B5EF4-FFF2-40B4-BE49-F238E27FC236}">
                <a16:creationId xmlns:a16="http://schemas.microsoft.com/office/drawing/2014/main" id="{0C740B4B-AB52-4AD9-9D70-B75832DF032A}"/>
              </a:ext>
            </a:extLst>
          </p:cNvPr>
          <p:cNvSpPr>
            <a:spLocks noGrp="1"/>
          </p:cNvSpPr>
          <p:nvPr>
            <p:ph type="ftr" sz="quarter" idx="11"/>
          </p:nvPr>
        </p:nvSpPr>
        <p:spPr/>
        <p:txBody>
          <a:bodyPr/>
          <a:lstStyle/>
          <a:p>
            <a:r>
              <a:rPr lang="en-US"/>
              <a:t>Mr. Aravindan | Individual Villa Adyar | 7418414780</a:t>
            </a:r>
          </a:p>
        </p:txBody>
      </p:sp>
      <p:graphicFrame>
        <p:nvGraphicFramePr>
          <p:cNvPr id="7" name="Table 6">
            <a:extLst>
              <a:ext uri="{FF2B5EF4-FFF2-40B4-BE49-F238E27FC236}">
                <a16:creationId xmlns:a16="http://schemas.microsoft.com/office/drawing/2014/main" id="{A730749B-B0E2-46A1-9EF4-ACDF4C8CFC37}"/>
              </a:ext>
            </a:extLst>
          </p:cNvPr>
          <p:cNvGraphicFramePr>
            <a:graphicFrameLocks noGrp="1"/>
          </p:cNvGraphicFramePr>
          <p:nvPr>
            <p:extLst>
              <p:ext uri="{D42A27DB-BD31-4B8C-83A1-F6EECF244321}">
                <p14:modId xmlns:p14="http://schemas.microsoft.com/office/powerpoint/2010/main" val="4170262868"/>
              </p:ext>
            </p:extLst>
          </p:nvPr>
        </p:nvGraphicFramePr>
        <p:xfrm>
          <a:off x="603250" y="7167880"/>
          <a:ext cx="8686800" cy="3897630"/>
        </p:xfrm>
        <a:graphic>
          <a:graphicData uri="http://schemas.openxmlformats.org/drawingml/2006/table">
            <a:tbl>
              <a:tblPr firstRow="1" firstCol="1" bandRow="1">
                <a:tableStyleId>{D27102A9-8310-4765-A935-A1911B00CA55}</a:tableStyleId>
              </a:tblPr>
              <a:tblGrid>
                <a:gridCol w="2667000">
                  <a:extLst>
                    <a:ext uri="{9D8B030D-6E8A-4147-A177-3AD203B41FA5}">
                      <a16:colId xmlns:a16="http://schemas.microsoft.com/office/drawing/2014/main" val="864013631"/>
                    </a:ext>
                  </a:extLst>
                </a:gridCol>
                <a:gridCol w="6019800">
                  <a:extLst>
                    <a:ext uri="{9D8B030D-6E8A-4147-A177-3AD203B41FA5}">
                      <a16:colId xmlns:a16="http://schemas.microsoft.com/office/drawing/2014/main" val="2255826268"/>
                    </a:ext>
                  </a:extLst>
                </a:gridCol>
              </a:tblGrid>
              <a:tr h="400050">
                <a:tc>
                  <a:txBody>
                    <a:bodyPr/>
                    <a:lstStyle/>
                    <a:p>
                      <a:pPr algn="l">
                        <a:lnSpc>
                          <a:spcPct val="115000"/>
                        </a:lnSpc>
                        <a:spcAft>
                          <a:spcPts val="0"/>
                        </a:spcAft>
                      </a:pPr>
                      <a:r>
                        <a:rPr lang="en-IN" sz="2000" kern="0" dirty="0">
                          <a:effectLst/>
                        </a:rPr>
                        <a:t>Wardrobe Specification</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2000" kern="0">
                          <a:effectLst/>
                        </a:rPr>
                        <a:t>Details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47490633"/>
                  </a:ext>
                </a:extLst>
              </a:tr>
              <a:tr h="400050">
                <a:tc>
                  <a:txBody>
                    <a:bodyPr/>
                    <a:lstStyle/>
                    <a:p>
                      <a:pPr rtl="0" fontAlgn="ctr"/>
                      <a:r>
                        <a:rPr lang="en-IN">
                          <a:effectLst/>
                        </a:rPr>
                        <a:t>Carcass Material</a:t>
                      </a:r>
                      <a:endParaRPr lang="en-IN" b="1">
                        <a:effectLst/>
                        <a:latin typeface="Calibri" panose="020F0502020204030204" pitchFamily="34" charset="0"/>
                      </a:endParaRPr>
                    </a:p>
                  </a:txBody>
                  <a:tcPr marL="28575" marR="28575" marT="0" marB="0" anchor="ctr"/>
                </a:tc>
                <a:tc>
                  <a:txBody>
                    <a:bodyPr/>
                    <a:lstStyle/>
                    <a:p>
                      <a:pPr rtl="0" fontAlgn="ctr"/>
                      <a:r>
                        <a:rPr lang="en-IN" dirty="0" err="1">
                          <a:effectLst/>
                        </a:rPr>
                        <a:t>Prelam</a:t>
                      </a:r>
                      <a:r>
                        <a:rPr lang="en-IN" dirty="0">
                          <a:effectLst/>
                        </a:rPr>
                        <a:t> Aqua Shield MDF-R, PLHMR - BSL -HYH</a:t>
                      </a:r>
                      <a:endParaRPr lang="en-IN" b="0" dirty="0">
                        <a:effectLst/>
                        <a:latin typeface="Calibri" panose="020F0502020204030204" pitchFamily="34" charset="0"/>
                      </a:endParaRPr>
                    </a:p>
                  </a:txBody>
                  <a:tcPr marL="28575" marR="28575" marT="0" marB="0" anchor="ctr"/>
                </a:tc>
                <a:extLst>
                  <a:ext uri="{0D108BD9-81ED-4DB2-BD59-A6C34878D82A}">
                    <a16:rowId xmlns:a16="http://schemas.microsoft.com/office/drawing/2014/main" val="2008959524"/>
                  </a:ext>
                </a:extLst>
              </a:tr>
              <a:tr h="400050">
                <a:tc>
                  <a:txBody>
                    <a:bodyPr/>
                    <a:lstStyle/>
                    <a:p>
                      <a:pPr rtl="0" fontAlgn="ctr"/>
                      <a:r>
                        <a:rPr lang="en-IN" dirty="0">
                          <a:effectLst/>
                        </a:rPr>
                        <a:t>Carcass Finish</a:t>
                      </a:r>
                      <a:endParaRPr lang="en-IN" b="1" dirty="0">
                        <a:effectLst/>
                        <a:latin typeface="Calibri" panose="020F0502020204030204" pitchFamily="34" charset="0"/>
                      </a:endParaRPr>
                    </a:p>
                  </a:txBody>
                  <a:tcPr marL="28575" marR="28575" marT="0" marB="0" anchor="ctr"/>
                </a:tc>
                <a:tc>
                  <a:txBody>
                    <a:bodyPr/>
                    <a:lstStyle/>
                    <a:p>
                      <a:pPr rtl="0" fontAlgn="ctr"/>
                      <a:r>
                        <a:rPr lang="en-IN">
                          <a:effectLst/>
                        </a:rPr>
                        <a:t>Frosty White</a:t>
                      </a:r>
                      <a:endParaRPr lang="en-IN" b="0">
                        <a:effectLst/>
                        <a:latin typeface="Calibri" panose="020F0502020204030204" pitchFamily="34" charset="0"/>
                      </a:endParaRPr>
                    </a:p>
                  </a:txBody>
                  <a:tcPr marL="28575" marR="28575" marT="0" marB="0" anchor="ctr"/>
                </a:tc>
                <a:extLst>
                  <a:ext uri="{0D108BD9-81ED-4DB2-BD59-A6C34878D82A}">
                    <a16:rowId xmlns:a16="http://schemas.microsoft.com/office/drawing/2014/main" val="3582911278"/>
                  </a:ext>
                </a:extLst>
              </a:tr>
              <a:tr h="400050">
                <a:tc>
                  <a:txBody>
                    <a:bodyPr/>
                    <a:lstStyle/>
                    <a:p>
                      <a:pPr rtl="0" fontAlgn="ctr"/>
                      <a:r>
                        <a:rPr lang="en-IN">
                          <a:effectLst/>
                        </a:rPr>
                        <a:t>Shutter Finish</a:t>
                      </a:r>
                      <a:endParaRPr lang="en-IN" b="1">
                        <a:effectLst/>
                        <a:latin typeface="Calibri" panose="020F0502020204030204" pitchFamily="34" charset="0"/>
                      </a:endParaRPr>
                    </a:p>
                  </a:txBody>
                  <a:tcPr marL="28575" marR="28575" marT="0" marB="0" anchor="ctr"/>
                </a:tc>
                <a:tc>
                  <a:txBody>
                    <a:bodyPr/>
                    <a:lstStyle/>
                    <a:p>
                      <a:pPr rtl="0" fontAlgn="ctr"/>
                      <a:r>
                        <a:rPr lang="en-IN" dirty="0">
                          <a:effectLst/>
                        </a:rPr>
                        <a:t>Solid laminate colours, </a:t>
                      </a:r>
                      <a:r>
                        <a:rPr lang="en-IN" dirty="0" err="1">
                          <a:effectLst/>
                        </a:rPr>
                        <a:t>Prelam</a:t>
                      </a:r>
                      <a:r>
                        <a:rPr lang="en-IN" dirty="0">
                          <a:effectLst/>
                        </a:rPr>
                        <a:t> Aqua Shield-MDF-</a:t>
                      </a:r>
                      <a:r>
                        <a:rPr lang="en-IN" dirty="0" err="1">
                          <a:effectLst/>
                        </a:rPr>
                        <a:t>Clr</a:t>
                      </a:r>
                      <a:r>
                        <a:rPr lang="en-IN" dirty="0">
                          <a:effectLst/>
                        </a:rPr>
                        <a:t>-BSL </a:t>
                      </a:r>
                      <a:endParaRPr lang="en-IN" b="0" dirty="0">
                        <a:effectLst/>
                        <a:latin typeface="Calibri" panose="020F0502020204030204" pitchFamily="34" charset="0"/>
                      </a:endParaRPr>
                    </a:p>
                  </a:txBody>
                  <a:tcPr marL="28575" marR="28575" marT="0" marB="0" anchor="ctr"/>
                </a:tc>
                <a:extLst>
                  <a:ext uri="{0D108BD9-81ED-4DB2-BD59-A6C34878D82A}">
                    <a16:rowId xmlns:a16="http://schemas.microsoft.com/office/drawing/2014/main" val="366330245"/>
                  </a:ext>
                </a:extLst>
              </a:tr>
              <a:tr h="400050">
                <a:tc>
                  <a:txBody>
                    <a:bodyPr/>
                    <a:lstStyle/>
                    <a:p>
                      <a:pPr rtl="0" fontAlgn="ctr"/>
                      <a:r>
                        <a:rPr lang="en-IN">
                          <a:effectLst/>
                        </a:rPr>
                        <a:t>Shutter Material</a:t>
                      </a:r>
                      <a:endParaRPr lang="en-IN" b="1">
                        <a:effectLst/>
                        <a:latin typeface="Calibri" panose="020F0502020204030204" pitchFamily="34" charset="0"/>
                      </a:endParaRPr>
                    </a:p>
                  </a:txBody>
                  <a:tcPr marL="28575" marR="28575" marT="0" marB="0" anchor="ctr"/>
                </a:tc>
                <a:tc>
                  <a:txBody>
                    <a:bodyPr/>
                    <a:lstStyle/>
                    <a:p>
                      <a:pPr rtl="0" fontAlgn="ctr"/>
                      <a:r>
                        <a:rPr lang="en-IN">
                          <a:effectLst/>
                        </a:rPr>
                        <a:t>Hydroguard Plus HDF, Prelam Aqua Shield-MDF-Clr-BSL, Commercial Ply, Aqua Shield-MDF-R, MDF</a:t>
                      </a:r>
                      <a:endParaRPr lang="en-IN" b="0">
                        <a:effectLst/>
                        <a:latin typeface="Calibri" panose="020F0502020204030204" pitchFamily="34" charset="0"/>
                      </a:endParaRPr>
                    </a:p>
                  </a:txBody>
                  <a:tcPr marL="28575" marR="28575" marT="0" marB="0" anchor="ctr"/>
                </a:tc>
                <a:extLst>
                  <a:ext uri="{0D108BD9-81ED-4DB2-BD59-A6C34878D82A}">
                    <a16:rowId xmlns:a16="http://schemas.microsoft.com/office/drawing/2014/main" val="247725432"/>
                  </a:ext>
                </a:extLst>
              </a:tr>
              <a:tr h="400050">
                <a:tc>
                  <a:txBody>
                    <a:bodyPr/>
                    <a:lstStyle/>
                    <a:p>
                      <a:pPr rtl="0" fontAlgn="ctr"/>
                      <a:r>
                        <a:rPr lang="en-IN" dirty="0">
                          <a:effectLst/>
                        </a:rPr>
                        <a:t>Handles</a:t>
                      </a:r>
                      <a:endParaRPr lang="en-IN" b="1" dirty="0">
                        <a:effectLst/>
                        <a:latin typeface="Calibri" panose="020F0502020204030204" pitchFamily="34" charset="0"/>
                      </a:endParaRPr>
                    </a:p>
                  </a:txBody>
                  <a:tcPr marL="28575" marR="28575" marT="0" marB="0" anchor="ctr"/>
                </a:tc>
                <a:tc>
                  <a:txBody>
                    <a:bodyPr/>
                    <a:lstStyle/>
                    <a:p>
                      <a:pPr rtl="0" fontAlgn="ctr"/>
                      <a:r>
                        <a:rPr lang="en-IN">
                          <a:effectLst/>
                        </a:rPr>
                        <a:t>Dual Switch EBCO</a:t>
                      </a:r>
                      <a:endParaRPr lang="en-IN" b="0">
                        <a:effectLst/>
                        <a:latin typeface="Calibri" panose="020F0502020204030204" pitchFamily="34" charset="0"/>
                      </a:endParaRPr>
                    </a:p>
                  </a:txBody>
                  <a:tcPr marL="28575" marR="28575" marT="0" marB="0" anchor="ctr"/>
                </a:tc>
                <a:extLst>
                  <a:ext uri="{0D108BD9-81ED-4DB2-BD59-A6C34878D82A}">
                    <a16:rowId xmlns:a16="http://schemas.microsoft.com/office/drawing/2014/main" val="1677851574"/>
                  </a:ext>
                </a:extLst>
              </a:tr>
              <a:tr h="400050">
                <a:tc>
                  <a:txBody>
                    <a:bodyPr/>
                    <a:lstStyle/>
                    <a:p>
                      <a:pPr rtl="0" fontAlgn="ctr"/>
                      <a:r>
                        <a:rPr lang="en-IN">
                          <a:effectLst/>
                        </a:rPr>
                        <a:t>Hardware and Accessories</a:t>
                      </a:r>
                      <a:endParaRPr lang="en-IN" b="1">
                        <a:effectLst/>
                        <a:latin typeface="Calibri" panose="020F0502020204030204" pitchFamily="34" charset="0"/>
                      </a:endParaRPr>
                    </a:p>
                  </a:txBody>
                  <a:tcPr marL="28575" marR="28575" marT="0" marB="0" anchor="ctr"/>
                </a:tc>
                <a:tc>
                  <a:txBody>
                    <a:bodyPr/>
                    <a:lstStyle/>
                    <a:p>
                      <a:pPr rtl="0" fontAlgn="ctr"/>
                      <a:r>
                        <a:rPr lang="en-IN">
                          <a:effectLst/>
                        </a:rPr>
                        <a:t>Tyrox</a:t>
                      </a:r>
                      <a:endParaRPr lang="en-IN" b="0">
                        <a:effectLst/>
                        <a:latin typeface="Calibri" panose="020F0502020204030204" pitchFamily="34" charset="0"/>
                      </a:endParaRPr>
                    </a:p>
                  </a:txBody>
                  <a:tcPr marL="28575" marR="28575" marT="0" marB="0" anchor="ctr"/>
                </a:tc>
                <a:extLst>
                  <a:ext uri="{0D108BD9-81ED-4DB2-BD59-A6C34878D82A}">
                    <a16:rowId xmlns:a16="http://schemas.microsoft.com/office/drawing/2014/main" val="2037800559"/>
                  </a:ext>
                </a:extLst>
              </a:tr>
              <a:tr h="400050">
                <a:tc>
                  <a:txBody>
                    <a:bodyPr/>
                    <a:lstStyle/>
                    <a:p>
                      <a:pPr rtl="0" fontAlgn="ctr"/>
                      <a:r>
                        <a:rPr lang="en-IN">
                          <a:effectLst/>
                        </a:rPr>
                        <a:t>Handles</a:t>
                      </a:r>
                      <a:endParaRPr lang="en-IN" b="1">
                        <a:effectLst/>
                        <a:latin typeface="Calibri" panose="020F0502020204030204" pitchFamily="34" charset="0"/>
                      </a:endParaRPr>
                    </a:p>
                  </a:txBody>
                  <a:tcPr marL="28575" marR="28575" marT="0" marB="0" anchor="ctr"/>
                </a:tc>
                <a:tc>
                  <a:txBody>
                    <a:bodyPr/>
                    <a:lstStyle/>
                    <a:p>
                      <a:pPr rtl="0" fontAlgn="ctr"/>
                      <a:r>
                        <a:rPr lang="en-IN">
                          <a:effectLst/>
                        </a:rPr>
                        <a:t>Tyrox_CH-15060_160 NB_Nickel Brush_160mm, Tyrox_CH-15061_96 NB_Nickel Brush_96mm</a:t>
                      </a:r>
                      <a:endParaRPr lang="en-IN" b="0">
                        <a:effectLst/>
                        <a:latin typeface="Calibri" panose="020F0502020204030204" pitchFamily="34" charset="0"/>
                      </a:endParaRPr>
                    </a:p>
                  </a:txBody>
                  <a:tcPr marL="28575" marR="28575" marT="0" marB="0" anchor="ctr"/>
                </a:tc>
                <a:extLst>
                  <a:ext uri="{0D108BD9-81ED-4DB2-BD59-A6C34878D82A}">
                    <a16:rowId xmlns:a16="http://schemas.microsoft.com/office/drawing/2014/main" val="148519051"/>
                  </a:ext>
                </a:extLst>
              </a:tr>
              <a:tr h="400050">
                <a:tc>
                  <a:txBody>
                    <a:bodyPr/>
                    <a:lstStyle/>
                    <a:p>
                      <a:pPr rtl="0" fontAlgn="ctr"/>
                      <a:r>
                        <a:rPr lang="en-IN">
                          <a:effectLst/>
                        </a:rPr>
                        <a:t>Finish:</a:t>
                      </a:r>
                      <a:endParaRPr lang="en-IN" b="1">
                        <a:effectLst/>
                        <a:latin typeface="Calibri" panose="020F0502020204030204" pitchFamily="34" charset="0"/>
                      </a:endParaRPr>
                    </a:p>
                  </a:txBody>
                  <a:tcPr marL="28575" marR="28575" marT="0" marB="0" anchor="ctr"/>
                </a:tc>
                <a:tc>
                  <a:txBody>
                    <a:bodyPr/>
                    <a:lstStyle/>
                    <a:p>
                      <a:pPr rtl="0" fontAlgn="ctr"/>
                      <a:r>
                        <a:rPr lang="en-IN" dirty="0">
                          <a:effectLst/>
                        </a:rPr>
                        <a:t>Nickel Brush</a:t>
                      </a:r>
                      <a:endParaRPr lang="en-IN" b="0" dirty="0">
                        <a:effectLst/>
                        <a:latin typeface="Calibri" panose="020F0502020204030204" pitchFamily="34" charset="0"/>
                      </a:endParaRPr>
                    </a:p>
                  </a:txBody>
                  <a:tcPr marL="28575" marR="28575" marT="0" marB="0" anchor="ctr"/>
                </a:tc>
                <a:extLst>
                  <a:ext uri="{0D108BD9-81ED-4DB2-BD59-A6C34878D82A}">
                    <a16:rowId xmlns:a16="http://schemas.microsoft.com/office/drawing/2014/main" val="1170318500"/>
                  </a:ext>
                </a:extLst>
              </a:tr>
            </a:tbl>
          </a:graphicData>
        </a:graphic>
      </p:graphicFrame>
    </p:spTree>
    <p:extLst>
      <p:ext uri="{BB962C8B-B14F-4D97-AF65-F5344CB8AC3E}">
        <p14:creationId xmlns:p14="http://schemas.microsoft.com/office/powerpoint/2010/main" val="44337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C239B3A-3DE5-4F7B-BCAC-73B68942C174}"/>
              </a:ext>
            </a:extLst>
          </p:cNvPr>
          <p:cNvSpPr/>
          <p:nvPr/>
        </p:nvSpPr>
        <p:spPr>
          <a:xfrm>
            <a:off x="3303501" y="1344593"/>
            <a:ext cx="3438698" cy="954107"/>
          </a:xfrm>
          <a:prstGeom prst="rect">
            <a:avLst/>
          </a:prstGeom>
        </p:spPr>
        <p:txBody>
          <a:bodyPr wrap="none">
            <a:spAutoFit/>
          </a:bodyPr>
          <a:lstStyle/>
          <a:p>
            <a:pPr algn="ctr"/>
            <a:r>
              <a:rPr lang="en-IN" sz="2800" dirty="0">
                <a:latin typeface="Baskerville Display PT" panose="020B0604020202020204" charset="0"/>
                <a:ea typeface="Baskerville Display PT" panose="020B0604020202020204" charset="0"/>
              </a:rPr>
              <a:t>SURABHI - LL ELITE</a:t>
            </a:r>
            <a:br>
              <a:rPr lang="en-IN" sz="2800" dirty="0">
                <a:latin typeface="Baskerville Display PT" panose="020B0604020202020204" charset="0"/>
                <a:ea typeface="Baskerville Display PT" panose="020B0604020202020204" charset="0"/>
              </a:rPr>
            </a:br>
            <a:r>
              <a:rPr lang="en-IN" sz="2800" dirty="0">
                <a:latin typeface="Baskerville Display PT" panose="020B0604020202020204" charset="0"/>
                <a:ea typeface="Baskerville Display PT" panose="020B0604020202020204" charset="0"/>
              </a:rPr>
              <a:t>Quotation</a:t>
            </a:r>
          </a:p>
        </p:txBody>
      </p:sp>
      <p:sp>
        <p:nvSpPr>
          <p:cNvPr id="4" name="Slide Number Placeholder 3">
            <a:extLst>
              <a:ext uri="{FF2B5EF4-FFF2-40B4-BE49-F238E27FC236}">
                <a16:creationId xmlns:a16="http://schemas.microsoft.com/office/drawing/2014/main" id="{05AB46E3-CE08-433F-8900-9A65ED81DAF7}"/>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5" name="Footer Placeholder 4">
            <a:extLst>
              <a:ext uri="{FF2B5EF4-FFF2-40B4-BE49-F238E27FC236}">
                <a16:creationId xmlns:a16="http://schemas.microsoft.com/office/drawing/2014/main" id="{19CD98BC-7EE7-4AF8-A7D7-71ED11E392C9}"/>
              </a:ext>
            </a:extLst>
          </p:cNvPr>
          <p:cNvSpPr>
            <a:spLocks noGrp="1"/>
          </p:cNvSpPr>
          <p:nvPr>
            <p:ph type="ftr" sz="quarter" idx="11"/>
          </p:nvPr>
        </p:nvSpPr>
        <p:spPr/>
        <p:txBody>
          <a:bodyPr/>
          <a:lstStyle/>
          <a:p>
            <a:r>
              <a:rPr lang="en-US" dirty="0"/>
              <a:t>Mr. Aravindan | Individual Villa Adyar | 7418414780</a:t>
            </a:r>
          </a:p>
        </p:txBody>
      </p:sp>
    </p:spTree>
    <p:extLst>
      <p:ext uri="{BB962C8B-B14F-4D97-AF65-F5344CB8AC3E}">
        <p14:creationId xmlns:p14="http://schemas.microsoft.com/office/powerpoint/2010/main" val="4200437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9FADEC7-EA69-4346-86CC-01E13F5DFA22}"/>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2" name="Footer Placeholder 1">
            <a:extLst>
              <a:ext uri="{FF2B5EF4-FFF2-40B4-BE49-F238E27FC236}">
                <a16:creationId xmlns:a16="http://schemas.microsoft.com/office/drawing/2014/main" id="{C64F3B2A-5C3A-4C12-8565-3D6C292162C4}"/>
              </a:ext>
            </a:extLst>
          </p:cNvPr>
          <p:cNvSpPr>
            <a:spLocks noGrp="1"/>
          </p:cNvSpPr>
          <p:nvPr>
            <p:ph type="ftr" sz="quarter" idx="11"/>
          </p:nvPr>
        </p:nvSpPr>
        <p:spPr/>
        <p:txBody>
          <a:bodyPr/>
          <a:lstStyle/>
          <a:p>
            <a:r>
              <a:rPr lang="en-US"/>
              <a:t>Mr. Aravindan | Individual Villa Adyar | 7418414780</a:t>
            </a:r>
          </a:p>
        </p:txBody>
      </p:sp>
      <p:sp>
        <p:nvSpPr>
          <p:cNvPr id="4" name="AutoShape 2" descr="Generated image 12">
            <a:extLst>
              <a:ext uri="{FF2B5EF4-FFF2-40B4-BE49-F238E27FC236}">
                <a16:creationId xmlns:a16="http://schemas.microsoft.com/office/drawing/2014/main" id="{A86C9DD9-BCE3-419D-A692-4902947DF47C}"/>
              </a:ext>
            </a:extLst>
          </p:cNvPr>
          <p:cNvSpPr>
            <a:spLocks noChangeAspect="1" noChangeArrowheads="1"/>
          </p:cNvSpPr>
          <p:nvPr/>
        </p:nvSpPr>
        <p:spPr bwMode="auto">
          <a:xfrm>
            <a:off x="4870450" y="69469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722C9633-267D-432B-B161-7B6BB041ED8A}"/>
              </a:ext>
            </a:extLst>
          </p:cNvPr>
          <p:cNvPicPr>
            <a:picLocks noChangeAspect="1"/>
          </p:cNvPicPr>
          <p:nvPr/>
        </p:nvPicPr>
        <p:blipFill>
          <a:blip r:embed="rId2"/>
          <a:stretch>
            <a:fillRect/>
          </a:stretch>
        </p:blipFill>
        <p:spPr>
          <a:xfrm>
            <a:off x="7661" y="0"/>
            <a:ext cx="10030378" cy="14198600"/>
          </a:xfrm>
          <a:prstGeom prst="rect">
            <a:avLst/>
          </a:prstGeom>
        </p:spPr>
      </p:pic>
      <p:pic>
        <p:nvPicPr>
          <p:cNvPr id="7" name="Picture 6">
            <a:extLst>
              <a:ext uri="{FF2B5EF4-FFF2-40B4-BE49-F238E27FC236}">
                <a16:creationId xmlns:a16="http://schemas.microsoft.com/office/drawing/2014/main" id="{3ED4C8A9-12A3-45A8-8B26-2B036B0B65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5650" y="241300"/>
            <a:ext cx="3751943" cy="703490"/>
          </a:xfrm>
          <a:prstGeom prst="rect">
            <a:avLst/>
          </a:prstGeom>
        </p:spPr>
      </p:pic>
      <p:pic>
        <p:nvPicPr>
          <p:cNvPr id="8" name="Picture 7">
            <a:extLst>
              <a:ext uri="{FF2B5EF4-FFF2-40B4-BE49-F238E27FC236}">
                <a16:creationId xmlns:a16="http://schemas.microsoft.com/office/drawing/2014/main" id="{F90BAE16-B288-4FEA-9AA8-B84482E18F62}"/>
              </a:ext>
            </a:extLst>
          </p:cNvPr>
          <p:cNvPicPr>
            <a:picLocks noChangeAspect="1"/>
          </p:cNvPicPr>
          <p:nvPr/>
        </p:nvPicPr>
        <p:blipFill rotWithShape="1">
          <a:blip r:embed="rId4"/>
          <a:srcRect l="41656" t="4293" r="33312" b="94097"/>
          <a:stretch/>
        </p:blipFill>
        <p:spPr>
          <a:xfrm>
            <a:off x="831850" y="927100"/>
            <a:ext cx="3657600" cy="228600"/>
          </a:xfrm>
          <a:prstGeom prst="rect">
            <a:avLst/>
          </a:prstGeom>
        </p:spPr>
      </p:pic>
    </p:spTree>
    <p:extLst>
      <p:ext uri="{BB962C8B-B14F-4D97-AF65-F5344CB8AC3E}">
        <p14:creationId xmlns:p14="http://schemas.microsoft.com/office/powerpoint/2010/main" val="2677927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C239B3A-3DE5-4F7B-BCAC-73B68942C174}"/>
              </a:ext>
            </a:extLst>
          </p:cNvPr>
          <p:cNvSpPr/>
          <p:nvPr/>
        </p:nvSpPr>
        <p:spPr>
          <a:xfrm>
            <a:off x="3195202" y="1089680"/>
            <a:ext cx="3655296" cy="523220"/>
          </a:xfrm>
          <a:prstGeom prst="rect">
            <a:avLst/>
          </a:prstGeom>
        </p:spPr>
        <p:txBody>
          <a:bodyPr wrap="none">
            <a:spAutoFit/>
          </a:bodyPr>
          <a:lstStyle/>
          <a:p>
            <a:r>
              <a:rPr lang="en-IN" sz="2800" dirty="0">
                <a:latin typeface="Baskerville Display PT" panose="020B0604020202020204" charset="0"/>
                <a:ea typeface="Baskerville Display PT" panose="020B0604020202020204" charset="0"/>
              </a:rPr>
              <a:t>CAPRICOAST MATTE</a:t>
            </a:r>
          </a:p>
        </p:txBody>
      </p:sp>
      <p:graphicFrame>
        <p:nvGraphicFramePr>
          <p:cNvPr id="4" name="Table 3">
            <a:extLst>
              <a:ext uri="{FF2B5EF4-FFF2-40B4-BE49-F238E27FC236}">
                <a16:creationId xmlns:a16="http://schemas.microsoft.com/office/drawing/2014/main" id="{5D5DA6A1-494E-4B83-83AE-87F5E90559F3}"/>
              </a:ext>
            </a:extLst>
          </p:cNvPr>
          <p:cNvGraphicFramePr>
            <a:graphicFrameLocks noGrp="1"/>
          </p:cNvGraphicFramePr>
          <p:nvPr>
            <p:extLst>
              <p:ext uri="{D42A27DB-BD31-4B8C-83A1-F6EECF244321}">
                <p14:modId xmlns:p14="http://schemas.microsoft.com/office/powerpoint/2010/main" val="1047109241"/>
              </p:ext>
            </p:extLst>
          </p:nvPr>
        </p:nvGraphicFramePr>
        <p:xfrm>
          <a:off x="565150" y="1533652"/>
          <a:ext cx="8915400" cy="11536373"/>
        </p:xfrm>
        <a:graphic>
          <a:graphicData uri="http://schemas.openxmlformats.org/drawingml/2006/table">
            <a:tbl>
              <a:tblPr firstRow="1" firstCol="1" bandRow="1">
                <a:tableStyleId>{D27102A9-8310-4765-A935-A1911B00CA55}</a:tableStyleId>
              </a:tblPr>
              <a:tblGrid>
                <a:gridCol w="2933700">
                  <a:extLst>
                    <a:ext uri="{9D8B030D-6E8A-4147-A177-3AD203B41FA5}">
                      <a16:colId xmlns:a16="http://schemas.microsoft.com/office/drawing/2014/main" val="864013631"/>
                    </a:ext>
                  </a:extLst>
                </a:gridCol>
                <a:gridCol w="5981700">
                  <a:extLst>
                    <a:ext uri="{9D8B030D-6E8A-4147-A177-3AD203B41FA5}">
                      <a16:colId xmlns:a16="http://schemas.microsoft.com/office/drawing/2014/main" val="2255826268"/>
                    </a:ext>
                  </a:extLst>
                </a:gridCol>
              </a:tblGrid>
              <a:tr h="379799">
                <a:tc>
                  <a:txBody>
                    <a:bodyPr/>
                    <a:lstStyle/>
                    <a:p>
                      <a:pPr algn="ctr">
                        <a:lnSpc>
                          <a:spcPct val="115000"/>
                        </a:lnSpc>
                        <a:spcAft>
                          <a:spcPts val="0"/>
                        </a:spcAft>
                      </a:pPr>
                      <a:r>
                        <a:rPr lang="en-IN" sz="2000" kern="0">
                          <a:effectLst/>
                        </a:rPr>
                        <a:t>Specification</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2000" kern="0" dirty="0">
                          <a:effectLst/>
                        </a:rPr>
                        <a:t>Details</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47490633"/>
                  </a:ext>
                </a:extLst>
              </a:tr>
              <a:tr h="379799">
                <a:tc>
                  <a:txBody>
                    <a:bodyPr/>
                    <a:lstStyle/>
                    <a:p>
                      <a:pPr>
                        <a:lnSpc>
                          <a:spcPct val="115000"/>
                        </a:lnSpc>
                        <a:spcAft>
                          <a:spcPts val="0"/>
                        </a:spcAft>
                      </a:pPr>
                      <a:r>
                        <a:rPr lang="en-IN" sz="2000" kern="0">
                          <a:effectLst/>
                        </a:rPr>
                        <a:t>Carcass Material</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GREENPLY BWP 710 Grade</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08959524"/>
                  </a:ext>
                </a:extLst>
              </a:tr>
              <a:tr h="379799">
                <a:tc>
                  <a:txBody>
                    <a:bodyPr/>
                    <a:lstStyle/>
                    <a:p>
                      <a:pPr>
                        <a:lnSpc>
                          <a:spcPct val="115000"/>
                        </a:lnSpc>
                        <a:spcAft>
                          <a:spcPts val="0"/>
                        </a:spcAft>
                      </a:pPr>
                      <a:r>
                        <a:rPr lang="en-IN" sz="2000" kern="0">
                          <a:effectLst/>
                        </a:rPr>
                        <a:t>Shutter Finish</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Matte Finish Laminate</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82911278"/>
                  </a:ext>
                </a:extLst>
              </a:tr>
              <a:tr h="379799">
                <a:tc>
                  <a:txBody>
                    <a:bodyPr/>
                    <a:lstStyle/>
                    <a:p>
                      <a:pPr>
                        <a:lnSpc>
                          <a:spcPct val="115000"/>
                        </a:lnSpc>
                        <a:spcAft>
                          <a:spcPts val="0"/>
                        </a:spcAft>
                      </a:pPr>
                      <a:r>
                        <a:rPr lang="en-IN" sz="2000" kern="0">
                          <a:effectLst/>
                        </a:rPr>
                        <a:t>Shutter Material</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(HDHMR) / GREENPLY BWP 710 Grade</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6330245"/>
                  </a:ext>
                </a:extLst>
              </a:tr>
              <a:tr h="379799">
                <a:tc>
                  <a:txBody>
                    <a:bodyPr/>
                    <a:lstStyle/>
                    <a:p>
                      <a:pPr>
                        <a:lnSpc>
                          <a:spcPct val="115000"/>
                        </a:lnSpc>
                        <a:spcAft>
                          <a:spcPts val="0"/>
                        </a:spcAft>
                      </a:pPr>
                      <a:r>
                        <a:rPr lang="en-IN" sz="2000" kern="0" dirty="0">
                          <a:effectLst/>
                        </a:rPr>
                        <a:t>Primary Hinges</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EBCO</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77851574"/>
                  </a:ext>
                </a:extLst>
              </a:tr>
              <a:tr h="379799">
                <a:tc>
                  <a:txBody>
                    <a:bodyPr/>
                    <a:lstStyle/>
                    <a:p>
                      <a:pPr>
                        <a:lnSpc>
                          <a:spcPct val="115000"/>
                        </a:lnSpc>
                        <a:spcAft>
                          <a:spcPts val="0"/>
                        </a:spcAft>
                      </a:pPr>
                      <a:r>
                        <a:rPr lang="en-IN" sz="2000" kern="0">
                          <a:effectLst/>
                        </a:rPr>
                        <a:t>Hanger-rods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Multi Profile Hanger HD Rods - EBCO</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7800559"/>
                  </a:ext>
                </a:extLst>
              </a:tr>
              <a:tr h="379799">
                <a:tc>
                  <a:txBody>
                    <a:bodyPr/>
                    <a:lstStyle/>
                    <a:p>
                      <a:pPr>
                        <a:lnSpc>
                          <a:spcPct val="115000"/>
                        </a:lnSpc>
                        <a:spcAft>
                          <a:spcPts val="0"/>
                        </a:spcAft>
                      </a:pPr>
                      <a:r>
                        <a:rPr lang="en-IN" sz="2000" kern="0">
                          <a:effectLst/>
                        </a:rPr>
                        <a:t>Wardrobe Locks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Dual Switch EBCO</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8519051"/>
                  </a:ext>
                </a:extLst>
              </a:tr>
              <a:tr h="379799">
                <a:tc>
                  <a:txBody>
                    <a:bodyPr/>
                    <a:lstStyle/>
                    <a:p>
                      <a:pPr>
                        <a:lnSpc>
                          <a:spcPct val="115000"/>
                        </a:lnSpc>
                        <a:spcAft>
                          <a:spcPts val="0"/>
                        </a:spcAft>
                      </a:pPr>
                      <a:r>
                        <a:rPr lang="en-IN" sz="2000" kern="0">
                          <a:effectLst/>
                        </a:rPr>
                        <a:t>Leg &amp; Wall Bracket</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ABS / Adjustable</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70318500"/>
                  </a:ext>
                </a:extLst>
              </a:tr>
              <a:tr h="379799">
                <a:tc>
                  <a:txBody>
                    <a:bodyPr/>
                    <a:lstStyle/>
                    <a:p>
                      <a:pPr>
                        <a:lnSpc>
                          <a:spcPct val="115000"/>
                        </a:lnSpc>
                        <a:spcAft>
                          <a:spcPts val="0"/>
                        </a:spcAft>
                      </a:pPr>
                      <a:r>
                        <a:rPr lang="en-IN" sz="2000" kern="0" dirty="0">
                          <a:effectLst/>
                        </a:rPr>
                        <a:t>Sliding Track</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CNR Brand with a Two Way sliding system</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01916119"/>
                  </a:ext>
                </a:extLst>
              </a:tr>
              <a:tr h="379799">
                <a:tc>
                  <a:txBody>
                    <a:bodyPr/>
                    <a:lstStyle/>
                    <a:p>
                      <a:pPr>
                        <a:lnSpc>
                          <a:spcPct val="115000"/>
                        </a:lnSpc>
                        <a:spcAft>
                          <a:spcPts val="0"/>
                        </a:spcAft>
                      </a:pPr>
                      <a:r>
                        <a:rPr lang="en-IN" sz="2000" kern="0">
                          <a:effectLst/>
                        </a:rPr>
                        <a:t>Lift Up Piston</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HETTICH / BLUM (15 KGS)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66082637"/>
                  </a:ext>
                </a:extLst>
              </a:tr>
              <a:tr h="379799">
                <a:tc>
                  <a:txBody>
                    <a:bodyPr/>
                    <a:lstStyle/>
                    <a:p>
                      <a:pPr>
                        <a:lnSpc>
                          <a:spcPct val="115000"/>
                        </a:lnSpc>
                        <a:spcAft>
                          <a:spcPts val="0"/>
                        </a:spcAft>
                      </a:pPr>
                      <a:r>
                        <a:rPr lang="en-IN" sz="2000" kern="0">
                          <a:effectLst/>
                        </a:rPr>
                        <a:t>Screws &amp; Clamps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HP Screws / Self threading Type</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51331113"/>
                  </a:ext>
                </a:extLst>
              </a:tr>
              <a:tr h="379799">
                <a:tc>
                  <a:txBody>
                    <a:bodyPr/>
                    <a:lstStyle/>
                    <a:p>
                      <a:pPr>
                        <a:lnSpc>
                          <a:spcPct val="115000"/>
                        </a:lnSpc>
                        <a:spcAft>
                          <a:spcPts val="0"/>
                        </a:spcAft>
                      </a:pPr>
                      <a:r>
                        <a:rPr lang="en-IN" sz="2000" kern="0">
                          <a:effectLst/>
                        </a:rPr>
                        <a:t>Skirting</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Matching Shutter Finish Skirting</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44855551"/>
                  </a:ext>
                </a:extLst>
              </a:tr>
              <a:tr h="379799">
                <a:tc>
                  <a:txBody>
                    <a:bodyPr/>
                    <a:lstStyle/>
                    <a:p>
                      <a:pPr>
                        <a:lnSpc>
                          <a:spcPct val="115000"/>
                        </a:lnSpc>
                        <a:spcAft>
                          <a:spcPts val="0"/>
                        </a:spcAft>
                      </a:pPr>
                      <a:r>
                        <a:rPr lang="en-IN" sz="2000" kern="0">
                          <a:effectLst/>
                        </a:rPr>
                        <a:t>Mirrors &amp; Glass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4mm Saint Gobain</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0846321"/>
                  </a:ext>
                </a:extLst>
              </a:tr>
              <a:tr h="379799">
                <a:tc>
                  <a:txBody>
                    <a:bodyPr/>
                    <a:lstStyle/>
                    <a:p>
                      <a:pPr>
                        <a:lnSpc>
                          <a:spcPct val="115000"/>
                        </a:lnSpc>
                        <a:spcAft>
                          <a:spcPts val="0"/>
                        </a:spcAft>
                      </a:pPr>
                      <a:r>
                        <a:rPr lang="en-IN" sz="2000" kern="0">
                          <a:effectLst/>
                        </a:rPr>
                        <a:t>Installation Process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Self-Drilling Screws with Screw caps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1041372"/>
                  </a:ext>
                </a:extLst>
              </a:tr>
              <a:tr h="646021">
                <a:tc>
                  <a:txBody>
                    <a:bodyPr/>
                    <a:lstStyle/>
                    <a:p>
                      <a:pPr>
                        <a:lnSpc>
                          <a:spcPct val="115000"/>
                        </a:lnSpc>
                        <a:spcAft>
                          <a:spcPts val="0"/>
                        </a:spcAft>
                      </a:pPr>
                      <a:r>
                        <a:rPr lang="en-IN" sz="2000" kern="0">
                          <a:effectLst/>
                        </a:rPr>
                        <a:t>Installation Duration</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4 Weeks (may increase if the scope includes Civil, Electrical work)</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587937"/>
                  </a:ext>
                </a:extLst>
              </a:tr>
              <a:tr h="379799">
                <a:tc>
                  <a:txBody>
                    <a:bodyPr/>
                    <a:lstStyle/>
                    <a:p>
                      <a:pPr>
                        <a:lnSpc>
                          <a:spcPct val="115000"/>
                        </a:lnSpc>
                        <a:spcAft>
                          <a:spcPts val="0"/>
                        </a:spcAft>
                      </a:pPr>
                      <a:r>
                        <a:rPr lang="en-IN" sz="2000" kern="0">
                          <a:effectLst/>
                        </a:rPr>
                        <a:t>Inclusive in Cost</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Installation and Transportation</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43588788"/>
                  </a:ext>
                </a:extLst>
              </a:tr>
              <a:tr h="379799">
                <a:tc>
                  <a:txBody>
                    <a:bodyPr/>
                    <a:lstStyle/>
                    <a:p>
                      <a:pPr>
                        <a:lnSpc>
                          <a:spcPct val="115000"/>
                        </a:lnSpc>
                        <a:spcAft>
                          <a:spcPts val="0"/>
                        </a:spcAft>
                      </a:pPr>
                      <a:r>
                        <a:rPr lang="en-IN" sz="2000" kern="0">
                          <a:effectLst/>
                        </a:rPr>
                        <a:t>Taxes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Prices Excludes GST</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93819193"/>
                  </a:ext>
                </a:extLst>
              </a:tr>
              <a:tr h="379799">
                <a:tc>
                  <a:txBody>
                    <a:bodyPr/>
                    <a:lstStyle/>
                    <a:p>
                      <a:pPr>
                        <a:lnSpc>
                          <a:spcPct val="115000"/>
                        </a:lnSpc>
                        <a:spcAft>
                          <a:spcPts val="0"/>
                        </a:spcAft>
                      </a:pPr>
                      <a:r>
                        <a:rPr lang="en-IN" sz="2000" kern="0">
                          <a:effectLst/>
                        </a:rPr>
                        <a:t>Laminate Pasting Process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Machine Pressed Lamination</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84149060"/>
                  </a:ext>
                </a:extLst>
              </a:tr>
              <a:tr h="646021">
                <a:tc>
                  <a:txBody>
                    <a:bodyPr/>
                    <a:lstStyle/>
                    <a:p>
                      <a:pPr>
                        <a:lnSpc>
                          <a:spcPct val="115000"/>
                        </a:lnSpc>
                        <a:spcAft>
                          <a:spcPts val="0"/>
                        </a:spcAft>
                      </a:pPr>
                      <a:r>
                        <a:rPr lang="en-IN" sz="2000" kern="0">
                          <a:effectLst/>
                        </a:rPr>
                        <a:t>Throughfeed Edge Banding</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Machine Edge Banding</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1016607"/>
                  </a:ext>
                </a:extLst>
              </a:tr>
              <a:tr h="379799">
                <a:tc>
                  <a:txBody>
                    <a:bodyPr/>
                    <a:lstStyle/>
                    <a:p>
                      <a:pPr>
                        <a:lnSpc>
                          <a:spcPct val="115000"/>
                        </a:lnSpc>
                        <a:spcAft>
                          <a:spcPts val="0"/>
                        </a:spcAft>
                      </a:pPr>
                      <a:r>
                        <a:rPr lang="en-IN" sz="2000" kern="0" dirty="0">
                          <a:effectLst/>
                        </a:rPr>
                        <a:t>Edge Banding</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Regular PVC Edge Banding</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28251194"/>
                  </a:ext>
                </a:extLst>
              </a:tr>
              <a:tr h="379799">
                <a:tc>
                  <a:txBody>
                    <a:bodyPr/>
                    <a:lstStyle/>
                    <a:p>
                      <a:pPr>
                        <a:lnSpc>
                          <a:spcPct val="115000"/>
                        </a:lnSpc>
                        <a:spcAft>
                          <a:spcPts val="0"/>
                        </a:spcAft>
                      </a:pPr>
                      <a:r>
                        <a:rPr lang="en-IN" sz="2000" kern="0" dirty="0">
                          <a:effectLst/>
                        </a:rPr>
                        <a:t>Adhesives</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err="1">
                          <a:effectLst/>
                        </a:rPr>
                        <a:t>Fevicol</a:t>
                      </a:r>
                      <a:r>
                        <a:rPr lang="en-IN" sz="2000" kern="0" dirty="0">
                          <a:effectLst/>
                        </a:rPr>
                        <a:t> SR</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60928865"/>
                  </a:ext>
                </a:extLst>
              </a:tr>
              <a:tr h="379799">
                <a:tc>
                  <a:txBody>
                    <a:bodyPr/>
                    <a:lstStyle/>
                    <a:p>
                      <a:pPr>
                        <a:lnSpc>
                          <a:spcPct val="115000"/>
                        </a:lnSpc>
                        <a:spcAft>
                          <a:spcPts val="0"/>
                        </a:spcAft>
                      </a:pPr>
                      <a:r>
                        <a:rPr lang="en-IN" sz="2000" kern="0">
                          <a:effectLst/>
                        </a:rPr>
                        <a:t>HOT MELT Adhesive</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err="1">
                          <a:effectLst/>
                        </a:rPr>
                        <a:t>Pidilite</a:t>
                      </a:r>
                      <a:r>
                        <a:rPr lang="en-IN" sz="2000" kern="0" dirty="0">
                          <a:effectLst/>
                        </a:rPr>
                        <a:t> / SR</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6689380"/>
                  </a:ext>
                </a:extLst>
              </a:tr>
              <a:tr h="646021">
                <a:tc>
                  <a:txBody>
                    <a:bodyPr/>
                    <a:lstStyle/>
                    <a:p>
                      <a:pPr>
                        <a:lnSpc>
                          <a:spcPct val="115000"/>
                        </a:lnSpc>
                        <a:spcAft>
                          <a:spcPts val="0"/>
                        </a:spcAft>
                      </a:pPr>
                      <a:r>
                        <a:rPr lang="en-IN" sz="2000" kern="0" dirty="0">
                          <a:effectLst/>
                        </a:rPr>
                        <a:t>Customization</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Available for Inner Partition is available at an additional cost</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2830401"/>
                  </a:ext>
                </a:extLst>
              </a:tr>
              <a:tr h="379799">
                <a:tc>
                  <a:txBody>
                    <a:bodyPr/>
                    <a:lstStyle/>
                    <a:p>
                      <a:pPr>
                        <a:lnSpc>
                          <a:spcPct val="115000"/>
                        </a:lnSpc>
                        <a:spcAft>
                          <a:spcPts val="0"/>
                        </a:spcAft>
                      </a:pPr>
                      <a:r>
                        <a:rPr lang="en-IN" sz="2000" kern="0">
                          <a:effectLst/>
                        </a:rPr>
                        <a:t>Additional Process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39716642"/>
                  </a:ext>
                </a:extLst>
              </a:tr>
              <a:tr h="379799">
                <a:tc>
                  <a:txBody>
                    <a:bodyPr/>
                    <a:lstStyle/>
                    <a:p>
                      <a:pPr>
                        <a:lnSpc>
                          <a:spcPct val="115000"/>
                        </a:lnSpc>
                        <a:spcAft>
                          <a:spcPts val="0"/>
                        </a:spcAft>
                      </a:pPr>
                      <a:r>
                        <a:rPr lang="en-IN" sz="2000" kern="0">
                          <a:effectLst/>
                        </a:rPr>
                        <a:t>Laminate / Facia Brand</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CATCH / New Mica</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64093438"/>
                  </a:ext>
                </a:extLst>
              </a:tr>
              <a:tr h="379799">
                <a:tc>
                  <a:txBody>
                    <a:bodyPr/>
                    <a:lstStyle/>
                    <a:p>
                      <a:pPr>
                        <a:lnSpc>
                          <a:spcPct val="115000"/>
                        </a:lnSpc>
                        <a:spcAft>
                          <a:spcPts val="0"/>
                        </a:spcAft>
                      </a:pPr>
                      <a:r>
                        <a:rPr lang="en-IN" sz="2000" kern="0">
                          <a:effectLst/>
                        </a:rPr>
                        <a:t>Hardwares &amp; Utilities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EBCO</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52406200"/>
                  </a:ext>
                </a:extLst>
              </a:tr>
              <a:tr h="379799">
                <a:tc>
                  <a:txBody>
                    <a:bodyPr/>
                    <a:lstStyle/>
                    <a:p>
                      <a:pPr>
                        <a:lnSpc>
                          <a:spcPct val="115000"/>
                        </a:lnSpc>
                        <a:spcAft>
                          <a:spcPts val="0"/>
                        </a:spcAft>
                      </a:pPr>
                      <a:r>
                        <a:rPr lang="en-IN" sz="2000" kern="0">
                          <a:effectLst/>
                        </a:rPr>
                        <a:t>Kitchen Accessories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HETTICH / EBCO</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24973794"/>
                  </a:ext>
                </a:extLst>
              </a:tr>
              <a:tr h="379799">
                <a:tc>
                  <a:txBody>
                    <a:bodyPr/>
                    <a:lstStyle/>
                    <a:p>
                      <a:pPr>
                        <a:lnSpc>
                          <a:spcPct val="115000"/>
                        </a:lnSpc>
                        <a:spcAft>
                          <a:spcPts val="0"/>
                        </a:spcAft>
                      </a:pPr>
                      <a:r>
                        <a:rPr lang="en-IN" sz="2000" kern="0" dirty="0">
                          <a:effectLst/>
                        </a:rPr>
                        <a:t>Production Timeline</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4 Weeks from Physical Sign Off On The Colour Drawing</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20859089"/>
                  </a:ext>
                </a:extLst>
              </a:tr>
            </a:tbl>
          </a:graphicData>
        </a:graphic>
      </p:graphicFrame>
      <p:sp>
        <p:nvSpPr>
          <p:cNvPr id="5" name="Slide Number Placeholder 4">
            <a:extLst>
              <a:ext uri="{FF2B5EF4-FFF2-40B4-BE49-F238E27FC236}">
                <a16:creationId xmlns:a16="http://schemas.microsoft.com/office/drawing/2014/main" id="{49B0EFFE-0D86-494B-9437-CDCD12089D12}"/>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6" name="Footer Placeholder 5">
            <a:extLst>
              <a:ext uri="{FF2B5EF4-FFF2-40B4-BE49-F238E27FC236}">
                <a16:creationId xmlns:a16="http://schemas.microsoft.com/office/drawing/2014/main" id="{406BDF44-37D8-4AF1-8587-4AADE2D35381}"/>
              </a:ext>
            </a:extLst>
          </p:cNvPr>
          <p:cNvSpPr>
            <a:spLocks noGrp="1"/>
          </p:cNvSpPr>
          <p:nvPr>
            <p:ph type="ftr" sz="quarter" idx="11"/>
          </p:nvPr>
        </p:nvSpPr>
        <p:spPr/>
        <p:txBody>
          <a:bodyPr/>
          <a:lstStyle/>
          <a:p>
            <a:r>
              <a:rPr lang="en-US"/>
              <a:t>Mr. Aravindan | Individual Villa Adyar | 7418414780</a:t>
            </a:r>
            <a:endParaRPr lang="en-US" dirty="0"/>
          </a:p>
        </p:txBody>
      </p:sp>
    </p:spTree>
    <p:extLst>
      <p:ext uri="{BB962C8B-B14F-4D97-AF65-F5344CB8AC3E}">
        <p14:creationId xmlns:p14="http://schemas.microsoft.com/office/powerpoint/2010/main" val="20402163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C239B3A-3DE5-4F7B-BCAC-73B68942C174}"/>
              </a:ext>
            </a:extLst>
          </p:cNvPr>
          <p:cNvSpPr/>
          <p:nvPr/>
        </p:nvSpPr>
        <p:spPr>
          <a:xfrm>
            <a:off x="3195202" y="1268393"/>
            <a:ext cx="3655296" cy="954107"/>
          </a:xfrm>
          <a:prstGeom prst="rect">
            <a:avLst/>
          </a:prstGeom>
        </p:spPr>
        <p:txBody>
          <a:bodyPr wrap="none">
            <a:spAutoFit/>
          </a:bodyPr>
          <a:lstStyle/>
          <a:p>
            <a:pPr algn="ctr"/>
            <a:r>
              <a:rPr lang="en-IN" sz="2800" dirty="0">
                <a:latin typeface="Baskerville Display PT" panose="020B0604020202020204" charset="0"/>
                <a:ea typeface="Baskerville Display PT" panose="020B0604020202020204" charset="0"/>
              </a:rPr>
              <a:t>CAPRICOAST MATTE</a:t>
            </a:r>
            <a:br>
              <a:rPr lang="en-IN" sz="2800" dirty="0">
                <a:latin typeface="Baskerville Display PT" panose="020B0604020202020204" charset="0"/>
                <a:ea typeface="Baskerville Display PT" panose="020B0604020202020204" charset="0"/>
              </a:rPr>
            </a:br>
            <a:r>
              <a:rPr lang="en-IN" sz="2800" dirty="0">
                <a:latin typeface="Baskerville Display PT" panose="020B0604020202020204" charset="0"/>
                <a:ea typeface="Baskerville Display PT" panose="020B0604020202020204" charset="0"/>
              </a:rPr>
              <a:t>Quotation</a:t>
            </a:r>
          </a:p>
        </p:txBody>
      </p:sp>
      <p:sp>
        <p:nvSpPr>
          <p:cNvPr id="4" name="Slide Number Placeholder 3">
            <a:extLst>
              <a:ext uri="{FF2B5EF4-FFF2-40B4-BE49-F238E27FC236}">
                <a16:creationId xmlns:a16="http://schemas.microsoft.com/office/drawing/2014/main" id="{EAA1FEB6-6503-4B39-915C-250447032191}"/>
              </a:ext>
            </a:extLst>
          </p:cNvPr>
          <p:cNvSpPr>
            <a:spLocks noGrp="1"/>
          </p:cNvSpPr>
          <p:nvPr>
            <p:ph type="sldNum" sz="quarter" idx="12"/>
          </p:nvPr>
        </p:nvSpPr>
        <p:spPr/>
        <p:txBody>
          <a:bodyPr/>
          <a:lstStyle/>
          <a:p>
            <a:fld id="{B6F15528-21DE-4FAA-801E-634DDDAF4B2B}" type="slidenum">
              <a:rPr lang="en-US" smtClean="0"/>
              <a:pPr/>
              <a:t>12</a:t>
            </a:fld>
            <a:endParaRPr lang="en-US"/>
          </a:p>
        </p:txBody>
      </p:sp>
      <p:sp>
        <p:nvSpPr>
          <p:cNvPr id="5" name="Footer Placeholder 4">
            <a:extLst>
              <a:ext uri="{FF2B5EF4-FFF2-40B4-BE49-F238E27FC236}">
                <a16:creationId xmlns:a16="http://schemas.microsoft.com/office/drawing/2014/main" id="{FBE08AAB-D4DC-4B4A-943C-B599A94E46DD}"/>
              </a:ext>
            </a:extLst>
          </p:cNvPr>
          <p:cNvSpPr>
            <a:spLocks noGrp="1"/>
          </p:cNvSpPr>
          <p:nvPr>
            <p:ph type="ftr" sz="quarter" idx="11"/>
          </p:nvPr>
        </p:nvSpPr>
        <p:spPr/>
        <p:txBody>
          <a:bodyPr/>
          <a:lstStyle/>
          <a:p>
            <a:r>
              <a:rPr lang="en-US"/>
              <a:t>Mr. Aravindan | Individual Villa Adyar | 7418414780</a:t>
            </a:r>
          </a:p>
        </p:txBody>
      </p:sp>
    </p:spTree>
    <p:extLst>
      <p:ext uri="{BB962C8B-B14F-4D97-AF65-F5344CB8AC3E}">
        <p14:creationId xmlns:p14="http://schemas.microsoft.com/office/powerpoint/2010/main" val="2723005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F31BD22-4063-4309-B8D4-01442D458037}"/>
              </a:ext>
            </a:extLst>
          </p:cNvPr>
          <p:cNvSpPr>
            <a:spLocks noGrp="1"/>
          </p:cNvSpPr>
          <p:nvPr>
            <p:ph type="sldNum" sz="quarter" idx="12"/>
          </p:nvPr>
        </p:nvSpPr>
        <p:spPr/>
        <p:txBody>
          <a:bodyPr/>
          <a:lstStyle/>
          <a:p>
            <a:fld id="{B6F15528-21DE-4FAA-801E-634DDDAF4B2B}" type="slidenum">
              <a:rPr lang="en-US" smtClean="0"/>
              <a:pPr/>
              <a:t>13</a:t>
            </a:fld>
            <a:endParaRPr lang="en-US"/>
          </a:p>
        </p:txBody>
      </p:sp>
      <p:pic>
        <p:nvPicPr>
          <p:cNvPr id="10" name="Picture 9">
            <a:extLst>
              <a:ext uri="{FF2B5EF4-FFF2-40B4-BE49-F238E27FC236}">
                <a16:creationId xmlns:a16="http://schemas.microsoft.com/office/drawing/2014/main" id="{1B79C08C-D8E7-4F49-BDBC-AF663F254EEE}"/>
              </a:ext>
            </a:extLst>
          </p:cNvPr>
          <p:cNvPicPr>
            <a:picLocks noChangeAspect="1"/>
          </p:cNvPicPr>
          <p:nvPr/>
        </p:nvPicPr>
        <p:blipFill rotWithShape="1">
          <a:blip r:embed="rId2"/>
          <a:srcRect l="41656" t="4293" r="33312" b="94097"/>
          <a:stretch/>
        </p:blipFill>
        <p:spPr>
          <a:xfrm>
            <a:off x="527050" y="845947"/>
            <a:ext cx="3657600" cy="228600"/>
          </a:xfrm>
          <a:prstGeom prst="rect">
            <a:avLst/>
          </a:prstGeom>
        </p:spPr>
      </p:pic>
      <p:sp>
        <p:nvSpPr>
          <p:cNvPr id="2" name="Footer Placeholder 1">
            <a:extLst>
              <a:ext uri="{FF2B5EF4-FFF2-40B4-BE49-F238E27FC236}">
                <a16:creationId xmlns:a16="http://schemas.microsoft.com/office/drawing/2014/main" id="{FC1C82B6-814B-4E53-A1EA-9AC14CDE3137}"/>
              </a:ext>
            </a:extLst>
          </p:cNvPr>
          <p:cNvSpPr>
            <a:spLocks noGrp="1"/>
          </p:cNvSpPr>
          <p:nvPr>
            <p:ph type="ftr" sz="quarter" idx="11"/>
          </p:nvPr>
        </p:nvSpPr>
        <p:spPr/>
        <p:txBody>
          <a:bodyPr/>
          <a:lstStyle/>
          <a:p>
            <a:r>
              <a:rPr lang="en-US"/>
              <a:t>Mr. Aravindan | Individual Villa Adyar | 7418414780</a:t>
            </a:r>
          </a:p>
        </p:txBody>
      </p:sp>
      <p:pic>
        <p:nvPicPr>
          <p:cNvPr id="8" name="Picture 7">
            <a:extLst>
              <a:ext uri="{FF2B5EF4-FFF2-40B4-BE49-F238E27FC236}">
                <a16:creationId xmlns:a16="http://schemas.microsoft.com/office/drawing/2014/main" id="{C37B75E4-76DF-4741-943D-BA38FF99FAF2}"/>
              </a:ext>
            </a:extLst>
          </p:cNvPr>
          <p:cNvPicPr>
            <a:picLocks noChangeAspect="1"/>
          </p:cNvPicPr>
          <p:nvPr/>
        </p:nvPicPr>
        <p:blipFill rotWithShape="1">
          <a:blip r:embed="rId3"/>
          <a:srcRect t="-984"/>
          <a:stretch/>
        </p:blipFill>
        <p:spPr>
          <a:xfrm>
            <a:off x="0" y="-139700"/>
            <a:ext cx="10045700" cy="14338299"/>
          </a:xfrm>
          <a:prstGeom prst="rect">
            <a:avLst/>
          </a:prstGeom>
        </p:spPr>
      </p:pic>
      <p:pic>
        <p:nvPicPr>
          <p:cNvPr id="9" name="Picture 8">
            <a:extLst>
              <a:ext uri="{FF2B5EF4-FFF2-40B4-BE49-F238E27FC236}">
                <a16:creationId xmlns:a16="http://schemas.microsoft.com/office/drawing/2014/main" id="{D73E96D6-B108-4FDD-B616-D52F2014322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4650" y="186086"/>
            <a:ext cx="4229101" cy="792957"/>
          </a:xfrm>
          <a:prstGeom prst="rect">
            <a:avLst/>
          </a:prstGeom>
        </p:spPr>
      </p:pic>
    </p:spTree>
    <p:extLst>
      <p:ext uri="{BB962C8B-B14F-4D97-AF65-F5344CB8AC3E}">
        <p14:creationId xmlns:p14="http://schemas.microsoft.com/office/powerpoint/2010/main" val="3758575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C239B3A-3DE5-4F7B-BCAC-73B68942C174}"/>
              </a:ext>
            </a:extLst>
          </p:cNvPr>
          <p:cNvSpPr/>
          <p:nvPr/>
        </p:nvSpPr>
        <p:spPr>
          <a:xfrm>
            <a:off x="3195202" y="1089680"/>
            <a:ext cx="3655296" cy="523220"/>
          </a:xfrm>
          <a:prstGeom prst="rect">
            <a:avLst/>
          </a:prstGeom>
        </p:spPr>
        <p:txBody>
          <a:bodyPr wrap="none">
            <a:spAutoFit/>
          </a:bodyPr>
          <a:lstStyle/>
          <a:p>
            <a:pPr algn="ctr"/>
            <a:r>
              <a:rPr lang="en-IN" sz="2800" dirty="0">
                <a:latin typeface="Baskerville Display PT" panose="020B0604020202020204" charset="0"/>
                <a:ea typeface="Baskerville Display PT" panose="020B0604020202020204" charset="0"/>
              </a:rPr>
              <a:t>CAPRICOST GLOSSY</a:t>
            </a:r>
          </a:p>
        </p:txBody>
      </p:sp>
      <p:graphicFrame>
        <p:nvGraphicFramePr>
          <p:cNvPr id="4" name="Table 3">
            <a:extLst>
              <a:ext uri="{FF2B5EF4-FFF2-40B4-BE49-F238E27FC236}">
                <a16:creationId xmlns:a16="http://schemas.microsoft.com/office/drawing/2014/main" id="{1009B6A1-5997-480B-AEE2-2FC0984390C8}"/>
              </a:ext>
            </a:extLst>
          </p:cNvPr>
          <p:cNvGraphicFramePr>
            <a:graphicFrameLocks noGrp="1"/>
          </p:cNvGraphicFramePr>
          <p:nvPr>
            <p:extLst>
              <p:ext uri="{D42A27DB-BD31-4B8C-83A1-F6EECF244321}">
                <p14:modId xmlns:p14="http://schemas.microsoft.com/office/powerpoint/2010/main" val="2783100648"/>
              </p:ext>
            </p:extLst>
          </p:nvPr>
        </p:nvGraphicFramePr>
        <p:xfrm>
          <a:off x="793750" y="1536700"/>
          <a:ext cx="8496300" cy="11646572"/>
        </p:xfrm>
        <a:graphic>
          <a:graphicData uri="http://schemas.openxmlformats.org/drawingml/2006/table">
            <a:tbl>
              <a:tblPr firstRow="1" firstCol="1" bandRow="1">
                <a:tableStyleId>{D27102A9-8310-4765-A935-A1911B00CA55}</a:tableStyleId>
              </a:tblPr>
              <a:tblGrid>
                <a:gridCol w="2322826">
                  <a:extLst>
                    <a:ext uri="{9D8B030D-6E8A-4147-A177-3AD203B41FA5}">
                      <a16:colId xmlns:a16="http://schemas.microsoft.com/office/drawing/2014/main" val="864013631"/>
                    </a:ext>
                  </a:extLst>
                </a:gridCol>
                <a:gridCol w="6173474">
                  <a:extLst>
                    <a:ext uri="{9D8B030D-6E8A-4147-A177-3AD203B41FA5}">
                      <a16:colId xmlns:a16="http://schemas.microsoft.com/office/drawing/2014/main" val="2255826268"/>
                    </a:ext>
                  </a:extLst>
                </a:gridCol>
              </a:tblGrid>
              <a:tr h="343808">
                <a:tc>
                  <a:txBody>
                    <a:bodyPr/>
                    <a:lstStyle/>
                    <a:p>
                      <a:pPr algn="ctr">
                        <a:lnSpc>
                          <a:spcPct val="115000"/>
                        </a:lnSpc>
                        <a:spcAft>
                          <a:spcPts val="0"/>
                        </a:spcAft>
                      </a:pPr>
                      <a:r>
                        <a:rPr lang="en-IN" sz="2000" kern="0">
                          <a:effectLst/>
                        </a:rPr>
                        <a:t>Specification</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2000" kern="0">
                          <a:effectLst/>
                        </a:rPr>
                        <a:t>Details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47490633"/>
                  </a:ext>
                </a:extLst>
              </a:tr>
              <a:tr h="343808">
                <a:tc>
                  <a:txBody>
                    <a:bodyPr/>
                    <a:lstStyle/>
                    <a:p>
                      <a:pPr>
                        <a:lnSpc>
                          <a:spcPct val="115000"/>
                        </a:lnSpc>
                        <a:spcAft>
                          <a:spcPts val="0"/>
                        </a:spcAft>
                      </a:pPr>
                      <a:r>
                        <a:rPr lang="en-IN" sz="2000" kern="0">
                          <a:effectLst/>
                        </a:rPr>
                        <a:t>Carcass Material</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GREENPLY BWP 710 Grade</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08959524"/>
                  </a:ext>
                </a:extLst>
              </a:tr>
              <a:tr h="343808">
                <a:tc>
                  <a:txBody>
                    <a:bodyPr/>
                    <a:lstStyle/>
                    <a:p>
                      <a:pPr>
                        <a:lnSpc>
                          <a:spcPct val="115000"/>
                        </a:lnSpc>
                        <a:spcAft>
                          <a:spcPts val="0"/>
                        </a:spcAft>
                      </a:pPr>
                      <a:r>
                        <a:rPr lang="en-IN" sz="2000" kern="0">
                          <a:effectLst/>
                        </a:rPr>
                        <a:t>Shutter Finish</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GLOSSY Finish Laminate (HGL)</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82911278"/>
                  </a:ext>
                </a:extLst>
              </a:tr>
              <a:tr h="343808">
                <a:tc>
                  <a:txBody>
                    <a:bodyPr/>
                    <a:lstStyle/>
                    <a:p>
                      <a:pPr>
                        <a:lnSpc>
                          <a:spcPct val="115000"/>
                        </a:lnSpc>
                        <a:spcAft>
                          <a:spcPts val="0"/>
                        </a:spcAft>
                      </a:pPr>
                      <a:r>
                        <a:rPr lang="en-IN" sz="2000" kern="0">
                          <a:effectLst/>
                        </a:rPr>
                        <a:t>Shutter Material</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High Density High Moisture Resistant Boards (HDHMR)</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6330245"/>
                  </a:ext>
                </a:extLst>
              </a:tr>
              <a:tr h="343808">
                <a:tc>
                  <a:txBody>
                    <a:bodyPr/>
                    <a:lstStyle/>
                    <a:p>
                      <a:pPr>
                        <a:lnSpc>
                          <a:spcPct val="115000"/>
                        </a:lnSpc>
                        <a:spcAft>
                          <a:spcPts val="0"/>
                        </a:spcAft>
                      </a:pPr>
                      <a:r>
                        <a:rPr lang="en-IN" sz="2000" kern="0" dirty="0">
                          <a:effectLst/>
                        </a:rPr>
                        <a:t>Primary Hinges</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EBCO (12 kg)</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77851574"/>
                  </a:ext>
                </a:extLst>
              </a:tr>
              <a:tr h="343808">
                <a:tc>
                  <a:txBody>
                    <a:bodyPr/>
                    <a:lstStyle/>
                    <a:p>
                      <a:pPr>
                        <a:lnSpc>
                          <a:spcPct val="115000"/>
                        </a:lnSpc>
                        <a:spcAft>
                          <a:spcPts val="0"/>
                        </a:spcAft>
                      </a:pPr>
                      <a:r>
                        <a:rPr lang="en-IN" sz="2000" kern="0">
                          <a:effectLst/>
                        </a:rPr>
                        <a:t>Hanger-rods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Multi Profile Hanger HD Rods - EBCO</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7800559"/>
                  </a:ext>
                </a:extLst>
              </a:tr>
              <a:tr h="343808">
                <a:tc>
                  <a:txBody>
                    <a:bodyPr/>
                    <a:lstStyle/>
                    <a:p>
                      <a:pPr>
                        <a:lnSpc>
                          <a:spcPct val="115000"/>
                        </a:lnSpc>
                        <a:spcAft>
                          <a:spcPts val="0"/>
                        </a:spcAft>
                      </a:pPr>
                      <a:r>
                        <a:rPr lang="en-IN" sz="2000" kern="0">
                          <a:effectLst/>
                        </a:rPr>
                        <a:t>Wardrobe Locks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Dual Switch EBCO</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8519051"/>
                  </a:ext>
                </a:extLst>
              </a:tr>
              <a:tr h="343808">
                <a:tc>
                  <a:txBody>
                    <a:bodyPr/>
                    <a:lstStyle/>
                    <a:p>
                      <a:pPr>
                        <a:lnSpc>
                          <a:spcPct val="115000"/>
                        </a:lnSpc>
                        <a:spcAft>
                          <a:spcPts val="0"/>
                        </a:spcAft>
                      </a:pPr>
                      <a:r>
                        <a:rPr lang="en-IN" sz="2000" kern="0">
                          <a:effectLst/>
                        </a:rPr>
                        <a:t>Leg &amp; Wall Bracket</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ABS / Adjustable</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70318500"/>
                  </a:ext>
                </a:extLst>
              </a:tr>
              <a:tr h="343808">
                <a:tc>
                  <a:txBody>
                    <a:bodyPr/>
                    <a:lstStyle/>
                    <a:p>
                      <a:pPr>
                        <a:lnSpc>
                          <a:spcPct val="115000"/>
                        </a:lnSpc>
                        <a:spcAft>
                          <a:spcPts val="0"/>
                        </a:spcAft>
                      </a:pPr>
                      <a:r>
                        <a:rPr lang="en-IN" sz="2000" kern="0" dirty="0">
                          <a:effectLst/>
                        </a:rPr>
                        <a:t>Sliding Track</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CNR Brand with Two Way sliding system</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01916119"/>
                  </a:ext>
                </a:extLst>
              </a:tr>
              <a:tr h="343808">
                <a:tc>
                  <a:txBody>
                    <a:bodyPr/>
                    <a:lstStyle/>
                    <a:p>
                      <a:pPr>
                        <a:lnSpc>
                          <a:spcPct val="115000"/>
                        </a:lnSpc>
                        <a:spcAft>
                          <a:spcPts val="0"/>
                        </a:spcAft>
                      </a:pPr>
                      <a:r>
                        <a:rPr lang="en-IN" sz="2000" kern="0">
                          <a:effectLst/>
                        </a:rPr>
                        <a:t>Lift Up Piston</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BLUM / HETTICH 15 Kgs Load</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66082637"/>
                  </a:ext>
                </a:extLst>
              </a:tr>
              <a:tr h="343808">
                <a:tc>
                  <a:txBody>
                    <a:bodyPr/>
                    <a:lstStyle/>
                    <a:p>
                      <a:pPr>
                        <a:lnSpc>
                          <a:spcPct val="115000"/>
                        </a:lnSpc>
                        <a:spcAft>
                          <a:spcPts val="0"/>
                        </a:spcAft>
                      </a:pPr>
                      <a:r>
                        <a:rPr lang="en-IN" sz="2000" kern="0">
                          <a:effectLst/>
                        </a:rPr>
                        <a:t>Screws &amp; Clamps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HP Screws / Self threading Type</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51331113"/>
                  </a:ext>
                </a:extLst>
              </a:tr>
              <a:tr h="343808">
                <a:tc>
                  <a:txBody>
                    <a:bodyPr/>
                    <a:lstStyle/>
                    <a:p>
                      <a:pPr>
                        <a:lnSpc>
                          <a:spcPct val="115000"/>
                        </a:lnSpc>
                        <a:spcAft>
                          <a:spcPts val="0"/>
                        </a:spcAft>
                      </a:pPr>
                      <a:r>
                        <a:rPr lang="en-IN" sz="2000" kern="0">
                          <a:effectLst/>
                        </a:rPr>
                        <a:t>Skirting</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Matching Shutter Finish Skirting</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44855551"/>
                  </a:ext>
                </a:extLst>
              </a:tr>
              <a:tr h="343808">
                <a:tc>
                  <a:txBody>
                    <a:bodyPr/>
                    <a:lstStyle/>
                    <a:p>
                      <a:pPr>
                        <a:lnSpc>
                          <a:spcPct val="115000"/>
                        </a:lnSpc>
                        <a:spcAft>
                          <a:spcPts val="0"/>
                        </a:spcAft>
                      </a:pPr>
                      <a:r>
                        <a:rPr lang="en-IN" sz="2000" kern="0">
                          <a:effectLst/>
                        </a:rPr>
                        <a:t>Mirrors &amp; Glass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4mm Saint </a:t>
                      </a:r>
                      <a:r>
                        <a:rPr lang="en-IN" sz="2000" kern="0" dirty="0" err="1">
                          <a:effectLst/>
                        </a:rPr>
                        <a:t>Gobain</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0846321"/>
                  </a:ext>
                </a:extLst>
              </a:tr>
              <a:tr h="343808">
                <a:tc>
                  <a:txBody>
                    <a:bodyPr/>
                    <a:lstStyle/>
                    <a:p>
                      <a:pPr>
                        <a:lnSpc>
                          <a:spcPct val="115000"/>
                        </a:lnSpc>
                        <a:spcAft>
                          <a:spcPts val="0"/>
                        </a:spcAft>
                      </a:pPr>
                      <a:r>
                        <a:rPr lang="en-IN" sz="2000" kern="0">
                          <a:effectLst/>
                        </a:rPr>
                        <a:t>Installation Process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Self-Drilling Screws with Screw caps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1041372"/>
                  </a:ext>
                </a:extLst>
              </a:tr>
              <a:tr h="631672">
                <a:tc>
                  <a:txBody>
                    <a:bodyPr/>
                    <a:lstStyle/>
                    <a:p>
                      <a:pPr>
                        <a:lnSpc>
                          <a:spcPct val="115000"/>
                        </a:lnSpc>
                        <a:spcAft>
                          <a:spcPts val="0"/>
                        </a:spcAft>
                      </a:pPr>
                      <a:r>
                        <a:rPr lang="en-IN" sz="2000" kern="0">
                          <a:effectLst/>
                        </a:rPr>
                        <a:t>Installation Duration</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4 Weeks (may increase if the scope includes Civil, Electrical work)</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587937"/>
                  </a:ext>
                </a:extLst>
              </a:tr>
              <a:tr h="343808">
                <a:tc>
                  <a:txBody>
                    <a:bodyPr/>
                    <a:lstStyle/>
                    <a:p>
                      <a:pPr>
                        <a:lnSpc>
                          <a:spcPct val="115000"/>
                        </a:lnSpc>
                        <a:spcAft>
                          <a:spcPts val="0"/>
                        </a:spcAft>
                      </a:pPr>
                      <a:r>
                        <a:rPr lang="en-IN" sz="2000" kern="0">
                          <a:effectLst/>
                        </a:rPr>
                        <a:t>Inclusive in Cost</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Installation and Transportation</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43588788"/>
                  </a:ext>
                </a:extLst>
              </a:tr>
              <a:tr h="343808">
                <a:tc>
                  <a:txBody>
                    <a:bodyPr/>
                    <a:lstStyle/>
                    <a:p>
                      <a:pPr>
                        <a:lnSpc>
                          <a:spcPct val="115000"/>
                        </a:lnSpc>
                        <a:spcAft>
                          <a:spcPts val="0"/>
                        </a:spcAft>
                      </a:pPr>
                      <a:r>
                        <a:rPr lang="en-IN" sz="2000" kern="0">
                          <a:effectLst/>
                        </a:rPr>
                        <a:t>Taxes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Prices Excludes GST</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93819193"/>
                  </a:ext>
                </a:extLst>
              </a:tr>
              <a:tr h="631672">
                <a:tc>
                  <a:txBody>
                    <a:bodyPr/>
                    <a:lstStyle/>
                    <a:p>
                      <a:pPr>
                        <a:lnSpc>
                          <a:spcPct val="115000"/>
                        </a:lnSpc>
                        <a:spcAft>
                          <a:spcPts val="0"/>
                        </a:spcAft>
                      </a:pPr>
                      <a:r>
                        <a:rPr lang="en-IN" sz="2000" kern="0">
                          <a:effectLst/>
                        </a:rPr>
                        <a:t>Laminate Pasting Process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Machine Pressed Lamination</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84149060"/>
                  </a:ext>
                </a:extLst>
              </a:tr>
              <a:tr h="631672">
                <a:tc>
                  <a:txBody>
                    <a:bodyPr/>
                    <a:lstStyle/>
                    <a:p>
                      <a:pPr>
                        <a:lnSpc>
                          <a:spcPct val="115000"/>
                        </a:lnSpc>
                        <a:spcAft>
                          <a:spcPts val="0"/>
                        </a:spcAft>
                      </a:pPr>
                      <a:r>
                        <a:rPr lang="en-IN" sz="2000" kern="0">
                          <a:effectLst/>
                        </a:rPr>
                        <a:t>Throughfeed Edge Banding</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Hot melt Glue Machine Edge Banding</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1016607"/>
                  </a:ext>
                </a:extLst>
              </a:tr>
              <a:tr h="343808">
                <a:tc>
                  <a:txBody>
                    <a:bodyPr/>
                    <a:lstStyle/>
                    <a:p>
                      <a:pPr>
                        <a:lnSpc>
                          <a:spcPct val="115000"/>
                        </a:lnSpc>
                        <a:spcAft>
                          <a:spcPts val="0"/>
                        </a:spcAft>
                      </a:pPr>
                      <a:r>
                        <a:rPr lang="en-IN" sz="2000" kern="0">
                          <a:effectLst/>
                        </a:rPr>
                        <a:t>Edge Banding</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Regular PVC Edge Banding</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28251194"/>
                  </a:ext>
                </a:extLst>
              </a:tr>
              <a:tr h="343808">
                <a:tc>
                  <a:txBody>
                    <a:bodyPr/>
                    <a:lstStyle/>
                    <a:p>
                      <a:pPr>
                        <a:lnSpc>
                          <a:spcPct val="115000"/>
                        </a:lnSpc>
                        <a:spcAft>
                          <a:spcPts val="0"/>
                        </a:spcAft>
                      </a:pPr>
                      <a:r>
                        <a:rPr lang="en-IN" sz="2000" kern="0">
                          <a:effectLst/>
                        </a:rPr>
                        <a:t>Adhesives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err="1">
                          <a:effectLst/>
                        </a:rPr>
                        <a:t>FevicolSR</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60928865"/>
                  </a:ext>
                </a:extLst>
              </a:tr>
              <a:tr h="343808">
                <a:tc>
                  <a:txBody>
                    <a:bodyPr/>
                    <a:lstStyle/>
                    <a:p>
                      <a:pPr>
                        <a:lnSpc>
                          <a:spcPct val="115000"/>
                        </a:lnSpc>
                        <a:spcAft>
                          <a:spcPts val="0"/>
                        </a:spcAft>
                      </a:pPr>
                      <a:r>
                        <a:rPr lang="en-IN" sz="2000" kern="0">
                          <a:effectLst/>
                        </a:rPr>
                        <a:t>HOT MELT Adhesive</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err="1">
                          <a:effectLst/>
                        </a:rPr>
                        <a:t>Pidilite</a:t>
                      </a:r>
                      <a:r>
                        <a:rPr lang="en-IN" sz="2000" kern="0" dirty="0">
                          <a:effectLst/>
                        </a:rPr>
                        <a:t> / SR</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6689380"/>
                  </a:ext>
                </a:extLst>
              </a:tr>
              <a:tr h="631672">
                <a:tc>
                  <a:txBody>
                    <a:bodyPr/>
                    <a:lstStyle/>
                    <a:p>
                      <a:pPr>
                        <a:lnSpc>
                          <a:spcPct val="115000"/>
                        </a:lnSpc>
                        <a:spcAft>
                          <a:spcPts val="0"/>
                        </a:spcAft>
                      </a:pPr>
                      <a:r>
                        <a:rPr lang="en-IN" sz="2000" kern="0" dirty="0">
                          <a:effectLst/>
                        </a:rPr>
                        <a:t>Customization</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Available for Inner Partition is available at an additional cost</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20475692"/>
                  </a:ext>
                </a:extLst>
              </a:tr>
              <a:tr h="343808">
                <a:tc>
                  <a:txBody>
                    <a:bodyPr/>
                    <a:lstStyle/>
                    <a:p>
                      <a:pPr>
                        <a:lnSpc>
                          <a:spcPct val="115000"/>
                        </a:lnSpc>
                        <a:spcAft>
                          <a:spcPts val="0"/>
                        </a:spcAft>
                      </a:pPr>
                      <a:r>
                        <a:rPr lang="en-IN" sz="2000" kern="0">
                          <a:effectLst/>
                        </a:rPr>
                        <a:t>Additional Process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39716642"/>
                  </a:ext>
                </a:extLst>
              </a:tr>
              <a:tr h="631672">
                <a:tc>
                  <a:txBody>
                    <a:bodyPr/>
                    <a:lstStyle/>
                    <a:p>
                      <a:pPr>
                        <a:lnSpc>
                          <a:spcPct val="115000"/>
                        </a:lnSpc>
                        <a:spcAft>
                          <a:spcPts val="0"/>
                        </a:spcAft>
                      </a:pPr>
                      <a:r>
                        <a:rPr lang="en-IN" sz="2000" kern="0">
                          <a:effectLst/>
                        </a:rPr>
                        <a:t>Laminate / Facia Brand</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CATCH / New Mica</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64093438"/>
                  </a:ext>
                </a:extLst>
              </a:tr>
              <a:tr h="631672">
                <a:tc>
                  <a:txBody>
                    <a:bodyPr/>
                    <a:lstStyle/>
                    <a:p>
                      <a:pPr>
                        <a:lnSpc>
                          <a:spcPct val="115000"/>
                        </a:lnSpc>
                        <a:spcAft>
                          <a:spcPts val="0"/>
                        </a:spcAft>
                      </a:pPr>
                      <a:r>
                        <a:rPr lang="en-IN" sz="2000" kern="0">
                          <a:effectLst/>
                        </a:rPr>
                        <a:t>Hardwares &amp; Utilities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EBCO (12 kg) / All Regular Hinges only</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52406200"/>
                  </a:ext>
                </a:extLst>
              </a:tr>
              <a:tr h="343808">
                <a:tc>
                  <a:txBody>
                    <a:bodyPr/>
                    <a:lstStyle/>
                    <a:p>
                      <a:pPr>
                        <a:lnSpc>
                          <a:spcPct val="115000"/>
                        </a:lnSpc>
                        <a:spcAft>
                          <a:spcPts val="0"/>
                        </a:spcAft>
                      </a:pPr>
                      <a:r>
                        <a:rPr lang="en-IN" sz="2000" kern="0">
                          <a:effectLst/>
                        </a:rPr>
                        <a:t>Kitchen Accessories</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a:effectLst/>
                        </a:rPr>
                        <a:t>HETTICH / EBCO</a:t>
                      </a:r>
                      <a:endParaRPr lang="en-IN"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24973794"/>
                  </a:ext>
                </a:extLst>
              </a:tr>
              <a:tr h="343808">
                <a:tc>
                  <a:txBody>
                    <a:bodyPr/>
                    <a:lstStyle/>
                    <a:p>
                      <a:pPr>
                        <a:lnSpc>
                          <a:spcPct val="115000"/>
                        </a:lnSpc>
                        <a:spcAft>
                          <a:spcPts val="0"/>
                        </a:spcAft>
                      </a:pPr>
                      <a:r>
                        <a:rPr lang="en-IN" sz="2000" kern="0" dirty="0">
                          <a:effectLst/>
                        </a:rPr>
                        <a:t>Production Timeline</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4 Weeks from Physical Sign Off On The Colour Drawing</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20859089"/>
                  </a:ext>
                </a:extLst>
              </a:tr>
            </a:tbl>
          </a:graphicData>
        </a:graphic>
      </p:graphicFrame>
      <p:sp>
        <p:nvSpPr>
          <p:cNvPr id="5" name="Slide Number Placeholder 4">
            <a:extLst>
              <a:ext uri="{FF2B5EF4-FFF2-40B4-BE49-F238E27FC236}">
                <a16:creationId xmlns:a16="http://schemas.microsoft.com/office/drawing/2014/main" id="{A1B9CCD7-891C-4C6F-A79E-476F22D57BE7}"/>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6" name="Footer Placeholder 5">
            <a:extLst>
              <a:ext uri="{FF2B5EF4-FFF2-40B4-BE49-F238E27FC236}">
                <a16:creationId xmlns:a16="http://schemas.microsoft.com/office/drawing/2014/main" id="{D4617F96-B258-4AA0-95EA-24CB852E3C43}"/>
              </a:ext>
            </a:extLst>
          </p:cNvPr>
          <p:cNvSpPr>
            <a:spLocks noGrp="1"/>
          </p:cNvSpPr>
          <p:nvPr>
            <p:ph type="ftr" sz="quarter" idx="11"/>
          </p:nvPr>
        </p:nvSpPr>
        <p:spPr/>
        <p:txBody>
          <a:bodyPr/>
          <a:lstStyle/>
          <a:p>
            <a:r>
              <a:rPr lang="en-US" dirty="0"/>
              <a:t>Mr. Aravindan | Individual Villa Adyar | 7418414780</a:t>
            </a:r>
          </a:p>
        </p:txBody>
      </p:sp>
    </p:spTree>
    <p:extLst>
      <p:ext uri="{BB962C8B-B14F-4D97-AF65-F5344CB8AC3E}">
        <p14:creationId xmlns:p14="http://schemas.microsoft.com/office/powerpoint/2010/main" val="21083039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C239B3A-3DE5-4F7B-BCAC-73B68942C174}"/>
              </a:ext>
            </a:extLst>
          </p:cNvPr>
          <p:cNvSpPr/>
          <p:nvPr/>
        </p:nvSpPr>
        <p:spPr>
          <a:xfrm>
            <a:off x="3226685" y="1192193"/>
            <a:ext cx="3592329" cy="954107"/>
          </a:xfrm>
          <a:prstGeom prst="rect">
            <a:avLst/>
          </a:prstGeom>
        </p:spPr>
        <p:txBody>
          <a:bodyPr wrap="none">
            <a:spAutoFit/>
          </a:bodyPr>
          <a:lstStyle/>
          <a:p>
            <a:pPr algn="ctr"/>
            <a:r>
              <a:rPr lang="en-IN" sz="2800" dirty="0">
                <a:latin typeface="Baskerville Display PT" panose="020B0604020202020204" charset="0"/>
                <a:ea typeface="Baskerville Display PT" panose="020B0604020202020204" charset="0"/>
              </a:rPr>
              <a:t>CAPRICOST GLOSSY</a:t>
            </a:r>
            <a:br>
              <a:rPr lang="en-IN" sz="2800" dirty="0">
                <a:latin typeface="Baskerville Display PT" panose="020B0604020202020204" charset="0"/>
                <a:ea typeface="Baskerville Display PT" panose="020B0604020202020204" charset="0"/>
              </a:rPr>
            </a:br>
            <a:r>
              <a:rPr lang="en-IN" sz="2800" dirty="0">
                <a:latin typeface="Baskerville Display PT" panose="020B0604020202020204" charset="0"/>
                <a:ea typeface="Baskerville Display PT" panose="020B0604020202020204" charset="0"/>
              </a:rPr>
              <a:t>Quotation</a:t>
            </a:r>
          </a:p>
        </p:txBody>
      </p:sp>
      <p:sp>
        <p:nvSpPr>
          <p:cNvPr id="4" name="Slide Number Placeholder 3">
            <a:extLst>
              <a:ext uri="{FF2B5EF4-FFF2-40B4-BE49-F238E27FC236}">
                <a16:creationId xmlns:a16="http://schemas.microsoft.com/office/drawing/2014/main" id="{E2E55DA4-F945-4C14-91F6-F796BE016822}"/>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5" name="Footer Placeholder 4">
            <a:extLst>
              <a:ext uri="{FF2B5EF4-FFF2-40B4-BE49-F238E27FC236}">
                <a16:creationId xmlns:a16="http://schemas.microsoft.com/office/drawing/2014/main" id="{E10FF07D-1627-4221-A87F-C8B247979092}"/>
              </a:ext>
            </a:extLst>
          </p:cNvPr>
          <p:cNvSpPr>
            <a:spLocks noGrp="1"/>
          </p:cNvSpPr>
          <p:nvPr>
            <p:ph type="ftr" sz="quarter" idx="11"/>
          </p:nvPr>
        </p:nvSpPr>
        <p:spPr/>
        <p:txBody>
          <a:bodyPr/>
          <a:lstStyle/>
          <a:p>
            <a:r>
              <a:rPr lang="en-US"/>
              <a:t>Mr. Aravindan | Individual Villa Adyar | 7418414780</a:t>
            </a:r>
          </a:p>
        </p:txBody>
      </p:sp>
    </p:spTree>
    <p:extLst>
      <p:ext uri="{BB962C8B-B14F-4D97-AF65-F5344CB8AC3E}">
        <p14:creationId xmlns:p14="http://schemas.microsoft.com/office/powerpoint/2010/main" val="16763213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11A1A99-1907-41EB-99B1-0B05EAD316C4}"/>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2" name="Footer Placeholder 1">
            <a:extLst>
              <a:ext uri="{FF2B5EF4-FFF2-40B4-BE49-F238E27FC236}">
                <a16:creationId xmlns:a16="http://schemas.microsoft.com/office/drawing/2014/main" id="{26160003-0DA1-4E7C-820D-D612E3B0FF8F}"/>
              </a:ext>
            </a:extLst>
          </p:cNvPr>
          <p:cNvSpPr>
            <a:spLocks noGrp="1"/>
          </p:cNvSpPr>
          <p:nvPr>
            <p:ph type="ftr" sz="quarter" idx="11"/>
          </p:nvPr>
        </p:nvSpPr>
        <p:spPr/>
        <p:txBody>
          <a:bodyPr/>
          <a:lstStyle/>
          <a:p>
            <a:r>
              <a:rPr lang="en-US"/>
              <a:t>Mr. Aravindan | Individual Villa Adyar | 7418414780</a:t>
            </a:r>
          </a:p>
        </p:txBody>
      </p:sp>
      <p:pic>
        <p:nvPicPr>
          <p:cNvPr id="4" name="Picture 3">
            <a:extLst>
              <a:ext uri="{FF2B5EF4-FFF2-40B4-BE49-F238E27FC236}">
                <a16:creationId xmlns:a16="http://schemas.microsoft.com/office/drawing/2014/main" id="{7464EC2D-D8CA-45EF-9FA2-3F4002E649E7}"/>
              </a:ext>
            </a:extLst>
          </p:cNvPr>
          <p:cNvPicPr>
            <a:picLocks noChangeAspect="1"/>
          </p:cNvPicPr>
          <p:nvPr/>
        </p:nvPicPr>
        <p:blipFill>
          <a:blip r:embed="rId2"/>
          <a:stretch>
            <a:fillRect/>
          </a:stretch>
        </p:blipFill>
        <p:spPr>
          <a:xfrm>
            <a:off x="0" y="656"/>
            <a:ext cx="10045700" cy="14197288"/>
          </a:xfrm>
          <a:prstGeom prst="rect">
            <a:avLst/>
          </a:prstGeom>
        </p:spPr>
      </p:pic>
      <p:pic>
        <p:nvPicPr>
          <p:cNvPr id="8" name="Picture 7">
            <a:extLst>
              <a:ext uri="{FF2B5EF4-FFF2-40B4-BE49-F238E27FC236}">
                <a16:creationId xmlns:a16="http://schemas.microsoft.com/office/drawing/2014/main" id="{427E4BC3-2633-4DC8-B4AC-85BC8CEFA84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4650" y="260350"/>
            <a:ext cx="3962400" cy="742950"/>
          </a:xfrm>
          <a:prstGeom prst="rect">
            <a:avLst/>
          </a:prstGeom>
        </p:spPr>
      </p:pic>
      <p:pic>
        <p:nvPicPr>
          <p:cNvPr id="9" name="Picture 8">
            <a:extLst>
              <a:ext uri="{FF2B5EF4-FFF2-40B4-BE49-F238E27FC236}">
                <a16:creationId xmlns:a16="http://schemas.microsoft.com/office/drawing/2014/main" id="{9F3D6A6A-EBBC-4472-BB95-72C236793775}"/>
              </a:ext>
            </a:extLst>
          </p:cNvPr>
          <p:cNvPicPr>
            <a:picLocks noChangeAspect="1"/>
          </p:cNvPicPr>
          <p:nvPr/>
        </p:nvPicPr>
        <p:blipFill rotWithShape="1">
          <a:blip r:embed="rId4"/>
          <a:srcRect l="28761" t="7558" r="34830" b="91324"/>
          <a:stretch/>
        </p:blipFill>
        <p:spPr>
          <a:xfrm>
            <a:off x="527050" y="996950"/>
            <a:ext cx="3657600" cy="158750"/>
          </a:xfrm>
          <a:prstGeom prst="rect">
            <a:avLst/>
          </a:prstGeom>
        </p:spPr>
      </p:pic>
    </p:spTree>
    <p:extLst>
      <p:ext uri="{BB962C8B-B14F-4D97-AF65-F5344CB8AC3E}">
        <p14:creationId xmlns:p14="http://schemas.microsoft.com/office/powerpoint/2010/main" val="4102199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C239B3A-3DE5-4F7B-BCAC-73B68942C174}"/>
              </a:ext>
            </a:extLst>
          </p:cNvPr>
          <p:cNvSpPr/>
          <p:nvPr/>
        </p:nvSpPr>
        <p:spPr>
          <a:xfrm>
            <a:off x="3324500" y="1165880"/>
            <a:ext cx="3396699" cy="523220"/>
          </a:xfrm>
          <a:prstGeom prst="rect">
            <a:avLst/>
          </a:prstGeom>
        </p:spPr>
        <p:txBody>
          <a:bodyPr wrap="none">
            <a:spAutoFit/>
          </a:bodyPr>
          <a:lstStyle/>
          <a:p>
            <a:pPr algn="ctr"/>
            <a:r>
              <a:rPr lang="en-IN" sz="2800" dirty="0">
                <a:latin typeface="Baskerville Display PT" panose="020B0604020202020204" charset="0"/>
                <a:ea typeface="Baskerville Display PT" panose="020B0604020202020204" charset="0"/>
              </a:rPr>
              <a:t>ELEGANT SURABHI</a:t>
            </a:r>
          </a:p>
        </p:txBody>
      </p:sp>
      <p:graphicFrame>
        <p:nvGraphicFramePr>
          <p:cNvPr id="4" name="Table 3">
            <a:extLst>
              <a:ext uri="{FF2B5EF4-FFF2-40B4-BE49-F238E27FC236}">
                <a16:creationId xmlns:a16="http://schemas.microsoft.com/office/drawing/2014/main" id="{DC1F93DE-B8EB-4B9A-880B-43D6907CF560}"/>
              </a:ext>
            </a:extLst>
          </p:cNvPr>
          <p:cNvGraphicFramePr>
            <a:graphicFrameLocks noGrp="1"/>
          </p:cNvGraphicFramePr>
          <p:nvPr>
            <p:extLst>
              <p:ext uri="{D42A27DB-BD31-4B8C-83A1-F6EECF244321}">
                <p14:modId xmlns:p14="http://schemas.microsoft.com/office/powerpoint/2010/main" val="3150778710"/>
              </p:ext>
            </p:extLst>
          </p:nvPr>
        </p:nvGraphicFramePr>
        <p:xfrm>
          <a:off x="755650" y="1612901"/>
          <a:ext cx="8534400" cy="11764927"/>
        </p:xfrm>
        <a:graphic>
          <a:graphicData uri="http://schemas.openxmlformats.org/drawingml/2006/table">
            <a:tbl>
              <a:tblPr firstRow="1" firstCol="1" bandRow="1">
                <a:tableStyleId>{D27102A9-8310-4765-A935-A1911B00CA55}</a:tableStyleId>
              </a:tblPr>
              <a:tblGrid>
                <a:gridCol w="2431370">
                  <a:extLst>
                    <a:ext uri="{9D8B030D-6E8A-4147-A177-3AD203B41FA5}">
                      <a16:colId xmlns:a16="http://schemas.microsoft.com/office/drawing/2014/main" val="864013631"/>
                    </a:ext>
                  </a:extLst>
                </a:gridCol>
                <a:gridCol w="6103030">
                  <a:extLst>
                    <a:ext uri="{9D8B030D-6E8A-4147-A177-3AD203B41FA5}">
                      <a16:colId xmlns:a16="http://schemas.microsoft.com/office/drawing/2014/main" val="2255826268"/>
                    </a:ext>
                  </a:extLst>
                </a:gridCol>
              </a:tblGrid>
              <a:tr h="285268">
                <a:tc>
                  <a:txBody>
                    <a:bodyPr/>
                    <a:lstStyle/>
                    <a:p>
                      <a:pPr algn="ctr">
                        <a:lnSpc>
                          <a:spcPct val="115000"/>
                        </a:lnSpc>
                        <a:spcAft>
                          <a:spcPts val="0"/>
                        </a:spcAft>
                      </a:pPr>
                      <a:r>
                        <a:rPr lang="en-IN" sz="1800" kern="0">
                          <a:effectLst/>
                        </a:rPr>
                        <a:t>Specification</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kern="0">
                          <a:effectLst/>
                        </a:rPr>
                        <a:t>Details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47490633"/>
                  </a:ext>
                </a:extLst>
              </a:tr>
              <a:tr h="285268">
                <a:tc>
                  <a:txBody>
                    <a:bodyPr/>
                    <a:lstStyle/>
                    <a:p>
                      <a:pPr>
                        <a:lnSpc>
                          <a:spcPct val="115000"/>
                        </a:lnSpc>
                        <a:spcAft>
                          <a:spcPts val="0"/>
                        </a:spcAft>
                      </a:pPr>
                      <a:r>
                        <a:rPr lang="en-IN" sz="1800" kern="0">
                          <a:effectLst/>
                        </a:rPr>
                        <a:t>Carcass Material</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GREENPLY BWP 710 Grade with both side Laminate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08959524"/>
                  </a:ext>
                </a:extLst>
              </a:tr>
              <a:tr h="285268">
                <a:tc>
                  <a:txBody>
                    <a:bodyPr/>
                    <a:lstStyle/>
                    <a:p>
                      <a:pPr>
                        <a:lnSpc>
                          <a:spcPct val="115000"/>
                        </a:lnSpc>
                        <a:spcAft>
                          <a:spcPts val="0"/>
                        </a:spcAft>
                      </a:pPr>
                      <a:r>
                        <a:rPr lang="en-IN" sz="1800" kern="0">
                          <a:effectLst/>
                        </a:rPr>
                        <a:t>Shutter Finish</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dirty="0">
                          <a:effectLst/>
                        </a:rPr>
                        <a:t>SUPER Matte Finish Laminate – 1mm (Branded)</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82911278"/>
                  </a:ext>
                </a:extLst>
              </a:tr>
              <a:tr h="285268">
                <a:tc>
                  <a:txBody>
                    <a:bodyPr/>
                    <a:lstStyle/>
                    <a:p>
                      <a:pPr>
                        <a:lnSpc>
                          <a:spcPct val="115000"/>
                        </a:lnSpc>
                        <a:spcAft>
                          <a:spcPts val="0"/>
                        </a:spcAft>
                      </a:pPr>
                      <a:r>
                        <a:rPr lang="en-IN" sz="1800" kern="0">
                          <a:effectLst/>
                        </a:rPr>
                        <a:t>Shutter Material</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BWP 710 Grade GURJAN Ply / GREENPLY HDHMR</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6330245"/>
                  </a:ext>
                </a:extLst>
              </a:tr>
              <a:tr h="285268">
                <a:tc>
                  <a:txBody>
                    <a:bodyPr/>
                    <a:lstStyle/>
                    <a:p>
                      <a:pPr>
                        <a:lnSpc>
                          <a:spcPct val="115000"/>
                        </a:lnSpc>
                        <a:spcAft>
                          <a:spcPts val="0"/>
                        </a:spcAft>
                      </a:pPr>
                      <a:r>
                        <a:rPr lang="en-IN" sz="1800" kern="0" dirty="0">
                          <a:effectLst/>
                        </a:rPr>
                        <a:t>Primary Hinges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dirty="0">
                          <a:effectLst/>
                        </a:rPr>
                        <a:t>HETTICH | EBCO (12 kg)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77851574"/>
                  </a:ext>
                </a:extLst>
              </a:tr>
              <a:tr h="285268">
                <a:tc>
                  <a:txBody>
                    <a:bodyPr/>
                    <a:lstStyle/>
                    <a:p>
                      <a:pPr>
                        <a:lnSpc>
                          <a:spcPct val="115000"/>
                        </a:lnSpc>
                        <a:spcAft>
                          <a:spcPts val="0"/>
                        </a:spcAft>
                      </a:pPr>
                      <a:r>
                        <a:rPr lang="en-IN" sz="1800" kern="0">
                          <a:effectLst/>
                        </a:rPr>
                        <a:t>Hanger-rods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Multi Profile Hanger HD Rods - EBCO</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7800559"/>
                  </a:ext>
                </a:extLst>
              </a:tr>
              <a:tr h="285268">
                <a:tc>
                  <a:txBody>
                    <a:bodyPr/>
                    <a:lstStyle/>
                    <a:p>
                      <a:pPr>
                        <a:lnSpc>
                          <a:spcPct val="115000"/>
                        </a:lnSpc>
                        <a:spcAft>
                          <a:spcPts val="0"/>
                        </a:spcAft>
                      </a:pPr>
                      <a:r>
                        <a:rPr lang="en-IN" sz="1800" kern="0">
                          <a:effectLst/>
                        </a:rPr>
                        <a:t>Wardrobe Locks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Dual Switch EBCO</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8519051"/>
                  </a:ext>
                </a:extLst>
              </a:tr>
              <a:tr h="285268">
                <a:tc>
                  <a:txBody>
                    <a:bodyPr/>
                    <a:lstStyle/>
                    <a:p>
                      <a:pPr>
                        <a:lnSpc>
                          <a:spcPct val="115000"/>
                        </a:lnSpc>
                        <a:spcAft>
                          <a:spcPts val="0"/>
                        </a:spcAft>
                      </a:pPr>
                      <a:r>
                        <a:rPr lang="en-IN" sz="1800" kern="0">
                          <a:effectLst/>
                        </a:rPr>
                        <a:t>Leg &amp; Wall Bracket</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ABS / Adjustable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70318500"/>
                  </a:ext>
                </a:extLst>
              </a:tr>
              <a:tr h="285268">
                <a:tc>
                  <a:txBody>
                    <a:bodyPr/>
                    <a:lstStyle/>
                    <a:p>
                      <a:pPr>
                        <a:lnSpc>
                          <a:spcPct val="115000"/>
                        </a:lnSpc>
                        <a:spcAft>
                          <a:spcPts val="0"/>
                        </a:spcAft>
                      </a:pPr>
                      <a:r>
                        <a:rPr lang="en-IN" sz="1800" kern="0">
                          <a:effectLst/>
                        </a:rPr>
                        <a:t>Sliding Track</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CNR Brand with Two-Way slide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01916119"/>
                  </a:ext>
                </a:extLst>
              </a:tr>
              <a:tr h="285268">
                <a:tc>
                  <a:txBody>
                    <a:bodyPr/>
                    <a:lstStyle/>
                    <a:p>
                      <a:pPr>
                        <a:lnSpc>
                          <a:spcPct val="115000"/>
                        </a:lnSpc>
                        <a:spcAft>
                          <a:spcPts val="0"/>
                        </a:spcAft>
                      </a:pPr>
                      <a:r>
                        <a:rPr lang="en-IN" sz="1800" kern="0">
                          <a:effectLst/>
                        </a:rPr>
                        <a:t>Lift Up Piston</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BLUM / HETTICH 15 Kgs Load</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66082637"/>
                  </a:ext>
                </a:extLst>
              </a:tr>
              <a:tr h="285268">
                <a:tc>
                  <a:txBody>
                    <a:bodyPr/>
                    <a:lstStyle/>
                    <a:p>
                      <a:pPr>
                        <a:lnSpc>
                          <a:spcPct val="115000"/>
                        </a:lnSpc>
                        <a:spcAft>
                          <a:spcPts val="0"/>
                        </a:spcAft>
                      </a:pPr>
                      <a:r>
                        <a:rPr lang="en-IN" sz="1800" kern="0">
                          <a:effectLst/>
                        </a:rPr>
                        <a:t>Screws &amp; Clamps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HP Screws / Self threading Type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51331113"/>
                  </a:ext>
                </a:extLst>
              </a:tr>
              <a:tr h="285268">
                <a:tc>
                  <a:txBody>
                    <a:bodyPr/>
                    <a:lstStyle/>
                    <a:p>
                      <a:pPr>
                        <a:lnSpc>
                          <a:spcPct val="115000"/>
                        </a:lnSpc>
                        <a:spcAft>
                          <a:spcPts val="0"/>
                        </a:spcAft>
                      </a:pPr>
                      <a:r>
                        <a:rPr lang="en-IN" sz="1800" kern="0">
                          <a:effectLst/>
                        </a:rPr>
                        <a:t>Skirting</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Matching Shutter Finish Skirting</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44855551"/>
                  </a:ext>
                </a:extLst>
              </a:tr>
              <a:tr h="285268">
                <a:tc>
                  <a:txBody>
                    <a:bodyPr/>
                    <a:lstStyle/>
                    <a:p>
                      <a:pPr>
                        <a:lnSpc>
                          <a:spcPct val="115000"/>
                        </a:lnSpc>
                        <a:spcAft>
                          <a:spcPts val="0"/>
                        </a:spcAft>
                      </a:pPr>
                      <a:r>
                        <a:rPr lang="en-IN" sz="1800" kern="0">
                          <a:effectLst/>
                        </a:rPr>
                        <a:t>Mirrors &amp; Glass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4mm Saint Gobain</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0846321"/>
                  </a:ext>
                </a:extLst>
              </a:tr>
              <a:tr h="285268">
                <a:tc>
                  <a:txBody>
                    <a:bodyPr/>
                    <a:lstStyle/>
                    <a:p>
                      <a:pPr>
                        <a:lnSpc>
                          <a:spcPct val="115000"/>
                        </a:lnSpc>
                        <a:spcAft>
                          <a:spcPts val="0"/>
                        </a:spcAft>
                      </a:pPr>
                      <a:r>
                        <a:rPr lang="en-IN" sz="1800" kern="0">
                          <a:effectLst/>
                        </a:rPr>
                        <a:t>Installation Process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dirty="0">
                          <a:effectLst/>
                        </a:rPr>
                        <a:t>Self-Drilling Screws with Screw caps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1041372"/>
                  </a:ext>
                </a:extLst>
              </a:tr>
              <a:tr h="588351">
                <a:tc>
                  <a:txBody>
                    <a:bodyPr/>
                    <a:lstStyle/>
                    <a:p>
                      <a:pPr>
                        <a:lnSpc>
                          <a:spcPct val="115000"/>
                        </a:lnSpc>
                        <a:spcAft>
                          <a:spcPts val="0"/>
                        </a:spcAft>
                      </a:pPr>
                      <a:r>
                        <a:rPr lang="en-IN" sz="1800" kern="0">
                          <a:effectLst/>
                        </a:rPr>
                        <a:t>Installation Duration</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dirty="0">
                          <a:effectLst/>
                        </a:rPr>
                        <a:t>4 Weeks (may increase if the scope includes Civil, Electrical work)</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587937"/>
                  </a:ext>
                </a:extLst>
              </a:tr>
              <a:tr h="475659">
                <a:tc>
                  <a:txBody>
                    <a:bodyPr/>
                    <a:lstStyle/>
                    <a:p>
                      <a:pPr>
                        <a:lnSpc>
                          <a:spcPct val="115000"/>
                        </a:lnSpc>
                        <a:spcAft>
                          <a:spcPts val="0"/>
                        </a:spcAft>
                      </a:pPr>
                      <a:r>
                        <a:rPr lang="en-IN" sz="1800" kern="0" dirty="0">
                          <a:effectLst/>
                        </a:rPr>
                        <a:t>Inclusive in Cost</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Installation, Transportation includes Packing &amp; Unloading</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43588788"/>
                  </a:ext>
                </a:extLst>
              </a:tr>
              <a:tr h="285268">
                <a:tc>
                  <a:txBody>
                    <a:bodyPr/>
                    <a:lstStyle/>
                    <a:p>
                      <a:pPr>
                        <a:lnSpc>
                          <a:spcPct val="115000"/>
                        </a:lnSpc>
                        <a:spcAft>
                          <a:spcPts val="0"/>
                        </a:spcAft>
                      </a:pPr>
                      <a:r>
                        <a:rPr lang="en-IN" sz="1800" kern="0">
                          <a:effectLst/>
                        </a:rPr>
                        <a:t>Taxes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dirty="0">
                          <a:effectLst/>
                        </a:rPr>
                        <a:t>Prices Excludes GST</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93819193"/>
                  </a:ext>
                </a:extLst>
              </a:tr>
              <a:tr h="588351">
                <a:tc>
                  <a:txBody>
                    <a:bodyPr/>
                    <a:lstStyle/>
                    <a:p>
                      <a:pPr>
                        <a:lnSpc>
                          <a:spcPct val="115000"/>
                        </a:lnSpc>
                        <a:spcAft>
                          <a:spcPts val="0"/>
                        </a:spcAft>
                      </a:pPr>
                      <a:r>
                        <a:rPr lang="en-IN" sz="1800" kern="0">
                          <a:effectLst/>
                        </a:rPr>
                        <a:t>Laminate Pasting Process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Machine Pressed Lamination</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84149060"/>
                  </a:ext>
                </a:extLst>
              </a:tr>
              <a:tr h="588351">
                <a:tc>
                  <a:txBody>
                    <a:bodyPr/>
                    <a:lstStyle/>
                    <a:p>
                      <a:pPr>
                        <a:lnSpc>
                          <a:spcPct val="115000"/>
                        </a:lnSpc>
                        <a:spcAft>
                          <a:spcPts val="0"/>
                        </a:spcAft>
                      </a:pPr>
                      <a:r>
                        <a:rPr lang="en-IN" sz="1800" kern="0">
                          <a:effectLst/>
                        </a:rPr>
                        <a:t>Through feed Edge Banding</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Hot melt Glue Machine Edge Banding </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1016607"/>
                  </a:ext>
                </a:extLst>
              </a:tr>
              <a:tr h="285268">
                <a:tc>
                  <a:txBody>
                    <a:bodyPr/>
                    <a:lstStyle/>
                    <a:p>
                      <a:pPr>
                        <a:lnSpc>
                          <a:spcPct val="115000"/>
                        </a:lnSpc>
                        <a:spcAft>
                          <a:spcPts val="0"/>
                        </a:spcAft>
                      </a:pPr>
                      <a:r>
                        <a:rPr lang="en-IN" sz="1800" kern="0" dirty="0">
                          <a:effectLst/>
                        </a:rPr>
                        <a:t>Edge Banding</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E3 Brand / PVC / Rehau</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28251194"/>
                  </a:ext>
                </a:extLst>
              </a:tr>
              <a:tr h="285268">
                <a:tc>
                  <a:txBody>
                    <a:bodyPr/>
                    <a:lstStyle/>
                    <a:p>
                      <a:pPr>
                        <a:lnSpc>
                          <a:spcPct val="115000"/>
                        </a:lnSpc>
                        <a:spcAft>
                          <a:spcPts val="0"/>
                        </a:spcAft>
                      </a:pPr>
                      <a:r>
                        <a:rPr lang="en-IN" sz="1800" kern="0">
                          <a:effectLst/>
                        </a:rPr>
                        <a:t>Adhesives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dirty="0">
                          <a:effectLst/>
                        </a:rPr>
                        <a:t>SYNTHETIC ADHESIVE Grade: LK453</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60928865"/>
                  </a:ext>
                </a:extLst>
              </a:tr>
              <a:tr h="475659">
                <a:tc>
                  <a:txBody>
                    <a:bodyPr/>
                    <a:lstStyle/>
                    <a:p>
                      <a:pPr>
                        <a:lnSpc>
                          <a:spcPct val="115000"/>
                        </a:lnSpc>
                        <a:spcAft>
                          <a:spcPts val="0"/>
                        </a:spcAft>
                      </a:pPr>
                      <a:r>
                        <a:rPr lang="en-IN" sz="1800" kern="0">
                          <a:effectLst/>
                        </a:rPr>
                        <a:t>HOT MELT Adhesive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dirty="0">
                          <a:effectLst/>
                        </a:rPr>
                        <a:t>ANABOND - SU2710</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6689380"/>
                  </a:ext>
                </a:extLst>
              </a:tr>
              <a:tr h="588351">
                <a:tc>
                  <a:txBody>
                    <a:bodyPr/>
                    <a:lstStyle/>
                    <a:p>
                      <a:pPr>
                        <a:lnSpc>
                          <a:spcPct val="115000"/>
                        </a:lnSpc>
                        <a:spcAft>
                          <a:spcPts val="0"/>
                        </a:spcAft>
                      </a:pPr>
                      <a:r>
                        <a:rPr lang="en-IN" sz="1800" kern="0">
                          <a:effectLst/>
                        </a:rPr>
                        <a:t>Additional Process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dirty="0">
                          <a:effectLst/>
                        </a:rPr>
                        <a:t>Ext. Grading, Fungus - Resistant Spray Coating, Multi Boring on Ply</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39716642"/>
                  </a:ext>
                </a:extLst>
              </a:tr>
              <a:tr h="653750">
                <a:tc>
                  <a:txBody>
                    <a:bodyPr/>
                    <a:lstStyle/>
                    <a:p>
                      <a:pPr>
                        <a:lnSpc>
                          <a:spcPct val="115000"/>
                        </a:lnSpc>
                        <a:spcAft>
                          <a:spcPts val="0"/>
                        </a:spcAft>
                      </a:pPr>
                      <a:r>
                        <a:rPr lang="en-IN" sz="2000" kern="0" dirty="0">
                          <a:effectLst/>
                        </a:rPr>
                        <a:t>Customization</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Available for Inner Partition is available at an additional cost</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88036299"/>
                  </a:ext>
                </a:extLst>
              </a:tr>
              <a:tr h="475659">
                <a:tc>
                  <a:txBody>
                    <a:bodyPr/>
                    <a:lstStyle/>
                    <a:p>
                      <a:pPr>
                        <a:lnSpc>
                          <a:spcPct val="115000"/>
                        </a:lnSpc>
                        <a:spcAft>
                          <a:spcPts val="0"/>
                        </a:spcAft>
                      </a:pPr>
                      <a:r>
                        <a:rPr lang="en-IN" sz="1800" kern="0">
                          <a:effectLst/>
                        </a:rPr>
                        <a:t>Shutter Material</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dirty="0">
                          <a:effectLst/>
                        </a:rPr>
                        <a:t>GREENPLY HDHMR OSR For Glossy / SF Matte laminates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64093438"/>
                  </a:ext>
                </a:extLst>
              </a:tr>
              <a:tr h="507832">
                <a:tc>
                  <a:txBody>
                    <a:bodyPr/>
                    <a:lstStyle/>
                    <a:p>
                      <a:pPr>
                        <a:lnSpc>
                          <a:spcPct val="115000"/>
                        </a:lnSpc>
                        <a:spcAft>
                          <a:spcPts val="0"/>
                        </a:spcAft>
                      </a:pPr>
                      <a:r>
                        <a:rPr lang="en-IN" sz="1800" kern="0">
                          <a:effectLst/>
                        </a:rPr>
                        <a:t>Laminate / Facia Brand</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MERINO LAM SF, RH Series / New Mica</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52406200"/>
                  </a:ext>
                </a:extLst>
              </a:tr>
              <a:tr h="588351">
                <a:tc>
                  <a:txBody>
                    <a:bodyPr/>
                    <a:lstStyle/>
                    <a:p>
                      <a:pPr>
                        <a:lnSpc>
                          <a:spcPct val="115000"/>
                        </a:lnSpc>
                        <a:spcAft>
                          <a:spcPts val="0"/>
                        </a:spcAft>
                      </a:pPr>
                      <a:r>
                        <a:rPr lang="en-IN" sz="1800" kern="0">
                          <a:effectLst/>
                        </a:rPr>
                        <a:t>Hinges Grade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Grade 1 Soft closing for kitchen , Auto &amp; Soft close for Wardrobes </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24973794"/>
                  </a:ext>
                </a:extLst>
              </a:tr>
              <a:tr h="475659">
                <a:tc>
                  <a:txBody>
                    <a:bodyPr/>
                    <a:lstStyle/>
                    <a:p>
                      <a:pPr>
                        <a:lnSpc>
                          <a:spcPct val="115000"/>
                        </a:lnSpc>
                        <a:spcAft>
                          <a:spcPts val="0"/>
                        </a:spcAft>
                      </a:pPr>
                      <a:r>
                        <a:rPr lang="en-IN" sz="1800" kern="0" dirty="0">
                          <a:effectLst/>
                        </a:rPr>
                        <a:t>Kitchen Accessories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dirty="0">
                          <a:effectLst/>
                        </a:rPr>
                        <a:t>HETTICH, HAFELE, EBCO as per the client preference</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20859089"/>
                  </a:ext>
                </a:extLst>
              </a:tr>
              <a:tr h="564281">
                <a:tc>
                  <a:txBody>
                    <a:bodyPr/>
                    <a:lstStyle/>
                    <a:p>
                      <a:pPr>
                        <a:lnSpc>
                          <a:spcPct val="115000"/>
                        </a:lnSpc>
                        <a:spcAft>
                          <a:spcPts val="0"/>
                        </a:spcAft>
                      </a:pPr>
                      <a:r>
                        <a:rPr lang="en-IN" sz="1800" kern="0" dirty="0">
                          <a:effectLst/>
                        </a:rPr>
                        <a:t>Production Timeline</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dirty="0">
                          <a:effectLst/>
                        </a:rPr>
                        <a:t>45 Days from Physical Sign Off On The Colour Drawing</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92881623"/>
                  </a:ext>
                </a:extLst>
              </a:tr>
            </a:tbl>
          </a:graphicData>
        </a:graphic>
      </p:graphicFrame>
      <p:sp>
        <p:nvSpPr>
          <p:cNvPr id="5" name="Slide Number Placeholder 4">
            <a:extLst>
              <a:ext uri="{FF2B5EF4-FFF2-40B4-BE49-F238E27FC236}">
                <a16:creationId xmlns:a16="http://schemas.microsoft.com/office/drawing/2014/main" id="{FBB91E06-3D32-421B-9B09-CB45B7A45522}"/>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6" name="Footer Placeholder 5">
            <a:extLst>
              <a:ext uri="{FF2B5EF4-FFF2-40B4-BE49-F238E27FC236}">
                <a16:creationId xmlns:a16="http://schemas.microsoft.com/office/drawing/2014/main" id="{D0332C50-D88A-48E2-92F7-C3439F0A3348}"/>
              </a:ext>
            </a:extLst>
          </p:cNvPr>
          <p:cNvSpPr>
            <a:spLocks noGrp="1"/>
          </p:cNvSpPr>
          <p:nvPr>
            <p:ph type="ftr" sz="quarter" idx="11"/>
          </p:nvPr>
        </p:nvSpPr>
        <p:spPr/>
        <p:txBody>
          <a:bodyPr/>
          <a:lstStyle/>
          <a:p>
            <a:r>
              <a:rPr lang="en-US"/>
              <a:t>Mr. Aravindan | Individual Villa Adyar | 7418414780</a:t>
            </a:r>
          </a:p>
        </p:txBody>
      </p:sp>
    </p:spTree>
    <p:extLst>
      <p:ext uri="{BB962C8B-B14F-4D97-AF65-F5344CB8AC3E}">
        <p14:creationId xmlns:p14="http://schemas.microsoft.com/office/powerpoint/2010/main" val="1747116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C239B3A-3DE5-4F7B-BCAC-73B68942C174}"/>
              </a:ext>
            </a:extLst>
          </p:cNvPr>
          <p:cNvSpPr/>
          <p:nvPr/>
        </p:nvSpPr>
        <p:spPr>
          <a:xfrm>
            <a:off x="3324500" y="1268393"/>
            <a:ext cx="3396699" cy="954107"/>
          </a:xfrm>
          <a:prstGeom prst="rect">
            <a:avLst/>
          </a:prstGeom>
        </p:spPr>
        <p:txBody>
          <a:bodyPr wrap="none">
            <a:spAutoFit/>
          </a:bodyPr>
          <a:lstStyle/>
          <a:p>
            <a:pPr algn="ctr"/>
            <a:r>
              <a:rPr lang="en-IN" sz="2800" dirty="0">
                <a:latin typeface="Baskerville Display PT" panose="020B0604020202020204" charset="0"/>
                <a:ea typeface="Baskerville Display PT" panose="020B0604020202020204" charset="0"/>
              </a:rPr>
              <a:t>ELEGANT SURABHI</a:t>
            </a:r>
            <a:br>
              <a:rPr lang="en-IN" sz="2800" dirty="0">
                <a:latin typeface="Baskerville Display PT" panose="020B0604020202020204" charset="0"/>
                <a:ea typeface="Baskerville Display PT" panose="020B0604020202020204" charset="0"/>
              </a:rPr>
            </a:br>
            <a:r>
              <a:rPr lang="en-IN" sz="2800" dirty="0">
                <a:latin typeface="Baskerville Display PT" panose="020B0604020202020204" charset="0"/>
                <a:ea typeface="Baskerville Display PT" panose="020B0604020202020204" charset="0"/>
              </a:rPr>
              <a:t>Quotation</a:t>
            </a:r>
          </a:p>
        </p:txBody>
      </p:sp>
      <p:sp>
        <p:nvSpPr>
          <p:cNvPr id="4" name="Slide Number Placeholder 3">
            <a:extLst>
              <a:ext uri="{FF2B5EF4-FFF2-40B4-BE49-F238E27FC236}">
                <a16:creationId xmlns:a16="http://schemas.microsoft.com/office/drawing/2014/main" id="{779FFCBC-A82A-4FF5-9DA0-33507E1718A2}"/>
              </a:ext>
            </a:extLst>
          </p:cNvPr>
          <p:cNvSpPr>
            <a:spLocks noGrp="1"/>
          </p:cNvSpPr>
          <p:nvPr>
            <p:ph type="sldNum" sz="quarter" idx="12"/>
          </p:nvPr>
        </p:nvSpPr>
        <p:spPr/>
        <p:txBody>
          <a:bodyPr/>
          <a:lstStyle/>
          <a:p>
            <a:fld id="{B6F15528-21DE-4FAA-801E-634DDDAF4B2B}" type="slidenum">
              <a:rPr lang="en-US" smtClean="0"/>
              <a:pPr/>
              <a:t>18</a:t>
            </a:fld>
            <a:endParaRPr lang="en-US"/>
          </a:p>
        </p:txBody>
      </p:sp>
      <p:sp>
        <p:nvSpPr>
          <p:cNvPr id="5" name="Footer Placeholder 4">
            <a:extLst>
              <a:ext uri="{FF2B5EF4-FFF2-40B4-BE49-F238E27FC236}">
                <a16:creationId xmlns:a16="http://schemas.microsoft.com/office/drawing/2014/main" id="{E1E081E4-6A0C-40E4-A3EA-92FC129D04B4}"/>
              </a:ext>
            </a:extLst>
          </p:cNvPr>
          <p:cNvSpPr>
            <a:spLocks noGrp="1"/>
          </p:cNvSpPr>
          <p:nvPr>
            <p:ph type="ftr" sz="quarter" idx="11"/>
          </p:nvPr>
        </p:nvSpPr>
        <p:spPr/>
        <p:txBody>
          <a:bodyPr/>
          <a:lstStyle/>
          <a:p>
            <a:r>
              <a:rPr lang="en-US"/>
              <a:t>Mr. Aravindan | Individual Villa Adyar | 7418414780</a:t>
            </a:r>
            <a:endParaRPr lang="en-US" dirty="0"/>
          </a:p>
        </p:txBody>
      </p:sp>
    </p:spTree>
    <p:extLst>
      <p:ext uri="{BB962C8B-B14F-4D97-AF65-F5344CB8AC3E}">
        <p14:creationId xmlns:p14="http://schemas.microsoft.com/office/powerpoint/2010/main" val="493217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B12FC6-9FFD-4A89-B692-95C5331EB151}"/>
              </a:ext>
            </a:extLst>
          </p:cNvPr>
          <p:cNvSpPr>
            <a:spLocks noGrp="1"/>
          </p:cNvSpPr>
          <p:nvPr>
            <p:ph type="sldNum" sz="quarter" idx="12"/>
          </p:nvPr>
        </p:nvSpPr>
        <p:spPr/>
        <p:txBody>
          <a:bodyPr/>
          <a:lstStyle/>
          <a:p>
            <a:fld id="{B6F15528-21DE-4FAA-801E-634DDDAF4B2B}" type="slidenum">
              <a:rPr lang="en-US" smtClean="0"/>
              <a:pPr/>
              <a:t>19</a:t>
            </a:fld>
            <a:endParaRPr lang="en-US"/>
          </a:p>
        </p:txBody>
      </p:sp>
      <p:sp>
        <p:nvSpPr>
          <p:cNvPr id="2" name="Footer Placeholder 1">
            <a:extLst>
              <a:ext uri="{FF2B5EF4-FFF2-40B4-BE49-F238E27FC236}">
                <a16:creationId xmlns:a16="http://schemas.microsoft.com/office/drawing/2014/main" id="{EDED3012-2A4E-4A9F-B908-0CD796F0F1E2}"/>
              </a:ext>
            </a:extLst>
          </p:cNvPr>
          <p:cNvSpPr>
            <a:spLocks noGrp="1"/>
          </p:cNvSpPr>
          <p:nvPr>
            <p:ph type="ftr" sz="quarter" idx="11"/>
          </p:nvPr>
        </p:nvSpPr>
        <p:spPr/>
        <p:txBody>
          <a:bodyPr/>
          <a:lstStyle/>
          <a:p>
            <a:r>
              <a:rPr lang="en-US"/>
              <a:t>Mr. Aravindan | Individual Villa Adyar | 7418414780</a:t>
            </a:r>
          </a:p>
        </p:txBody>
      </p:sp>
      <p:pic>
        <p:nvPicPr>
          <p:cNvPr id="11" name="Picture 10">
            <a:extLst>
              <a:ext uri="{FF2B5EF4-FFF2-40B4-BE49-F238E27FC236}">
                <a16:creationId xmlns:a16="http://schemas.microsoft.com/office/drawing/2014/main" id="{4ADDE01B-DF96-4086-B016-8EBED2E1AFD7}"/>
              </a:ext>
            </a:extLst>
          </p:cNvPr>
          <p:cNvPicPr>
            <a:picLocks noChangeAspect="1"/>
          </p:cNvPicPr>
          <p:nvPr/>
        </p:nvPicPr>
        <p:blipFill>
          <a:blip r:embed="rId2"/>
          <a:stretch>
            <a:fillRect/>
          </a:stretch>
        </p:blipFill>
        <p:spPr>
          <a:xfrm>
            <a:off x="0" y="656"/>
            <a:ext cx="10045700" cy="14197288"/>
          </a:xfrm>
          <a:prstGeom prst="rect">
            <a:avLst/>
          </a:prstGeom>
        </p:spPr>
      </p:pic>
      <p:pic>
        <p:nvPicPr>
          <p:cNvPr id="8" name="Picture 7">
            <a:extLst>
              <a:ext uri="{FF2B5EF4-FFF2-40B4-BE49-F238E27FC236}">
                <a16:creationId xmlns:a16="http://schemas.microsoft.com/office/drawing/2014/main" id="{85226229-0BB7-4639-A709-4583CD9DDA1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8450" y="165100"/>
            <a:ext cx="4343400" cy="814388"/>
          </a:xfrm>
          <a:prstGeom prst="rect">
            <a:avLst/>
          </a:prstGeom>
        </p:spPr>
      </p:pic>
      <p:pic>
        <p:nvPicPr>
          <p:cNvPr id="9" name="Picture 8">
            <a:extLst>
              <a:ext uri="{FF2B5EF4-FFF2-40B4-BE49-F238E27FC236}">
                <a16:creationId xmlns:a16="http://schemas.microsoft.com/office/drawing/2014/main" id="{5885551E-5F26-489A-A1BE-0D3C3897ABE5}"/>
              </a:ext>
            </a:extLst>
          </p:cNvPr>
          <p:cNvPicPr>
            <a:picLocks noChangeAspect="1"/>
          </p:cNvPicPr>
          <p:nvPr/>
        </p:nvPicPr>
        <p:blipFill rotWithShape="1">
          <a:blip r:embed="rId4"/>
          <a:srcRect l="21865" t="19320" r="31864" b="80132"/>
          <a:stretch/>
        </p:blipFill>
        <p:spPr>
          <a:xfrm>
            <a:off x="146050" y="975517"/>
            <a:ext cx="4648200" cy="77788"/>
          </a:xfrm>
          <a:prstGeom prst="rect">
            <a:avLst/>
          </a:prstGeom>
        </p:spPr>
      </p:pic>
    </p:spTree>
    <p:extLst>
      <p:ext uri="{BB962C8B-B14F-4D97-AF65-F5344CB8AC3E}">
        <p14:creationId xmlns:p14="http://schemas.microsoft.com/office/powerpoint/2010/main" val="28224903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C239B3A-3DE5-4F7B-BCAC-73B68942C174}"/>
              </a:ext>
            </a:extLst>
          </p:cNvPr>
          <p:cNvSpPr/>
          <p:nvPr/>
        </p:nvSpPr>
        <p:spPr>
          <a:xfrm>
            <a:off x="3649686" y="1089680"/>
            <a:ext cx="2746328" cy="523220"/>
          </a:xfrm>
          <a:prstGeom prst="rect">
            <a:avLst/>
          </a:prstGeom>
        </p:spPr>
        <p:txBody>
          <a:bodyPr wrap="none">
            <a:spAutoFit/>
          </a:bodyPr>
          <a:lstStyle/>
          <a:p>
            <a:pPr algn="ctr"/>
            <a:r>
              <a:rPr lang="en-IN" sz="2800" dirty="0">
                <a:latin typeface="Baskerville Display PT" panose="020B0604020202020204" charset="0"/>
                <a:ea typeface="Baskerville Display PT" panose="020B0604020202020204" charset="0"/>
              </a:rPr>
              <a:t>4X TUFF GLOSS</a:t>
            </a:r>
          </a:p>
        </p:txBody>
      </p:sp>
      <p:graphicFrame>
        <p:nvGraphicFramePr>
          <p:cNvPr id="4" name="Table 3">
            <a:extLst>
              <a:ext uri="{FF2B5EF4-FFF2-40B4-BE49-F238E27FC236}">
                <a16:creationId xmlns:a16="http://schemas.microsoft.com/office/drawing/2014/main" id="{39261681-4604-469D-9228-09990E6B126B}"/>
              </a:ext>
            </a:extLst>
          </p:cNvPr>
          <p:cNvGraphicFramePr>
            <a:graphicFrameLocks noGrp="1"/>
          </p:cNvGraphicFramePr>
          <p:nvPr>
            <p:extLst>
              <p:ext uri="{D42A27DB-BD31-4B8C-83A1-F6EECF244321}">
                <p14:modId xmlns:p14="http://schemas.microsoft.com/office/powerpoint/2010/main" val="1518035205"/>
              </p:ext>
            </p:extLst>
          </p:nvPr>
        </p:nvGraphicFramePr>
        <p:xfrm>
          <a:off x="679449" y="1645412"/>
          <a:ext cx="8686800" cy="11413142"/>
        </p:xfrm>
        <a:graphic>
          <a:graphicData uri="http://schemas.openxmlformats.org/drawingml/2006/table">
            <a:tbl>
              <a:tblPr firstRow="1" firstCol="1" bandRow="1">
                <a:tableStyleId>{D27102A9-8310-4765-A935-A1911B00CA55}</a:tableStyleId>
              </a:tblPr>
              <a:tblGrid>
                <a:gridCol w="2362201">
                  <a:extLst>
                    <a:ext uri="{9D8B030D-6E8A-4147-A177-3AD203B41FA5}">
                      <a16:colId xmlns:a16="http://schemas.microsoft.com/office/drawing/2014/main" val="864013631"/>
                    </a:ext>
                  </a:extLst>
                </a:gridCol>
                <a:gridCol w="6324599">
                  <a:extLst>
                    <a:ext uri="{9D8B030D-6E8A-4147-A177-3AD203B41FA5}">
                      <a16:colId xmlns:a16="http://schemas.microsoft.com/office/drawing/2014/main" val="2255826268"/>
                    </a:ext>
                  </a:extLst>
                </a:gridCol>
              </a:tblGrid>
              <a:tr h="365688">
                <a:tc>
                  <a:txBody>
                    <a:bodyPr/>
                    <a:lstStyle/>
                    <a:p>
                      <a:pPr algn="ctr">
                        <a:lnSpc>
                          <a:spcPct val="115000"/>
                        </a:lnSpc>
                        <a:spcAft>
                          <a:spcPts val="0"/>
                        </a:spcAft>
                      </a:pPr>
                      <a:r>
                        <a:rPr lang="en-IN" sz="1800" kern="0">
                          <a:effectLst/>
                        </a:rPr>
                        <a:t>Specification</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kern="0">
                          <a:effectLst/>
                        </a:rPr>
                        <a:t>Details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47490633"/>
                  </a:ext>
                </a:extLst>
              </a:tr>
              <a:tr h="365688">
                <a:tc>
                  <a:txBody>
                    <a:bodyPr/>
                    <a:lstStyle/>
                    <a:p>
                      <a:pPr>
                        <a:lnSpc>
                          <a:spcPct val="115000"/>
                        </a:lnSpc>
                        <a:spcAft>
                          <a:spcPts val="0"/>
                        </a:spcAft>
                      </a:pPr>
                      <a:r>
                        <a:rPr lang="en-IN" sz="1800" kern="0">
                          <a:effectLst/>
                        </a:rPr>
                        <a:t>Carcass Material</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GREENPLY BWP 710 Grade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08959524"/>
                  </a:ext>
                </a:extLst>
              </a:tr>
              <a:tr h="365688">
                <a:tc>
                  <a:txBody>
                    <a:bodyPr/>
                    <a:lstStyle/>
                    <a:p>
                      <a:pPr>
                        <a:lnSpc>
                          <a:spcPct val="115000"/>
                        </a:lnSpc>
                        <a:spcAft>
                          <a:spcPts val="0"/>
                        </a:spcAft>
                      </a:pPr>
                      <a:r>
                        <a:rPr lang="en-IN" sz="1800" kern="0">
                          <a:effectLst/>
                        </a:rPr>
                        <a:t>Shutter Finish</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GLOSSY - SCRATCH &amp; STAIN PROOF</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82911278"/>
                  </a:ext>
                </a:extLst>
              </a:tr>
              <a:tr h="365688">
                <a:tc>
                  <a:txBody>
                    <a:bodyPr/>
                    <a:lstStyle/>
                    <a:p>
                      <a:pPr>
                        <a:lnSpc>
                          <a:spcPct val="115000"/>
                        </a:lnSpc>
                        <a:spcAft>
                          <a:spcPts val="0"/>
                        </a:spcAft>
                      </a:pPr>
                      <a:r>
                        <a:rPr lang="en-IN" sz="1800" kern="0">
                          <a:effectLst/>
                        </a:rPr>
                        <a:t>Shutter Material</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BWP 710 Grade GURJAN Ply / GREENPLY HDHMR</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6330245"/>
                  </a:ext>
                </a:extLst>
              </a:tr>
              <a:tr h="365688">
                <a:tc>
                  <a:txBody>
                    <a:bodyPr/>
                    <a:lstStyle/>
                    <a:p>
                      <a:pPr>
                        <a:lnSpc>
                          <a:spcPct val="115000"/>
                        </a:lnSpc>
                        <a:spcAft>
                          <a:spcPts val="0"/>
                        </a:spcAft>
                      </a:pPr>
                      <a:r>
                        <a:rPr lang="en-IN" sz="1800" kern="0" dirty="0">
                          <a:effectLst/>
                        </a:rPr>
                        <a:t>Primary Hinges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dirty="0">
                          <a:effectLst/>
                        </a:rPr>
                        <a:t>EBCO (12 kg)</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77851574"/>
                  </a:ext>
                </a:extLst>
              </a:tr>
              <a:tr h="365688">
                <a:tc>
                  <a:txBody>
                    <a:bodyPr/>
                    <a:lstStyle/>
                    <a:p>
                      <a:pPr>
                        <a:lnSpc>
                          <a:spcPct val="115000"/>
                        </a:lnSpc>
                        <a:spcAft>
                          <a:spcPts val="0"/>
                        </a:spcAft>
                      </a:pPr>
                      <a:r>
                        <a:rPr lang="en-IN" sz="1800" kern="0">
                          <a:effectLst/>
                        </a:rPr>
                        <a:t>Hanger-rods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dirty="0">
                          <a:effectLst/>
                        </a:rPr>
                        <a:t>Multi Profile Hanger HD Rods - EBCO</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7800559"/>
                  </a:ext>
                </a:extLst>
              </a:tr>
              <a:tr h="365688">
                <a:tc>
                  <a:txBody>
                    <a:bodyPr/>
                    <a:lstStyle/>
                    <a:p>
                      <a:pPr>
                        <a:lnSpc>
                          <a:spcPct val="115000"/>
                        </a:lnSpc>
                        <a:spcAft>
                          <a:spcPts val="0"/>
                        </a:spcAft>
                      </a:pPr>
                      <a:r>
                        <a:rPr lang="en-IN" sz="1800" kern="0">
                          <a:effectLst/>
                        </a:rPr>
                        <a:t>Wardrobe Locks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Dual Switch EBCO</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8519051"/>
                  </a:ext>
                </a:extLst>
              </a:tr>
              <a:tr h="365688">
                <a:tc>
                  <a:txBody>
                    <a:bodyPr/>
                    <a:lstStyle/>
                    <a:p>
                      <a:pPr>
                        <a:lnSpc>
                          <a:spcPct val="115000"/>
                        </a:lnSpc>
                        <a:spcAft>
                          <a:spcPts val="0"/>
                        </a:spcAft>
                      </a:pPr>
                      <a:r>
                        <a:rPr lang="en-IN" sz="1800" kern="0">
                          <a:effectLst/>
                        </a:rPr>
                        <a:t>Leg &amp; Wall Bracket</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ABS / Adjustable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70318500"/>
                  </a:ext>
                </a:extLst>
              </a:tr>
              <a:tr h="365688">
                <a:tc>
                  <a:txBody>
                    <a:bodyPr/>
                    <a:lstStyle/>
                    <a:p>
                      <a:pPr>
                        <a:lnSpc>
                          <a:spcPct val="115000"/>
                        </a:lnSpc>
                        <a:spcAft>
                          <a:spcPts val="0"/>
                        </a:spcAft>
                      </a:pPr>
                      <a:r>
                        <a:rPr lang="en-IN" sz="1800" kern="0" dirty="0">
                          <a:effectLst/>
                        </a:rPr>
                        <a:t>Sliding Track</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dirty="0">
                          <a:effectLst/>
                        </a:rPr>
                        <a:t>CNR Brand with Two Way sliding system</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01916119"/>
                  </a:ext>
                </a:extLst>
              </a:tr>
              <a:tr h="365688">
                <a:tc>
                  <a:txBody>
                    <a:bodyPr/>
                    <a:lstStyle/>
                    <a:p>
                      <a:pPr>
                        <a:lnSpc>
                          <a:spcPct val="115000"/>
                        </a:lnSpc>
                        <a:spcAft>
                          <a:spcPts val="0"/>
                        </a:spcAft>
                      </a:pPr>
                      <a:r>
                        <a:rPr lang="en-IN" sz="1800" kern="0">
                          <a:effectLst/>
                        </a:rPr>
                        <a:t>Lift Up Piston</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BLUM / HETTICH 15 Kgs Load</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66082637"/>
                  </a:ext>
                </a:extLst>
              </a:tr>
              <a:tr h="365688">
                <a:tc>
                  <a:txBody>
                    <a:bodyPr/>
                    <a:lstStyle/>
                    <a:p>
                      <a:pPr>
                        <a:lnSpc>
                          <a:spcPct val="115000"/>
                        </a:lnSpc>
                        <a:spcAft>
                          <a:spcPts val="0"/>
                        </a:spcAft>
                      </a:pPr>
                      <a:r>
                        <a:rPr lang="en-IN" sz="1800" kern="0">
                          <a:effectLst/>
                        </a:rPr>
                        <a:t>Screws &amp; Clamps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HP Screws / Self threading Type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51331113"/>
                  </a:ext>
                </a:extLst>
              </a:tr>
              <a:tr h="365688">
                <a:tc>
                  <a:txBody>
                    <a:bodyPr/>
                    <a:lstStyle/>
                    <a:p>
                      <a:pPr>
                        <a:lnSpc>
                          <a:spcPct val="115000"/>
                        </a:lnSpc>
                        <a:spcAft>
                          <a:spcPts val="0"/>
                        </a:spcAft>
                      </a:pPr>
                      <a:r>
                        <a:rPr lang="en-IN" sz="1800" kern="0">
                          <a:effectLst/>
                        </a:rPr>
                        <a:t>Skirting</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Matching Shutter Finish Skirting</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44855551"/>
                  </a:ext>
                </a:extLst>
              </a:tr>
              <a:tr h="365688">
                <a:tc>
                  <a:txBody>
                    <a:bodyPr/>
                    <a:lstStyle/>
                    <a:p>
                      <a:pPr>
                        <a:lnSpc>
                          <a:spcPct val="115000"/>
                        </a:lnSpc>
                        <a:spcAft>
                          <a:spcPts val="0"/>
                        </a:spcAft>
                      </a:pPr>
                      <a:r>
                        <a:rPr lang="en-IN" sz="1800" kern="0">
                          <a:effectLst/>
                        </a:rPr>
                        <a:t>Mirrors &amp; Glass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4mm Saint Gobain</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0846321"/>
                  </a:ext>
                </a:extLst>
              </a:tr>
              <a:tr h="365688">
                <a:tc>
                  <a:txBody>
                    <a:bodyPr/>
                    <a:lstStyle/>
                    <a:p>
                      <a:pPr>
                        <a:lnSpc>
                          <a:spcPct val="115000"/>
                        </a:lnSpc>
                        <a:spcAft>
                          <a:spcPts val="0"/>
                        </a:spcAft>
                      </a:pPr>
                      <a:r>
                        <a:rPr lang="en-IN" sz="1800" kern="0">
                          <a:effectLst/>
                        </a:rPr>
                        <a:t>Installation Process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Self-Drilling Screws with Screw caps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1041372"/>
                  </a:ext>
                </a:extLst>
              </a:tr>
              <a:tr h="365688">
                <a:tc>
                  <a:txBody>
                    <a:bodyPr/>
                    <a:lstStyle/>
                    <a:p>
                      <a:pPr>
                        <a:lnSpc>
                          <a:spcPct val="115000"/>
                        </a:lnSpc>
                        <a:spcAft>
                          <a:spcPts val="0"/>
                        </a:spcAft>
                      </a:pPr>
                      <a:r>
                        <a:rPr lang="en-IN" sz="1800" kern="0">
                          <a:effectLst/>
                        </a:rPr>
                        <a:t>Installation Duration</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dirty="0">
                          <a:effectLst/>
                        </a:rPr>
                        <a:t>4 Weeks (may increase if the scope includes Civil, Electrical work)</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587937"/>
                  </a:ext>
                </a:extLst>
              </a:tr>
              <a:tr h="365688">
                <a:tc>
                  <a:txBody>
                    <a:bodyPr/>
                    <a:lstStyle/>
                    <a:p>
                      <a:pPr>
                        <a:lnSpc>
                          <a:spcPct val="115000"/>
                        </a:lnSpc>
                        <a:spcAft>
                          <a:spcPts val="0"/>
                        </a:spcAft>
                      </a:pPr>
                      <a:r>
                        <a:rPr lang="en-IN" sz="1800" kern="0">
                          <a:effectLst/>
                        </a:rPr>
                        <a:t>Inclusive in Cost</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Installation and Transportation</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43588788"/>
                  </a:ext>
                </a:extLst>
              </a:tr>
              <a:tr h="365688">
                <a:tc>
                  <a:txBody>
                    <a:bodyPr/>
                    <a:lstStyle/>
                    <a:p>
                      <a:pPr>
                        <a:lnSpc>
                          <a:spcPct val="115000"/>
                        </a:lnSpc>
                        <a:spcAft>
                          <a:spcPts val="0"/>
                        </a:spcAft>
                      </a:pPr>
                      <a:r>
                        <a:rPr lang="en-IN" sz="1800" kern="0">
                          <a:effectLst/>
                        </a:rPr>
                        <a:t>Taxes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dirty="0">
                          <a:effectLst/>
                        </a:rPr>
                        <a:t>Prices Excludes GST</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93819193"/>
                  </a:ext>
                </a:extLst>
              </a:tr>
              <a:tr h="582874">
                <a:tc>
                  <a:txBody>
                    <a:bodyPr/>
                    <a:lstStyle/>
                    <a:p>
                      <a:pPr>
                        <a:lnSpc>
                          <a:spcPct val="115000"/>
                        </a:lnSpc>
                        <a:spcAft>
                          <a:spcPts val="0"/>
                        </a:spcAft>
                      </a:pPr>
                      <a:r>
                        <a:rPr lang="en-IN" sz="1800" kern="0">
                          <a:effectLst/>
                        </a:rPr>
                        <a:t>Laminate Pasting Process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Machine Pressed Lamination</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84149060"/>
                  </a:ext>
                </a:extLst>
              </a:tr>
              <a:tr h="582874">
                <a:tc>
                  <a:txBody>
                    <a:bodyPr/>
                    <a:lstStyle/>
                    <a:p>
                      <a:pPr>
                        <a:lnSpc>
                          <a:spcPct val="115000"/>
                        </a:lnSpc>
                        <a:spcAft>
                          <a:spcPts val="0"/>
                        </a:spcAft>
                      </a:pPr>
                      <a:r>
                        <a:rPr lang="en-IN" sz="1800" kern="0">
                          <a:effectLst/>
                        </a:rPr>
                        <a:t>Throughfeed Edge Banding</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Hot melt Glue Machine Edge Banding</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1016607"/>
                  </a:ext>
                </a:extLst>
              </a:tr>
              <a:tr h="365688">
                <a:tc>
                  <a:txBody>
                    <a:bodyPr/>
                    <a:lstStyle/>
                    <a:p>
                      <a:pPr>
                        <a:lnSpc>
                          <a:spcPct val="115000"/>
                        </a:lnSpc>
                        <a:spcAft>
                          <a:spcPts val="0"/>
                        </a:spcAft>
                      </a:pPr>
                      <a:r>
                        <a:rPr lang="en-IN" sz="1800" kern="0">
                          <a:effectLst/>
                        </a:rPr>
                        <a:t>Edge Banding</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E3 Brand / PVC</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28251194"/>
                  </a:ext>
                </a:extLst>
              </a:tr>
              <a:tr h="365688">
                <a:tc>
                  <a:txBody>
                    <a:bodyPr/>
                    <a:lstStyle/>
                    <a:p>
                      <a:pPr>
                        <a:lnSpc>
                          <a:spcPct val="115000"/>
                        </a:lnSpc>
                        <a:spcAft>
                          <a:spcPts val="0"/>
                        </a:spcAft>
                      </a:pPr>
                      <a:r>
                        <a:rPr lang="en-IN" sz="1800" kern="0">
                          <a:effectLst/>
                        </a:rPr>
                        <a:t>Adhesives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SYNTHETIC ADHESIVE Grade: LK453</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60928865"/>
                  </a:ext>
                </a:extLst>
              </a:tr>
              <a:tr h="365688">
                <a:tc>
                  <a:txBody>
                    <a:bodyPr/>
                    <a:lstStyle/>
                    <a:p>
                      <a:pPr>
                        <a:lnSpc>
                          <a:spcPct val="115000"/>
                        </a:lnSpc>
                        <a:spcAft>
                          <a:spcPts val="0"/>
                        </a:spcAft>
                      </a:pPr>
                      <a:r>
                        <a:rPr lang="en-IN" sz="1800" kern="0">
                          <a:effectLst/>
                        </a:rPr>
                        <a:t>HOT MELT Adhesive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dirty="0">
                          <a:effectLst/>
                        </a:rPr>
                        <a:t>ANABOND - SU2710</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6689380"/>
                  </a:ext>
                </a:extLst>
              </a:tr>
              <a:tr h="365688">
                <a:tc>
                  <a:txBody>
                    <a:bodyPr/>
                    <a:lstStyle/>
                    <a:p>
                      <a:pPr>
                        <a:lnSpc>
                          <a:spcPct val="115000"/>
                        </a:lnSpc>
                        <a:spcAft>
                          <a:spcPts val="0"/>
                        </a:spcAft>
                      </a:pPr>
                      <a:r>
                        <a:rPr lang="en-IN" sz="1800" kern="0">
                          <a:effectLst/>
                        </a:rPr>
                        <a:t>Additional Process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dirty="0">
                          <a:effectLst/>
                        </a:rPr>
                        <a:t>Ext. Grading, Fungus - Resistant Spray Coating, Multi Boring on Ply</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39716642"/>
                  </a:ext>
                </a:extLst>
              </a:tr>
              <a:tr h="647665">
                <a:tc>
                  <a:txBody>
                    <a:bodyPr/>
                    <a:lstStyle/>
                    <a:p>
                      <a:pPr>
                        <a:lnSpc>
                          <a:spcPct val="115000"/>
                        </a:lnSpc>
                        <a:spcAft>
                          <a:spcPts val="0"/>
                        </a:spcAft>
                      </a:pPr>
                      <a:r>
                        <a:rPr lang="en-IN" sz="2000" kern="0" dirty="0">
                          <a:effectLst/>
                        </a:rPr>
                        <a:t>Customization</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Available for Inner Partition is available at an additional cost</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34052894"/>
                  </a:ext>
                </a:extLst>
              </a:tr>
              <a:tr h="365688">
                <a:tc>
                  <a:txBody>
                    <a:bodyPr/>
                    <a:lstStyle/>
                    <a:p>
                      <a:pPr>
                        <a:lnSpc>
                          <a:spcPct val="115000"/>
                        </a:lnSpc>
                        <a:spcAft>
                          <a:spcPts val="0"/>
                        </a:spcAft>
                      </a:pPr>
                      <a:r>
                        <a:rPr lang="en-IN" sz="1800" kern="0">
                          <a:effectLst/>
                        </a:rPr>
                        <a:t>Shutter Material</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GREENPLY HDHMR OSR For Glossy / SF Matte laminates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64093438"/>
                  </a:ext>
                </a:extLst>
              </a:tr>
              <a:tr h="365688">
                <a:tc>
                  <a:txBody>
                    <a:bodyPr/>
                    <a:lstStyle/>
                    <a:p>
                      <a:pPr>
                        <a:lnSpc>
                          <a:spcPct val="115000"/>
                        </a:lnSpc>
                        <a:spcAft>
                          <a:spcPts val="0"/>
                        </a:spcAft>
                      </a:pPr>
                      <a:r>
                        <a:rPr lang="en-IN" sz="1800" kern="0">
                          <a:effectLst/>
                        </a:rPr>
                        <a:t>Laminate / Facia Brand</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Merino MR+ / Royal Touche GLOSS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52406200"/>
                  </a:ext>
                </a:extLst>
              </a:tr>
              <a:tr h="365688">
                <a:tc>
                  <a:txBody>
                    <a:bodyPr/>
                    <a:lstStyle/>
                    <a:p>
                      <a:pPr>
                        <a:lnSpc>
                          <a:spcPct val="115000"/>
                        </a:lnSpc>
                        <a:spcAft>
                          <a:spcPts val="0"/>
                        </a:spcAft>
                      </a:pPr>
                      <a:r>
                        <a:rPr lang="en-IN" sz="1800" kern="0">
                          <a:effectLst/>
                        </a:rPr>
                        <a:t>Hinges Grade</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a:effectLst/>
                        </a:rPr>
                        <a:t>Grade 1 Soft closing for kitchen &amp; Auto close for Wardrobes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24973794"/>
                  </a:ext>
                </a:extLst>
              </a:tr>
              <a:tr h="365688">
                <a:tc>
                  <a:txBody>
                    <a:bodyPr/>
                    <a:lstStyle/>
                    <a:p>
                      <a:pPr>
                        <a:lnSpc>
                          <a:spcPct val="115000"/>
                        </a:lnSpc>
                        <a:spcAft>
                          <a:spcPts val="0"/>
                        </a:spcAft>
                      </a:pPr>
                      <a:r>
                        <a:rPr lang="en-IN" sz="1800" kern="0">
                          <a:effectLst/>
                        </a:rPr>
                        <a:t>Kitchen Accessories</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800" kern="0" dirty="0">
                          <a:effectLst/>
                        </a:rPr>
                        <a:t>HETTICH Brand</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20859089"/>
                  </a:ext>
                </a:extLst>
              </a:tr>
              <a:tr h="365688">
                <a:tc>
                  <a:txBody>
                    <a:bodyPr/>
                    <a:lstStyle/>
                    <a:p>
                      <a:pPr>
                        <a:lnSpc>
                          <a:spcPct val="115000"/>
                        </a:lnSpc>
                        <a:spcAft>
                          <a:spcPts val="0"/>
                        </a:spcAft>
                      </a:pPr>
                      <a:r>
                        <a:rPr lang="en-IN" sz="2000" kern="0" dirty="0">
                          <a:effectLst/>
                        </a:rPr>
                        <a:t>Production Timeline</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2000" kern="0" dirty="0">
                          <a:effectLst/>
                        </a:rPr>
                        <a:t>45 Days from Physical Sign Off On The Colour Drawing</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33872519"/>
                  </a:ext>
                </a:extLst>
              </a:tr>
            </a:tbl>
          </a:graphicData>
        </a:graphic>
      </p:graphicFrame>
      <p:sp>
        <p:nvSpPr>
          <p:cNvPr id="5" name="Slide Number Placeholder 4">
            <a:extLst>
              <a:ext uri="{FF2B5EF4-FFF2-40B4-BE49-F238E27FC236}">
                <a16:creationId xmlns:a16="http://schemas.microsoft.com/office/drawing/2014/main" id="{FDE48BC1-775F-45AA-BDC7-ECBAD5FF7948}"/>
              </a:ext>
            </a:extLst>
          </p:cNvPr>
          <p:cNvSpPr>
            <a:spLocks noGrp="1"/>
          </p:cNvSpPr>
          <p:nvPr>
            <p:ph type="sldNum" sz="quarter" idx="12"/>
          </p:nvPr>
        </p:nvSpPr>
        <p:spPr/>
        <p:txBody>
          <a:bodyPr/>
          <a:lstStyle/>
          <a:p>
            <a:fld id="{B6F15528-21DE-4FAA-801E-634DDDAF4B2B}" type="slidenum">
              <a:rPr lang="en-US" smtClean="0"/>
              <a:pPr/>
              <a:t>20</a:t>
            </a:fld>
            <a:endParaRPr lang="en-US"/>
          </a:p>
        </p:txBody>
      </p:sp>
      <p:sp>
        <p:nvSpPr>
          <p:cNvPr id="6" name="Footer Placeholder 5">
            <a:extLst>
              <a:ext uri="{FF2B5EF4-FFF2-40B4-BE49-F238E27FC236}">
                <a16:creationId xmlns:a16="http://schemas.microsoft.com/office/drawing/2014/main" id="{178EA542-256D-462F-A2CE-A3CE0B733771}"/>
              </a:ext>
            </a:extLst>
          </p:cNvPr>
          <p:cNvSpPr>
            <a:spLocks noGrp="1"/>
          </p:cNvSpPr>
          <p:nvPr>
            <p:ph type="ftr" sz="quarter" idx="11"/>
          </p:nvPr>
        </p:nvSpPr>
        <p:spPr/>
        <p:txBody>
          <a:bodyPr/>
          <a:lstStyle/>
          <a:p>
            <a:r>
              <a:rPr lang="en-US"/>
              <a:t>Mr. Aravindan | Individual Villa Adyar | 7418414780</a:t>
            </a:r>
          </a:p>
        </p:txBody>
      </p:sp>
    </p:spTree>
    <p:extLst>
      <p:ext uri="{BB962C8B-B14F-4D97-AF65-F5344CB8AC3E}">
        <p14:creationId xmlns:p14="http://schemas.microsoft.com/office/powerpoint/2010/main" val="22570789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C239B3A-3DE5-4F7B-BCAC-73B68942C174}"/>
              </a:ext>
            </a:extLst>
          </p:cNvPr>
          <p:cNvSpPr/>
          <p:nvPr/>
        </p:nvSpPr>
        <p:spPr>
          <a:xfrm>
            <a:off x="3648122" y="1420793"/>
            <a:ext cx="2746328" cy="954107"/>
          </a:xfrm>
          <a:prstGeom prst="rect">
            <a:avLst/>
          </a:prstGeom>
        </p:spPr>
        <p:txBody>
          <a:bodyPr wrap="none">
            <a:spAutoFit/>
          </a:bodyPr>
          <a:lstStyle/>
          <a:p>
            <a:pPr algn="ctr"/>
            <a:r>
              <a:rPr lang="en-IN" sz="2800" dirty="0">
                <a:latin typeface="Baskerville Display PT" panose="020B0604020202020204" charset="0"/>
                <a:ea typeface="Baskerville Display PT" panose="020B0604020202020204" charset="0"/>
              </a:rPr>
              <a:t>4X TUFF GLOSS</a:t>
            </a:r>
            <a:br>
              <a:rPr lang="en-IN" sz="2800" dirty="0">
                <a:latin typeface="Baskerville Display PT" panose="020B0604020202020204" charset="0"/>
                <a:ea typeface="Baskerville Display PT" panose="020B0604020202020204" charset="0"/>
              </a:rPr>
            </a:br>
            <a:r>
              <a:rPr lang="en-IN" sz="2800" dirty="0">
                <a:latin typeface="Baskerville Display PT" panose="020B0604020202020204" charset="0"/>
                <a:ea typeface="Baskerville Display PT" panose="020B0604020202020204" charset="0"/>
              </a:rPr>
              <a:t>Quotation</a:t>
            </a:r>
          </a:p>
        </p:txBody>
      </p:sp>
      <p:sp>
        <p:nvSpPr>
          <p:cNvPr id="4" name="Slide Number Placeholder 3">
            <a:extLst>
              <a:ext uri="{FF2B5EF4-FFF2-40B4-BE49-F238E27FC236}">
                <a16:creationId xmlns:a16="http://schemas.microsoft.com/office/drawing/2014/main" id="{12092230-D948-4A30-A05B-D34E1E240942}"/>
              </a:ext>
            </a:extLst>
          </p:cNvPr>
          <p:cNvSpPr>
            <a:spLocks noGrp="1"/>
          </p:cNvSpPr>
          <p:nvPr>
            <p:ph type="sldNum" sz="quarter" idx="12"/>
          </p:nvPr>
        </p:nvSpPr>
        <p:spPr/>
        <p:txBody>
          <a:bodyPr/>
          <a:lstStyle/>
          <a:p>
            <a:fld id="{B6F15528-21DE-4FAA-801E-634DDDAF4B2B}" type="slidenum">
              <a:rPr lang="en-US" smtClean="0"/>
              <a:pPr/>
              <a:t>21</a:t>
            </a:fld>
            <a:endParaRPr lang="en-US"/>
          </a:p>
        </p:txBody>
      </p:sp>
      <p:sp>
        <p:nvSpPr>
          <p:cNvPr id="5" name="Footer Placeholder 4">
            <a:extLst>
              <a:ext uri="{FF2B5EF4-FFF2-40B4-BE49-F238E27FC236}">
                <a16:creationId xmlns:a16="http://schemas.microsoft.com/office/drawing/2014/main" id="{3D72BCB0-DEB3-41D1-BC41-A9C11FD89CD3}"/>
              </a:ext>
            </a:extLst>
          </p:cNvPr>
          <p:cNvSpPr>
            <a:spLocks noGrp="1"/>
          </p:cNvSpPr>
          <p:nvPr>
            <p:ph type="ftr" sz="quarter" idx="11"/>
          </p:nvPr>
        </p:nvSpPr>
        <p:spPr/>
        <p:txBody>
          <a:bodyPr/>
          <a:lstStyle/>
          <a:p>
            <a:r>
              <a:rPr lang="en-US"/>
              <a:t>Mr. Aravindan | Individual Villa Adyar | 7418414780</a:t>
            </a:r>
          </a:p>
        </p:txBody>
      </p:sp>
    </p:spTree>
    <p:extLst>
      <p:ext uri="{BB962C8B-B14F-4D97-AF65-F5344CB8AC3E}">
        <p14:creationId xmlns:p14="http://schemas.microsoft.com/office/powerpoint/2010/main" val="383652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BCEC20-54F1-4C26-B262-F231CD305DAE}"/>
              </a:ext>
            </a:extLst>
          </p:cNvPr>
          <p:cNvSpPr/>
          <p:nvPr/>
        </p:nvSpPr>
        <p:spPr>
          <a:xfrm>
            <a:off x="679450" y="1413411"/>
            <a:ext cx="8686800" cy="10987623"/>
          </a:xfrm>
          <a:prstGeom prst="rect">
            <a:avLst/>
          </a:prstGeom>
        </p:spPr>
        <p:txBody>
          <a:bodyPr wrap="square">
            <a:spAutoFit/>
          </a:bodyPr>
          <a:lstStyle/>
          <a:p>
            <a:pPr algn="just"/>
            <a:r>
              <a:rPr lang="en-US" sz="2400" b="1" dirty="0">
                <a:solidFill>
                  <a:srgbClr val="C00000"/>
                </a:solidFill>
              </a:rPr>
              <a:t>DESIGN PROCESS AND TIMELINES</a:t>
            </a:r>
          </a:p>
          <a:p>
            <a:pPr algn="just"/>
            <a:endParaRPr lang="en-US" b="1" dirty="0">
              <a:solidFill>
                <a:srgbClr val="C00000"/>
              </a:solidFill>
            </a:endParaRPr>
          </a:p>
          <a:p>
            <a:pPr algn="just"/>
            <a:r>
              <a:rPr lang="en-US" dirty="0"/>
              <a:t>A structured design journey covering concept development, material selection, 3D visualization, and final approvals. Each stage is planned with a clear timeline to ensure smooth execution and timely project delivery.</a:t>
            </a:r>
          </a:p>
          <a:p>
            <a:pPr algn="just"/>
            <a:endParaRPr lang="en-US" dirty="0"/>
          </a:p>
          <a:p>
            <a:pPr algn="just"/>
            <a:r>
              <a:rPr lang="en-US" b="1" dirty="0"/>
              <a:t>1.Project Onboarding &amp; Design Initiation</a:t>
            </a:r>
            <a:endParaRPr lang="en-US" dirty="0"/>
          </a:p>
          <a:p>
            <a:pPr algn="just"/>
            <a:r>
              <a:rPr lang="en-US" dirty="0"/>
              <a:t>The design phase commences upon receipt of the initial 10% advance payment. A dedicated Design Lead will be assigned to manage project coordination, design discussions, and approvals throughout the process.</a:t>
            </a:r>
          </a:p>
          <a:p>
            <a:pPr algn="just"/>
            <a:endParaRPr lang="en-US" dirty="0"/>
          </a:p>
          <a:p>
            <a:pPr algn="just"/>
            <a:r>
              <a:rPr lang="en-US" b="1" dirty="0"/>
              <a:t>2.Design Stages &amp; Review Meetings</a:t>
            </a:r>
            <a:endParaRPr lang="en-US" dirty="0"/>
          </a:p>
          <a:p>
            <a:pPr algn="just"/>
            <a:r>
              <a:rPr lang="en-US" dirty="0"/>
              <a:t>Our design process is structured into two key phases to ensure clarity, collaboration, and timely decision-making throughout your project.</a:t>
            </a:r>
          </a:p>
          <a:p>
            <a:pPr algn="just"/>
            <a:r>
              <a:rPr lang="en-US" dirty="0"/>
              <a:t>		</a:t>
            </a:r>
            <a:r>
              <a:rPr lang="en-US" b="1" dirty="0"/>
              <a:t>Stage 1 – Design Development &amp; Approval</a:t>
            </a:r>
          </a:p>
          <a:p>
            <a:pPr algn="just"/>
            <a:r>
              <a:rPr lang="en-US" dirty="0"/>
              <a:t>During this phase, our design team will collaborate with you to finalize layouts, material selections, finishes, colours, and overall design concepts. The proposed designs will be reviewed through scheduled discussions, and upon approval, the project will proceed to the next stage.</a:t>
            </a:r>
          </a:p>
          <a:p>
            <a:pPr algn="just"/>
            <a:r>
              <a:rPr lang="en-US" dirty="0"/>
              <a:t>		</a:t>
            </a:r>
            <a:r>
              <a:rPr lang="en-US" b="1" dirty="0"/>
              <a:t>Stage 2 – Technical Drawings &amp; Design Sign-Off</a:t>
            </a:r>
          </a:p>
          <a:p>
            <a:pPr algn="just"/>
            <a:r>
              <a:rPr lang="en-US" dirty="0"/>
              <a:t>Detailed production drawings and execution documents will be prepared following design approval. The final project scope, specifications, and project value will be confirmed during this stage. A 35% payment and formal Design Sign-Off are required before the project is released for production and execution.</a:t>
            </a:r>
          </a:p>
          <a:p>
            <a:pPr algn="just"/>
            <a:endParaRPr lang="en-US" dirty="0"/>
          </a:p>
          <a:p>
            <a:pPr algn="just"/>
            <a:r>
              <a:rPr lang="en-US" b="1" dirty="0"/>
              <a:t>3.Design Timelines</a:t>
            </a:r>
            <a:endParaRPr lang="en-US" dirty="0"/>
          </a:p>
          <a:p>
            <a:pPr algn="just"/>
            <a:r>
              <a:rPr lang="en-US" dirty="0"/>
              <a:t>The estimated design timeline may vary based on project complexity, design revisions, and the availability of clients for review meetings and approvals.</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t>Timelines are subject to timely client feedback, approval schedules, and availability for design discussions. Delays in approvals or revisions may impact the overall design schedule.</a:t>
            </a:r>
          </a:p>
        </p:txBody>
      </p:sp>
      <p:graphicFrame>
        <p:nvGraphicFramePr>
          <p:cNvPr id="3" name="Table 2">
            <a:extLst>
              <a:ext uri="{FF2B5EF4-FFF2-40B4-BE49-F238E27FC236}">
                <a16:creationId xmlns:a16="http://schemas.microsoft.com/office/drawing/2014/main" id="{A47EF663-BFFD-46F6-97BB-3B4BF3351D55}"/>
              </a:ext>
            </a:extLst>
          </p:cNvPr>
          <p:cNvGraphicFramePr>
            <a:graphicFrameLocks noGrp="1"/>
          </p:cNvGraphicFramePr>
          <p:nvPr>
            <p:extLst>
              <p:ext uri="{D42A27DB-BD31-4B8C-83A1-F6EECF244321}">
                <p14:modId xmlns:p14="http://schemas.microsoft.com/office/powerpoint/2010/main" val="2391718086"/>
              </p:ext>
            </p:extLst>
          </p:nvPr>
        </p:nvGraphicFramePr>
        <p:xfrm>
          <a:off x="1098550" y="9537700"/>
          <a:ext cx="7848600" cy="1828800"/>
        </p:xfrm>
        <a:graphic>
          <a:graphicData uri="http://schemas.openxmlformats.org/drawingml/2006/table">
            <a:tbl>
              <a:tblPr firstRow="1" bandRow="1">
                <a:tableStyleId>{D27102A9-8310-4765-A935-A1911B00CA55}</a:tableStyleId>
              </a:tblPr>
              <a:tblGrid>
                <a:gridCol w="3924300">
                  <a:extLst>
                    <a:ext uri="{9D8B030D-6E8A-4147-A177-3AD203B41FA5}">
                      <a16:colId xmlns:a16="http://schemas.microsoft.com/office/drawing/2014/main" val="2939760543"/>
                    </a:ext>
                  </a:extLst>
                </a:gridCol>
                <a:gridCol w="3924300">
                  <a:extLst>
                    <a:ext uri="{9D8B030D-6E8A-4147-A177-3AD203B41FA5}">
                      <a16:colId xmlns:a16="http://schemas.microsoft.com/office/drawing/2014/main" val="2360766810"/>
                    </a:ext>
                  </a:extLst>
                </a:gridCol>
              </a:tblGrid>
              <a:tr h="350203">
                <a:tc>
                  <a:txBody>
                    <a:bodyPr/>
                    <a:lstStyle/>
                    <a:p>
                      <a:r>
                        <a:rPr lang="en-US" dirty="0"/>
                        <a:t>Project Type	</a:t>
                      </a:r>
                      <a:endParaRPr lang="en-IN" dirty="0"/>
                    </a:p>
                  </a:txBody>
                  <a:tcPr/>
                </a:tc>
                <a:tc>
                  <a:txBody>
                    <a:bodyPr/>
                    <a:lstStyle/>
                    <a:p>
                      <a:pPr algn="r"/>
                      <a:r>
                        <a:rPr lang="en-US" dirty="0"/>
                        <a:t>Estimated Timeline</a:t>
                      </a:r>
                    </a:p>
                  </a:txBody>
                  <a:tcPr/>
                </a:tc>
                <a:extLst>
                  <a:ext uri="{0D108BD9-81ED-4DB2-BD59-A6C34878D82A}">
                    <a16:rowId xmlns:a16="http://schemas.microsoft.com/office/drawing/2014/main" val="597569307"/>
                  </a:ext>
                </a:extLst>
              </a:tr>
              <a:tr h="350203">
                <a:tc>
                  <a:txBody>
                    <a:bodyPr/>
                    <a:lstStyle/>
                    <a:p>
                      <a:r>
                        <a:rPr lang="en-US" dirty="0"/>
                        <a:t>2 BHK	</a:t>
                      </a:r>
                    </a:p>
                  </a:txBody>
                  <a:tcPr/>
                </a:tc>
                <a:tc>
                  <a:txBody>
                    <a:bodyPr/>
                    <a:lstStyle/>
                    <a:p>
                      <a:pPr algn="r"/>
                      <a:r>
                        <a:rPr lang="en-US" dirty="0"/>
                        <a:t>5-7 days</a:t>
                      </a:r>
                      <a:endParaRPr lang="en-IN" dirty="0"/>
                    </a:p>
                  </a:txBody>
                  <a:tcPr/>
                </a:tc>
                <a:extLst>
                  <a:ext uri="{0D108BD9-81ED-4DB2-BD59-A6C34878D82A}">
                    <a16:rowId xmlns:a16="http://schemas.microsoft.com/office/drawing/2014/main" val="627021299"/>
                  </a:ext>
                </a:extLst>
              </a:tr>
              <a:tr h="350203">
                <a:tc>
                  <a:txBody>
                    <a:bodyPr/>
                    <a:lstStyle/>
                    <a:p>
                      <a:r>
                        <a:rPr lang="en-US" dirty="0"/>
                        <a:t>3 BHK	</a:t>
                      </a:r>
                    </a:p>
                  </a:txBody>
                  <a:tcPr/>
                </a:tc>
                <a:tc>
                  <a:txBody>
                    <a:bodyPr/>
                    <a:lstStyle/>
                    <a:p>
                      <a:pPr algn="r"/>
                      <a:r>
                        <a:rPr lang="en-US" dirty="0"/>
                        <a:t>7-10 days</a:t>
                      </a:r>
                      <a:endParaRPr lang="en-IN" dirty="0"/>
                    </a:p>
                  </a:txBody>
                  <a:tcPr/>
                </a:tc>
                <a:extLst>
                  <a:ext uri="{0D108BD9-81ED-4DB2-BD59-A6C34878D82A}">
                    <a16:rowId xmlns:a16="http://schemas.microsoft.com/office/drawing/2014/main" val="693555495"/>
                  </a:ext>
                </a:extLst>
              </a:tr>
              <a:tr h="3502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 BHK	</a:t>
                      </a:r>
                    </a:p>
                  </a:txBody>
                  <a:tcPr/>
                </a:tc>
                <a:tc>
                  <a:txBody>
                    <a:bodyPr/>
                    <a:lstStyle/>
                    <a:p>
                      <a:pPr algn="r"/>
                      <a:r>
                        <a:rPr lang="en-US" dirty="0"/>
                        <a:t>10-20 days</a:t>
                      </a:r>
                      <a:endParaRPr lang="en-IN" dirty="0"/>
                    </a:p>
                  </a:txBody>
                  <a:tcPr/>
                </a:tc>
                <a:extLst>
                  <a:ext uri="{0D108BD9-81ED-4DB2-BD59-A6C34878D82A}">
                    <a16:rowId xmlns:a16="http://schemas.microsoft.com/office/drawing/2014/main" val="1256663782"/>
                  </a:ext>
                </a:extLst>
              </a:tr>
              <a:tr h="3502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LUXURY VILLA &amp; HIGH END DESIGN</a:t>
                      </a:r>
                    </a:p>
                  </a:txBody>
                  <a:tcPr/>
                </a:tc>
                <a:tc>
                  <a:txBody>
                    <a:bodyPr/>
                    <a:lstStyle/>
                    <a:p>
                      <a:pPr algn="r"/>
                      <a:r>
                        <a:rPr lang="en-US" dirty="0"/>
                        <a:t>30 days</a:t>
                      </a:r>
                      <a:endParaRPr lang="en-IN" dirty="0"/>
                    </a:p>
                  </a:txBody>
                  <a:tcPr/>
                </a:tc>
                <a:extLst>
                  <a:ext uri="{0D108BD9-81ED-4DB2-BD59-A6C34878D82A}">
                    <a16:rowId xmlns:a16="http://schemas.microsoft.com/office/drawing/2014/main" val="3896094504"/>
                  </a:ext>
                </a:extLst>
              </a:tr>
            </a:tbl>
          </a:graphicData>
        </a:graphic>
      </p:graphicFrame>
      <p:sp>
        <p:nvSpPr>
          <p:cNvPr id="5" name="Slide Number Placeholder 4">
            <a:extLst>
              <a:ext uri="{FF2B5EF4-FFF2-40B4-BE49-F238E27FC236}">
                <a16:creationId xmlns:a16="http://schemas.microsoft.com/office/drawing/2014/main" id="{10849BF8-7ECE-40AF-933F-228C0DC6E4FD}"/>
              </a:ext>
            </a:extLst>
          </p:cNvPr>
          <p:cNvSpPr>
            <a:spLocks noGrp="1"/>
          </p:cNvSpPr>
          <p:nvPr>
            <p:ph type="sldNum" sz="quarter" idx="12"/>
          </p:nvPr>
        </p:nvSpPr>
        <p:spPr/>
        <p:txBody>
          <a:bodyPr/>
          <a:lstStyle/>
          <a:p>
            <a:fld id="{B6F15528-21DE-4FAA-801E-634DDDAF4B2B}" type="slidenum">
              <a:rPr lang="en-US" smtClean="0"/>
              <a:pPr/>
              <a:t>22</a:t>
            </a:fld>
            <a:endParaRPr lang="en-US"/>
          </a:p>
        </p:txBody>
      </p:sp>
      <p:sp>
        <p:nvSpPr>
          <p:cNvPr id="6" name="Footer Placeholder 5">
            <a:extLst>
              <a:ext uri="{FF2B5EF4-FFF2-40B4-BE49-F238E27FC236}">
                <a16:creationId xmlns:a16="http://schemas.microsoft.com/office/drawing/2014/main" id="{554F4470-BC31-435D-B3A7-8679D2AEC770}"/>
              </a:ext>
            </a:extLst>
          </p:cNvPr>
          <p:cNvSpPr>
            <a:spLocks noGrp="1"/>
          </p:cNvSpPr>
          <p:nvPr>
            <p:ph type="ftr" sz="quarter" idx="11"/>
          </p:nvPr>
        </p:nvSpPr>
        <p:spPr/>
        <p:txBody>
          <a:bodyPr/>
          <a:lstStyle/>
          <a:p>
            <a:r>
              <a:rPr lang="en-US"/>
              <a:t>Mr. Aravindan | Individual Villa Adyar | 7418414780</a:t>
            </a:r>
          </a:p>
        </p:txBody>
      </p:sp>
    </p:spTree>
    <p:extLst>
      <p:ext uri="{BB962C8B-B14F-4D97-AF65-F5344CB8AC3E}">
        <p14:creationId xmlns:p14="http://schemas.microsoft.com/office/powerpoint/2010/main" val="39880777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BCEC20-54F1-4C26-B262-F231CD305DAE}"/>
              </a:ext>
            </a:extLst>
          </p:cNvPr>
          <p:cNvSpPr/>
          <p:nvPr/>
        </p:nvSpPr>
        <p:spPr>
          <a:xfrm>
            <a:off x="679450" y="1231900"/>
            <a:ext cx="8686800" cy="12095619"/>
          </a:xfrm>
          <a:prstGeom prst="rect">
            <a:avLst/>
          </a:prstGeom>
        </p:spPr>
        <p:txBody>
          <a:bodyPr wrap="square">
            <a:spAutoFit/>
          </a:bodyPr>
          <a:lstStyle/>
          <a:p>
            <a:r>
              <a:rPr lang="en-US" sz="2400" b="1" dirty="0">
                <a:solidFill>
                  <a:srgbClr val="C00000"/>
                </a:solidFill>
              </a:rPr>
              <a:t>EXECUTION PROCESS AND TIMELINES</a:t>
            </a:r>
          </a:p>
          <a:p>
            <a:endParaRPr lang="en-US" b="1" dirty="0">
              <a:solidFill>
                <a:srgbClr val="C00000"/>
              </a:solidFill>
            </a:endParaRPr>
          </a:p>
          <a:p>
            <a:pPr algn="just"/>
            <a:r>
              <a:rPr lang="en-US" dirty="0"/>
              <a:t>A structured design journey covering concept development, material selection, 3D visualization, and final approvals. Each stage is planned with clear timelines ensuring smooth execution and timely project delivery.</a:t>
            </a:r>
          </a:p>
          <a:p>
            <a:pPr algn="just"/>
            <a:endParaRPr lang="en-US" dirty="0"/>
          </a:p>
          <a:p>
            <a:pPr algn="just"/>
            <a:r>
              <a:rPr lang="en-US" b="1" dirty="0"/>
              <a:t>1.Commencement of Execution</a:t>
            </a:r>
          </a:p>
          <a:p>
            <a:pPr algn="just"/>
            <a:r>
              <a:rPr lang="en-US" dirty="0"/>
              <a:t>Following Design Sign-Off, the approved drawings and specifications will be released for production. As all design selections and project requirements are finalized at this stage, no further changes will be permitted once manufacturing begins. Any exceptional requests may be subject to additional costs and timeline revisions.</a:t>
            </a:r>
          </a:p>
          <a:p>
            <a:pPr algn="just"/>
            <a:endParaRPr lang="en-US" dirty="0"/>
          </a:p>
          <a:p>
            <a:pPr algn="just"/>
            <a:r>
              <a:rPr lang="en-US" b="1" dirty="0"/>
              <a:t>2.Production &amp; Quality Checking Process</a:t>
            </a:r>
          </a:p>
          <a:p>
            <a:pPr algn="just"/>
            <a:r>
              <a:rPr lang="en-US" dirty="0"/>
              <a:t>The production phase is scheduled for 45 working days, Which will be followed by a detailed Quality Control (QC) inspection. If any rework is required to meet approved quality standards, an additional 7 working days may be necessary for rectification and final approval.</a:t>
            </a:r>
          </a:p>
          <a:p>
            <a:pPr algn="just"/>
            <a:r>
              <a:rPr lang="en-US" dirty="0"/>
              <a:t>A 40% payment is due upon QC clearance and before material dispatch to the project site.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just"/>
            <a:r>
              <a:rPr lang="en-US" b="1" dirty="0"/>
              <a:t>3.Installation Timelines</a:t>
            </a:r>
          </a:p>
          <a:p>
            <a:pPr algn="just"/>
            <a:r>
              <a:rPr lang="en-US" dirty="0"/>
              <a:t>Installation begins upon successful delivery of materials to the project site and may vary based on project scope and site readiness. Timelines are subject to uninterrupted site access, civil readiness, utility availability, and timely client approvals.</a:t>
            </a:r>
          </a:p>
          <a:p>
            <a:pPr algn="just"/>
            <a:endParaRPr lang="en-US" dirty="0"/>
          </a:p>
          <a:p>
            <a:pPr algn="just"/>
            <a:r>
              <a:rPr lang="en-US" b="1" dirty="0"/>
              <a:t>4.Project Monitoring, Walkthrough &amp; Quality Inspection</a:t>
            </a:r>
          </a:p>
          <a:p>
            <a:pPr algn="just"/>
            <a:r>
              <a:rPr lang="en-US" dirty="0"/>
              <a:t>A dedicated Application Engineer (AE) will be assigned to oversee the execution and installation process.</a:t>
            </a:r>
          </a:p>
          <a:p>
            <a:pPr algn="just"/>
            <a:endParaRPr lang="en-US" dirty="0"/>
          </a:p>
          <a:p>
            <a:pPr algn="just"/>
            <a:r>
              <a:rPr lang="en-US" dirty="0"/>
              <a:t>The Application Engineer (AE) will be responsible for:</a:t>
            </a:r>
          </a:p>
          <a:p>
            <a:pPr algn="just"/>
            <a:r>
              <a:rPr lang="en-US" dirty="0"/>
              <a:t>	I. Regular Site </a:t>
            </a:r>
            <a:r>
              <a:rPr lang="en-US" b="1" dirty="0"/>
              <a:t>Inspections</a:t>
            </a:r>
            <a:r>
              <a:rPr lang="en-US" dirty="0"/>
              <a:t> &amp; Monitoring</a:t>
            </a:r>
          </a:p>
          <a:p>
            <a:pPr algn="just"/>
            <a:r>
              <a:rPr lang="en-US" dirty="0"/>
              <a:t>	II. Daily Site </a:t>
            </a:r>
            <a:r>
              <a:rPr lang="en-US" b="1" dirty="0"/>
              <a:t>Updates</a:t>
            </a:r>
            <a:r>
              <a:rPr lang="en-US" dirty="0"/>
              <a:t> &amp; Coordination</a:t>
            </a:r>
          </a:p>
          <a:p>
            <a:pPr algn="just"/>
            <a:r>
              <a:rPr lang="en-US" dirty="0"/>
              <a:t>	III. Weekly </a:t>
            </a:r>
            <a:r>
              <a:rPr lang="en-US" b="1" dirty="0"/>
              <a:t>Progress</a:t>
            </a:r>
            <a:r>
              <a:rPr lang="en-US" dirty="0"/>
              <a:t> Reports</a:t>
            </a:r>
          </a:p>
          <a:p>
            <a:pPr algn="just"/>
            <a:r>
              <a:rPr lang="en-US" dirty="0"/>
              <a:t>	IV. </a:t>
            </a:r>
            <a:r>
              <a:rPr lang="en-US" b="1" dirty="0"/>
              <a:t>Quality</a:t>
            </a:r>
            <a:r>
              <a:rPr lang="en-US" dirty="0"/>
              <a:t> Checks During Execution</a:t>
            </a:r>
          </a:p>
          <a:p>
            <a:pPr algn="just"/>
            <a:r>
              <a:rPr lang="en-US" dirty="0"/>
              <a:t>	V. Final Project Inspection, </a:t>
            </a:r>
            <a:r>
              <a:rPr lang="en-US" b="1" dirty="0"/>
              <a:t>Snag List </a:t>
            </a:r>
            <a:r>
              <a:rPr lang="en-US" dirty="0"/>
              <a:t> &amp; Walkthrough</a:t>
            </a:r>
          </a:p>
          <a:p>
            <a:pPr algn="just"/>
            <a:r>
              <a:rPr lang="en-US" dirty="0"/>
              <a:t>	VI. Completion Report &amp; </a:t>
            </a:r>
            <a:r>
              <a:rPr lang="en-US" b="1" dirty="0"/>
              <a:t>Handover</a:t>
            </a:r>
            <a:r>
              <a:rPr lang="en-US" dirty="0"/>
              <a:t> Documentation</a:t>
            </a:r>
          </a:p>
        </p:txBody>
      </p:sp>
      <p:graphicFrame>
        <p:nvGraphicFramePr>
          <p:cNvPr id="3" name="Table 2">
            <a:extLst>
              <a:ext uri="{FF2B5EF4-FFF2-40B4-BE49-F238E27FC236}">
                <a16:creationId xmlns:a16="http://schemas.microsoft.com/office/drawing/2014/main" id="{A47EF663-BFFD-46F6-97BB-3B4BF3351D55}"/>
              </a:ext>
            </a:extLst>
          </p:cNvPr>
          <p:cNvGraphicFramePr>
            <a:graphicFrameLocks noGrp="1"/>
          </p:cNvGraphicFramePr>
          <p:nvPr>
            <p:extLst>
              <p:ext uri="{D42A27DB-BD31-4B8C-83A1-F6EECF244321}">
                <p14:modId xmlns:p14="http://schemas.microsoft.com/office/powerpoint/2010/main" val="863371660"/>
              </p:ext>
            </p:extLst>
          </p:nvPr>
        </p:nvGraphicFramePr>
        <p:xfrm>
          <a:off x="946150" y="6565900"/>
          <a:ext cx="8153400" cy="1828800"/>
        </p:xfrm>
        <a:graphic>
          <a:graphicData uri="http://schemas.openxmlformats.org/drawingml/2006/table">
            <a:tbl>
              <a:tblPr firstRow="1" bandRow="1">
                <a:tableStyleId>{D27102A9-8310-4765-A935-A1911B00CA55}</a:tableStyleId>
              </a:tblPr>
              <a:tblGrid>
                <a:gridCol w="4076700">
                  <a:extLst>
                    <a:ext uri="{9D8B030D-6E8A-4147-A177-3AD203B41FA5}">
                      <a16:colId xmlns:a16="http://schemas.microsoft.com/office/drawing/2014/main" val="2939760543"/>
                    </a:ext>
                  </a:extLst>
                </a:gridCol>
                <a:gridCol w="4076700">
                  <a:extLst>
                    <a:ext uri="{9D8B030D-6E8A-4147-A177-3AD203B41FA5}">
                      <a16:colId xmlns:a16="http://schemas.microsoft.com/office/drawing/2014/main" val="2360766810"/>
                    </a:ext>
                  </a:extLst>
                </a:gridCol>
              </a:tblGrid>
              <a:tr h="304800">
                <a:tc>
                  <a:txBody>
                    <a:bodyPr/>
                    <a:lstStyle/>
                    <a:p>
                      <a:r>
                        <a:rPr lang="en-US" sz="1800" dirty="0"/>
                        <a:t>VARIANTS</a:t>
                      </a:r>
                      <a:endParaRPr lang="en-IN" sz="1800" dirty="0"/>
                    </a:p>
                  </a:txBody>
                  <a:tcPr/>
                </a:tc>
                <a:tc>
                  <a:txBody>
                    <a:bodyPr/>
                    <a:lstStyle/>
                    <a:p>
                      <a:pPr algn="r"/>
                      <a:r>
                        <a:rPr lang="en-US" sz="1800" dirty="0"/>
                        <a:t>Estimated Timeline</a:t>
                      </a:r>
                    </a:p>
                  </a:txBody>
                  <a:tcPr/>
                </a:tc>
                <a:extLst>
                  <a:ext uri="{0D108BD9-81ED-4DB2-BD59-A6C34878D82A}">
                    <a16:rowId xmlns:a16="http://schemas.microsoft.com/office/drawing/2014/main" val="597569307"/>
                  </a:ext>
                </a:extLst>
              </a:tr>
              <a:tr h="304800">
                <a:tc>
                  <a:txBody>
                    <a:bodyPr/>
                    <a:lstStyle/>
                    <a:p>
                      <a:r>
                        <a:rPr lang="en-US" sz="1800" dirty="0"/>
                        <a:t>SURABHI LL ELITE</a:t>
                      </a:r>
                    </a:p>
                  </a:txBody>
                  <a:tcPr/>
                </a:tc>
                <a:tc>
                  <a:txBody>
                    <a:bodyPr/>
                    <a:lstStyle/>
                    <a:p>
                      <a:pPr algn="r"/>
                      <a:r>
                        <a:rPr lang="en-US" sz="1800" dirty="0"/>
                        <a:t>15 Working Days</a:t>
                      </a:r>
                      <a:endParaRPr lang="en-IN" sz="1800" dirty="0"/>
                    </a:p>
                  </a:txBody>
                  <a:tcPr/>
                </a:tc>
                <a:extLst>
                  <a:ext uri="{0D108BD9-81ED-4DB2-BD59-A6C34878D82A}">
                    <a16:rowId xmlns:a16="http://schemas.microsoft.com/office/drawing/2014/main" val="627021299"/>
                  </a:ext>
                </a:extLst>
              </a:tr>
              <a:tr h="304800">
                <a:tc>
                  <a:txBody>
                    <a:bodyPr/>
                    <a:lstStyle/>
                    <a:p>
                      <a:r>
                        <a:rPr lang="en-US" sz="1800" dirty="0"/>
                        <a:t>CAPRICOAST VARIANTS</a:t>
                      </a:r>
                    </a:p>
                  </a:txBody>
                  <a:tcPr/>
                </a:tc>
                <a:tc>
                  <a:txBody>
                    <a:bodyPr/>
                    <a:lstStyle/>
                    <a:p>
                      <a:pPr algn="r"/>
                      <a:r>
                        <a:rPr lang="en-US" sz="1800" dirty="0"/>
                        <a:t>30 Working Days</a:t>
                      </a:r>
                      <a:endParaRPr lang="en-IN" sz="1800" dirty="0"/>
                    </a:p>
                  </a:txBody>
                  <a:tcPr/>
                </a:tc>
                <a:extLst>
                  <a:ext uri="{0D108BD9-81ED-4DB2-BD59-A6C34878D82A}">
                    <a16:rowId xmlns:a16="http://schemas.microsoft.com/office/drawing/2014/main" val="693555495"/>
                  </a:ext>
                </a:extLst>
              </a:tr>
              <a:tr h="3048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SURABHI / MR+ &amp;VENEER</a:t>
                      </a:r>
                    </a:p>
                  </a:txBody>
                  <a:tcPr/>
                </a:tc>
                <a:tc>
                  <a:txBody>
                    <a:bodyPr/>
                    <a:lstStyle/>
                    <a:p>
                      <a:pPr algn="r"/>
                      <a:r>
                        <a:rPr lang="en-US" sz="1800" dirty="0"/>
                        <a:t>45 Working Days</a:t>
                      </a:r>
                    </a:p>
                  </a:txBody>
                  <a:tcPr/>
                </a:tc>
                <a:extLst>
                  <a:ext uri="{0D108BD9-81ED-4DB2-BD59-A6C34878D82A}">
                    <a16:rowId xmlns:a16="http://schemas.microsoft.com/office/drawing/2014/main" val="1256663782"/>
                  </a:ext>
                </a:extLst>
              </a:tr>
              <a:tr h="3048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TRADITIONAL / VANITY / IRIS</a:t>
                      </a:r>
                    </a:p>
                  </a:txBody>
                  <a:tcPr/>
                </a:tc>
                <a:tc>
                  <a:txBody>
                    <a:bodyPr/>
                    <a:lstStyle/>
                    <a:p>
                      <a:pPr algn="r"/>
                      <a:r>
                        <a:rPr lang="en-US" sz="1800" dirty="0"/>
                        <a:t>60 Working Days</a:t>
                      </a:r>
                    </a:p>
                  </a:txBody>
                  <a:tcPr/>
                </a:tc>
                <a:extLst>
                  <a:ext uri="{0D108BD9-81ED-4DB2-BD59-A6C34878D82A}">
                    <a16:rowId xmlns:a16="http://schemas.microsoft.com/office/drawing/2014/main" val="3368115398"/>
                  </a:ext>
                </a:extLst>
              </a:tr>
            </a:tbl>
          </a:graphicData>
        </a:graphic>
      </p:graphicFrame>
      <p:sp>
        <p:nvSpPr>
          <p:cNvPr id="5" name="Slide Number Placeholder 4">
            <a:extLst>
              <a:ext uri="{FF2B5EF4-FFF2-40B4-BE49-F238E27FC236}">
                <a16:creationId xmlns:a16="http://schemas.microsoft.com/office/drawing/2014/main" id="{1BB5ED44-6C06-4184-A820-505333A9DCDC}"/>
              </a:ext>
            </a:extLst>
          </p:cNvPr>
          <p:cNvSpPr>
            <a:spLocks noGrp="1"/>
          </p:cNvSpPr>
          <p:nvPr>
            <p:ph type="sldNum" sz="quarter" idx="12"/>
          </p:nvPr>
        </p:nvSpPr>
        <p:spPr/>
        <p:txBody>
          <a:bodyPr/>
          <a:lstStyle/>
          <a:p>
            <a:fld id="{B6F15528-21DE-4FAA-801E-634DDDAF4B2B}" type="slidenum">
              <a:rPr lang="en-US" smtClean="0"/>
              <a:pPr/>
              <a:t>23</a:t>
            </a:fld>
            <a:endParaRPr lang="en-US"/>
          </a:p>
        </p:txBody>
      </p:sp>
      <p:sp>
        <p:nvSpPr>
          <p:cNvPr id="6" name="Footer Placeholder 5">
            <a:extLst>
              <a:ext uri="{FF2B5EF4-FFF2-40B4-BE49-F238E27FC236}">
                <a16:creationId xmlns:a16="http://schemas.microsoft.com/office/drawing/2014/main" id="{FF730541-307C-4F05-8E6E-B1E314318ED2}"/>
              </a:ext>
            </a:extLst>
          </p:cNvPr>
          <p:cNvSpPr>
            <a:spLocks noGrp="1"/>
          </p:cNvSpPr>
          <p:nvPr>
            <p:ph type="ftr" sz="quarter" idx="11"/>
          </p:nvPr>
        </p:nvSpPr>
        <p:spPr/>
        <p:txBody>
          <a:bodyPr/>
          <a:lstStyle/>
          <a:p>
            <a:r>
              <a:rPr lang="en-US"/>
              <a:t>Mr. Aravindan | Individual Villa Adyar | 7418414780</a:t>
            </a:r>
          </a:p>
        </p:txBody>
      </p:sp>
    </p:spTree>
    <p:extLst>
      <p:ext uri="{BB962C8B-B14F-4D97-AF65-F5344CB8AC3E}">
        <p14:creationId xmlns:p14="http://schemas.microsoft.com/office/powerpoint/2010/main" val="22490009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BCEC20-54F1-4C26-B262-F231CD305DAE}"/>
              </a:ext>
            </a:extLst>
          </p:cNvPr>
          <p:cNvSpPr/>
          <p:nvPr/>
        </p:nvSpPr>
        <p:spPr>
          <a:xfrm>
            <a:off x="609600" y="950976"/>
            <a:ext cx="5029200" cy="461665"/>
          </a:xfrm>
          <a:prstGeom prst="rect">
            <a:avLst/>
          </a:prstGeom>
        </p:spPr>
        <p:txBody>
          <a:bodyPr wrap="square">
            <a:spAutoFit/>
          </a:bodyPr>
          <a:lstStyle/>
          <a:p>
            <a:r>
              <a:rPr lang="en-US" sz="2400" b="1" dirty="0">
                <a:solidFill>
                  <a:srgbClr val="C00000"/>
                </a:solidFill>
              </a:rPr>
              <a:t>INCLUSION &amp; EXCLUSION POLICY</a:t>
            </a:r>
          </a:p>
        </p:txBody>
      </p:sp>
      <p:graphicFrame>
        <p:nvGraphicFramePr>
          <p:cNvPr id="5" name="Table 4">
            <a:extLst>
              <a:ext uri="{FF2B5EF4-FFF2-40B4-BE49-F238E27FC236}">
                <a16:creationId xmlns:a16="http://schemas.microsoft.com/office/drawing/2014/main" id="{284A1ACA-A239-4083-A6CA-B583E5D009FE}"/>
              </a:ext>
            </a:extLst>
          </p:cNvPr>
          <p:cNvGraphicFramePr>
            <a:graphicFrameLocks noGrp="1"/>
          </p:cNvGraphicFramePr>
          <p:nvPr>
            <p:extLst>
              <p:ext uri="{D42A27DB-BD31-4B8C-83A1-F6EECF244321}">
                <p14:modId xmlns:p14="http://schemas.microsoft.com/office/powerpoint/2010/main" val="1767678681"/>
              </p:ext>
            </p:extLst>
          </p:nvPr>
        </p:nvGraphicFramePr>
        <p:xfrm>
          <a:off x="679450" y="1536700"/>
          <a:ext cx="8839200" cy="11277602"/>
        </p:xfrm>
        <a:graphic>
          <a:graphicData uri="http://schemas.openxmlformats.org/drawingml/2006/table">
            <a:tbl>
              <a:tblPr firstRow="1" firstCol="1" bandRow="1">
                <a:tableStyleId>{D27102A9-8310-4765-A935-A1911B00CA55}</a:tableStyleId>
              </a:tblPr>
              <a:tblGrid>
                <a:gridCol w="4109453">
                  <a:extLst>
                    <a:ext uri="{9D8B030D-6E8A-4147-A177-3AD203B41FA5}">
                      <a16:colId xmlns:a16="http://schemas.microsoft.com/office/drawing/2014/main" val="864013631"/>
                    </a:ext>
                  </a:extLst>
                </a:gridCol>
                <a:gridCol w="4729747">
                  <a:extLst>
                    <a:ext uri="{9D8B030D-6E8A-4147-A177-3AD203B41FA5}">
                      <a16:colId xmlns:a16="http://schemas.microsoft.com/office/drawing/2014/main" val="2255826268"/>
                    </a:ext>
                  </a:extLst>
                </a:gridCol>
              </a:tblGrid>
              <a:tr h="571960">
                <a:tc>
                  <a:txBody>
                    <a:bodyPr/>
                    <a:lstStyle/>
                    <a:p>
                      <a:pPr algn="just">
                        <a:lnSpc>
                          <a:spcPct val="115000"/>
                        </a:lnSpc>
                        <a:spcAft>
                          <a:spcPts val="0"/>
                        </a:spcAft>
                      </a:pPr>
                      <a:r>
                        <a:rPr lang="en-IN" sz="2000" kern="100" dirty="0">
                          <a:effectLst/>
                        </a:rPr>
                        <a:t>INCLUDED IN SCOPE	</a:t>
                      </a:r>
                      <a:endParaRPr lang="en-IN" sz="200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IN" sz="2000" kern="100" dirty="0">
                          <a:effectLst/>
                        </a:rPr>
                        <a:t>EXCLUDED / CHARGED EXTRA</a:t>
                      </a:r>
                      <a:endParaRPr lang="en-IN" sz="2000" kern="1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47490633"/>
                  </a:ext>
                </a:extLst>
              </a:tr>
              <a:tr h="889353">
                <a:tc>
                  <a:txBody>
                    <a:bodyPr/>
                    <a:lstStyle/>
                    <a:p>
                      <a:pPr marL="76200" algn="l">
                        <a:lnSpc>
                          <a:spcPts val="2280"/>
                        </a:lnSpc>
                        <a:spcBef>
                          <a:spcPts val="20"/>
                        </a:spcBef>
                        <a:spcAft>
                          <a:spcPts val="0"/>
                        </a:spcAft>
                      </a:pPr>
                      <a:r>
                        <a:rPr lang="en-US" sz="2000" b="0" kern="100" dirty="0">
                          <a:effectLst/>
                        </a:rPr>
                        <a:t>Mirrors,</a:t>
                      </a:r>
                      <a:r>
                        <a:rPr lang="en-US" sz="2000" b="0" kern="100" spc="-60" dirty="0">
                          <a:effectLst/>
                        </a:rPr>
                        <a:t> </a:t>
                      </a:r>
                      <a:r>
                        <a:rPr lang="en-US" sz="2000" b="0" kern="100" dirty="0">
                          <a:effectLst/>
                        </a:rPr>
                        <a:t>handles,</a:t>
                      </a:r>
                      <a:r>
                        <a:rPr lang="en-US" sz="2000" b="0" kern="100" spc="-15" dirty="0">
                          <a:effectLst/>
                        </a:rPr>
                        <a:t> </a:t>
                      </a:r>
                      <a:r>
                        <a:rPr lang="en-US" sz="2000" b="0" kern="100" dirty="0">
                          <a:effectLst/>
                        </a:rPr>
                        <a:t>drawers,</a:t>
                      </a:r>
                      <a:r>
                        <a:rPr lang="en-US" sz="2000" b="0" kern="100" spc="-20" dirty="0">
                          <a:effectLst/>
                        </a:rPr>
                        <a:t> </a:t>
                      </a:r>
                      <a:r>
                        <a:rPr lang="en-US" sz="2000" b="0" kern="100" spc="-10" dirty="0">
                          <a:effectLst/>
                        </a:rPr>
                        <a:t>wardrobe </a:t>
                      </a:r>
                      <a:r>
                        <a:rPr lang="en-US" sz="2000" b="0" kern="100" dirty="0">
                          <a:effectLst/>
                        </a:rPr>
                        <a:t>locks,</a:t>
                      </a:r>
                      <a:r>
                        <a:rPr lang="en-US" sz="2000" b="0" kern="100" spc="-15" dirty="0">
                          <a:effectLst/>
                        </a:rPr>
                        <a:t> </a:t>
                      </a:r>
                      <a:r>
                        <a:rPr lang="en-US" sz="2000" b="0" kern="100" dirty="0">
                          <a:effectLst/>
                        </a:rPr>
                        <a:t>tower</a:t>
                      </a:r>
                      <a:r>
                        <a:rPr lang="en-US" sz="2000" b="0" kern="100" spc="-5" dirty="0">
                          <a:effectLst/>
                        </a:rPr>
                        <a:t> </a:t>
                      </a:r>
                      <a:r>
                        <a:rPr lang="en-US" sz="2000" b="0" kern="100" dirty="0">
                          <a:effectLst/>
                        </a:rPr>
                        <a:t>bolts,</a:t>
                      </a:r>
                      <a:r>
                        <a:rPr lang="en-US" sz="2000" b="0" kern="100" spc="-10" dirty="0">
                          <a:effectLst/>
                        </a:rPr>
                        <a:t> </a:t>
                      </a:r>
                      <a:r>
                        <a:rPr lang="en-US" sz="2000" b="0" kern="100" dirty="0">
                          <a:effectLst/>
                        </a:rPr>
                        <a:t>and</a:t>
                      </a:r>
                      <a:r>
                        <a:rPr lang="en-US" sz="2000" b="0" kern="100" spc="-10" dirty="0">
                          <a:effectLst/>
                        </a:rPr>
                        <a:t> skirting</a:t>
                      </a:r>
                      <a:endParaRPr lang="en-IN" sz="2000" b="0" kern="100" dirty="0">
                        <a:effectLst/>
                        <a:latin typeface="+mn-lt"/>
                        <a:ea typeface="Segoe UI Semibold" panose="020B0702040204020203" pitchFamily="34" charset="0"/>
                        <a:cs typeface="Times New Roman" panose="02020603050405020304" pitchFamily="18" charset="0"/>
                      </a:endParaRPr>
                    </a:p>
                  </a:txBody>
                  <a:tcPr marL="68580" marR="68580" marT="0" marB="0"/>
                </a:tc>
                <a:tc>
                  <a:txBody>
                    <a:bodyPr/>
                    <a:lstStyle/>
                    <a:p>
                      <a:pPr marL="76200" algn="r">
                        <a:lnSpc>
                          <a:spcPts val="2280"/>
                        </a:lnSpc>
                        <a:spcBef>
                          <a:spcPts val="20"/>
                        </a:spcBef>
                        <a:spcAft>
                          <a:spcPts val="0"/>
                        </a:spcAft>
                      </a:pPr>
                      <a:r>
                        <a:rPr lang="en-US" sz="2000" kern="100" dirty="0">
                          <a:effectLst/>
                        </a:rPr>
                        <a:t>Appliances,</a:t>
                      </a:r>
                      <a:r>
                        <a:rPr lang="en-US" sz="2000" kern="100" spc="-15" dirty="0">
                          <a:effectLst/>
                        </a:rPr>
                        <a:t> </a:t>
                      </a:r>
                      <a:r>
                        <a:rPr lang="en-US" sz="2000" kern="100" dirty="0">
                          <a:effectLst/>
                        </a:rPr>
                        <a:t>hob,</a:t>
                      </a:r>
                      <a:r>
                        <a:rPr lang="en-US" sz="2000" kern="100" spc="-10" dirty="0">
                          <a:effectLst/>
                        </a:rPr>
                        <a:t> </a:t>
                      </a:r>
                      <a:r>
                        <a:rPr lang="en-US" sz="2000" kern="100" dirty="0">
                          <a:effectLst/>
                        </a:rPr>
                        <a:t>chimney,</a:t>
                      </a:r>
                      <a:r>
                        <a:rPr lang="en-US" sz="2000" kern="100" spc="-10" dirty="0">
                          <a:effectLst/>
                        </a:rPr>
                        <a:t> </a:t>
                      </a:r>
                      <a:r>
                        <a:rPr lang="en-US" sz="2000" kern="100" dirty="0">
                          <a:effectLst/>
                        </a:rPr>
                        <a:t>sink,</a:t>
                      </a:r>
                      <a:r>
                        <a:rPr lang="en-US" sz="2000" kern="100" spc="-25" dirty="0">
                          <a:effectLst/>
                        </a:rPr>
                        <a:t> </a:t>
                      </a:r>
                      <a:r>
                        <a:rPr lang="en-US" sz="2000" kern="100" spc="-10" dirty="0">
                          <a:effectLst/>
                        </a:rPr>
                        <a:t>granite,</a:t>
                      </a:r>
                      <a:endParaRPr lang="en-IN" sz="2000" kern="100" dirty="0">
                        <a:effectLst/>
                      </a:endParaRPr>
                    </a:p>
                    <a:p>
                      <a:pPr algn="r">
                        <a:lnSpc>
                          <a:spcPct val="115000"/>
                        </a:lnSpc>
                        <a:spcAft>
                          <a:spcPts val="0"/>
                        </a:spcAft>
                      </a:pPr>
                      <a:r>
                        <a:rPr lang="en-IN" sz="2000" kern="100" dirty="0">
                          <a:effectLst/>
                        </a:rPr>
                        <a:t>dado </a:t>
                      </a:r>
                      <a:r>
                        <a:rPr lang="en-IN" sz="2000" kern="100" spc="-10" dirty="0">
                          <a:effectLst/>
                        </a:rPr>
                        <a:t>tiles</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08959524"/>
                  </a:ext>
                </a:extLst>
              </a:tr>
              <a:tr h="972877">
                <a:tc>
                  <a:txBody>
                    <a:bodyPr/>
                    <a:lstStyle/>
                    <a:p>
                      <a:pPr marL="76200" algn="l">
                        <a:lnSpc>
                          <a:spcPts val="2275"/>
                        </a:lnSpc>
                        <a:spcBef>
                          <a:spcPts val="120"/>
                        </a:spcBef>
                        <a:spcAft>
                          <a:spcPts val="0"/>
                        </a:spcAft>
                      </a:pPr>
                      <a:r>
                        <a:rPr lang="en-US" sz="2000" b="0" kern="100" dirty="0">
                          <a:effectLst/>
                        </a:rPr>
                        <a:t>Packing</a:t>
                      </a:r>
                      <a:r>
                        <a:rPr lang="en-US" sz="2000" b="0" kern="100" spc="-35" dirty="0">
                          <a:effectLst/>
                        </a:rPr>
                        <a:t> and Shipment </a:t>
                      </a:r>
                      <a:r>
                        <a:rPr lang="en-US" sz="2000" b="0" kern="100" dirty="0">
                          <a:effectLst/>
                        </a:rPr>
                        <a:t>charges are</a:t>
                      </a:r>
                      <a:r>
                        <a:rPr lang="en-US" sz="2000" b="0" kern="100" spc="-25" dirty="0">
                          <a:effectLst/>
                        </a:rPr>
                        <a:t> </a:t>
                      </a:r>
                      <a:r>
                        <a:rPr lang="en-US" sz="2000" b="0" kern="100" dirty="0">
                          <a:effectLst/>
                        </a:rPr>
                        <a:t>included</a:t>
                      </a:r>
                      <a:r>
                        <a:rPr lang="en-US" sz="2000" b="0" kern="100" spc="-15" dirty="0">
                          <a:effectLst/>
                        </a:rPr>
                        <a:t> </a:t>
                      </a:r>
                      <a:r>
                        <a:rPr lang="en-US" sz="2000" b="0" kern="100" dirty="0">
                          <a:effectLst/>
                        </a:rPr>
                        <a:t>Orders</a:t>
                      </a:r>
                      <a:r>
                        <a:rPr lang="en-US" sz="2000" b="0" kern="100" spc="-25" dirty="0">
                          <a:effectLst/>
                        </a:rPr>
                        <a:t> </a:t>
                      </a:r>
                      <a:r>
                        <a:rPr lang="en-US" sz="2000" b="0" kern="100" spc="-10" dirty="0">
                          <a:effectLst/>
                        </a:rPr>
                        <a:t>above </a:t>
                      </a:r>
                      <a:r>
                        <a:rPr lang="en-IN" sz="2000" b="0" kern="100" dirty="0">
                          <a:effectLst/>
                        </a:rPr>
                        <a:t>₹1.5</a:t>
                      </a:r>
                      <a:r>
                        <a:rPr lang="en-IN" sz="2000" b="0" kern="100" spc="-10" dirty="0">
                          <a:effectLst/>
                        </a:rPr>
                        <a:t> Lakh</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IN" sz="2000" kern="100" dirty="0">
                          <a:effectLst/>
                        </a:rPr>
                        <a:t>Demolition,</a:t>
                      </a:r>
                      <a:r>
                        <a:rPr lang="en-IN" sz="2000" kern="100" spc="-30" dirty="0">
                          <a:effectLst/>
                        </a:rPr>
                        <a:t> </a:t>
                      </a:r>
                      <a:r>
                        <a:rPr lang="en-IN" sz="2000" kern="100" dirty="0">
                          <a:effectLst/>
                        </a:rPr>
                        <a:t>civil</a:t>
                      </a:r>
                      <a:r>
                        <a:rPr lang="en-IN" sz="2000" kern="100" spc="-35" dirty="0">
                          <a:effectLst/>
                        </a:rPr>
                        <a:t> </a:t>
                      </a:r>
                      <a:r>
                        <a:rPr lang="en-IN" sz="2000" kern="100" dirty="0">
                          <a:effectLst/>
                        </a:rPr>
                        <a:t>works,</a:t>
                      </a:r>
                      <a:r>
                        <a:rPr lang="en-IN" sz="2000" kern="100" spc="-45" dirty="0">
                          <a:effectLst/>
                        </a:rPr>
                        <a:t> </a:t>
                      </a:r>
                      <a:r>
                        <a:rPr lang="en-IN" sz="2000" kern="100" dirty="0">
                          <a:effectLst/>
                        </a:rPr>
                        <a:t>electrical</a:t>
                      </a:r>
                      <a:r>
                        <a:rPr lang="en-IN" sz="2000" kern="100" spc="-35" dirty="0">
                          <a:effectLst/>
                        </a:rPr>
                        <a:t> </a:t>
                      </a:r>
                      <a:r>
                        <a:rPr lang="en-IN" sz="2000" kern="100" dirty="0">
                          <a:effectLst/>
                        </a:rPr>
                        <a:t>and plumbing works</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82911278"/>
                  </a:ext>
                </a:extLst>
              </a:tr>
              <a:tr h="972877">
                <a:tc>
                  <a:txBody>
                    <a:bodyPr/>
                    <a:lstStyle/>
                    <a:p>
                      <a:pPr algn="l">
                        <a:lnSpc>
                          <a:spcPct val="115000"/>
                        </a:lnSpc>
                        <a:spcAft>
                          <a:spcPts val="0"/>
                        </a:spcAft>
                      </a:pPr>
                      <a:r>
                        <a:rPr lang="en-IN" sz="2000" b="0" kern="100" dirty="0">
                          <a:effectLst/>
                        </a:rPr>
                        <a:t>Local</a:t>
                      </a:r>
                      <a:r>
                        <a:rPr lang="en-IN" sz="2000" b="0" kern="100" spc="-40" dirty="0">
                          <a:effectLst/>
                        </a:rPr>
                        <a:t> </a:t>
                      </a:r>
                      <a:r>
                        <a:rPr lang="en-IN" sz="2000" b="0" kern="100" dirty="0">
                          <a:effectLst/>
                        </a:rPr>
                        <a:t>transportation</a:t>
                      </a:r>
                      <a:r>
                        <a:rPr lang="en-IN" sz="2000" b="0" kern="100" spc="-50" dirty="0">
                          <a:effectLst/>
                        </a:rPr>
                        <a:t>, Loading and Unloading are </a:t>
                      </a:r>
                      <a:r>
                        <a:rPr lang="en-IN" sz="2000" b="0" kern="100" dirty="0">
                          <a:effectLst/>
                        </a:rPr>
                        <a:t>included</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IN" sz="2000" kern="100" dirty="0">
                          <a:effectLst/>
                        </a:rPr>
                        <a:t>Outstation</a:t>
                      </a:r>
                      <a:r>
                        <a:rPr lang="en-IN" sz="2000" kern="100" spc="-15" dirty="0">
                          <a:effectLst/>
                        </a:rPr>
                        <a:t> </a:t>
                      </a:r>
                      <a:r>
                        <a:rPr lang="en-IN" sz="2000" kern="100" dirty="0">
                          <a:effectLst/>
                        </a:rPr>
                        <a:t>transportation</a:t>
                      </a:r>
                      <a:r>
                        <a:rPr lang="en-IN" sz="2000" kern="100" spc="-30" dirty="0">
                          <a:effectLst/>
                        </a:rPr>
                        <a:t> </a:t>
                      </a:r>
                      <a:r>
                        <a:rPr lang="en-IN" sz="2000" kern="100" spc="-10" dirty="0">
                          <a:effectLst/>
                        </a:rPr>
                        <a:t>charges</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6330245"/>
                  </a:ext>
                </a:extLst>
              </a:tr>
              <a:tr h="972877">
                <a:tc>
                  <a:txBody>
                    <a:bodyPr/>
                    <a:lstStyle/>
                    <a:p>
                      <a:pPr algn="l">
                        <a:lnSpc>
                          <a:spcPct val="115000"/>
                        </a:lnSpc>
                        <a:spcAft>
                          <a:spcPts val="0"/>
                        </a:spcAft>
                      </a:pPr>
                      <a:r>
                        <a:rPr lang="en-IN" sz="2000" b="0" kern="100" dirty="0">
                          <a:effectLst/>
                        </a:rPr>
                        <a:t>Installation</a:t>
                      </a:r>
                      <a:r>
                        <a:rPr lang="en-IN" sz="2000" b="0" kern="100" spc="-25" dirty="0">
                          <a:effectLst/>
                        </a:rPr>
                        <a:t>, Alignment, Woodwork and Thinner Cleaning are </a:t>
                      </a:r>
                      <a:r>
                        <a:rPr lang="en-IN" sz="2000" b="0" kern="100" spc="-10" dirty="0">
                          <a:effectLst/>
                        </a:rPr>
                        <a:t>included</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IN" sz="2000" kern="100" dirty="0">
                          <a:effectLst/>
                        </a:rPr>
                        <a:t>Outstation</a:t>
                      </a:r>
                      <a:r>
                        <a:rPr lang="en-IN" sz="2000" kern="100" spc="-85" dirty="0">
                          <a:effectLst/>
                        </a:rPr>
                        <a:t> </a:t>
                      </a:r>
                      <a:r>
                        <a:rPr lang="en-IN" sz="2000" kern="100" dirty="0">
                          <a:effectLst/>
                        </a:rPr>
                        <a:t>labour,</a:t>
                      </a:r>
                      <a:r>
                        <a:rPr lang="en-IN" sz="2000" kern="100" spc="-90" dirty="0">
                          <a:effectLst/>
                        </a:rPr>
                        <a:t> </a:t>
                      </a:r>
                      <a:r>
                        <a:rPr lang="en-IN" sz="2000" kern="100" dirty="0">
                          <a:effectLst/>
                        </a:rPr>
                        <a:t>boarding </a:t>
                      </a:r>
                      <a:r>
                        <a:rPr lang="en-IN" sz="2000" kern="100" spc="-10" dirty="0">
                          <a:effectLst/>
                        </a:rPr>
                        <a:t>charges</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7725432"/>
                  </a:ext>
                </a:extLst>
              </a:tr>
              <a:tr h="972877">
                <a:tc>
                  <a:txBody>
                    <a:bodyPr/>
                    <a:lstStyle/>
                    <a:p>
                      <a:pPr algn="l">
                        <a:lnSpc>
                          <a:spcPct val="115000"/>
                        </a:lnSpc>
                        <a:spcAft>
                          <a:spcPts val="0"/>
                        </a:spcAft>
                      </a:pPr>
                      <a:r>
                        <a:rPr lang="en-IN" sz="2000" b="0" kern="100" dirty="0">
                          <a:effectLst/>
                        </a:rPr>
                        <a:t>Quality</a:t>
                      </a:r>
                      <a:r>
                        <a:rPr lang="en-IN" sz="2000" b="0" kern="100" spc="-10" dirty="0">
                          <a:effectLst/>
                        </a:rPr>
                        <a:t>  Control  and Inspection are included</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IN" sz="2000" kern="100" dirty="0">
                          <a:effectLst/>
                        </a:rPr>
                        <a:t>Bathroom</a:t>
                      </a:r>
                      <a:r>
                        <a:rPr lang="en-IN" sz="2000" kern="100" spc="-45" dirty="0">
                          <a:effectLst/>
                        </a:rPr>
                        <a:t> </a:t>
                      </a:r>
                      <a:r>
                        <a:rPr lang="en-IN" sz="2000" kern="100" dirty="0">
                          <a:effectLst/>
                        </a:rPr>
                        <a:t>utilities</a:t>
                      </a:r>
                      <a:r>
                        <a:rPr lang="en-IN" sz="2000" kern="100" spc="10" dirty="0">
                          <a:effectLst/>
                        </a:rPr>
                        <a:t> </a:t>
                      </a:r>
                      <a:r>
                        <a:rPr lang="en-IN" sz="2000" kern="100" dirty="0">
                          <a:effectLst/>
                        </a:rPr>
                        <a:t>and</a:t>
                      </a:r>
                      <a:r>
                        <a:rPr lang="en-IN" sz="2000" kern="100" spc="-20" dirty="0">
                          <a:effectLst/>
                        </a:rPr>
                        <a:t> </a:t>
                      </a:r>
                      <a:r>
                        <a:rPr lang="en-IN" sz="2000" kern="100" spc="-10" dirty="0">
                          <a:effectLst/>
                        </a:rPr>
                        <a:t>fittings</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77851574"/>
                  </a:ext>
                </a:extLst>
              </a:tr>
              <a:tr h="571960">
                <a:tc>
                  <a:txBody>
                    <a:bodyPr/>
                    <a:lstStyle/>
                    <a:p>
                      <a:pPr algn="l">
                        <a:lnSpc>
                          <a:spcPct val="115000"/>
                        </a:lnSpc>
                        <a:spcAft>
                          <a:spcPts val="0"/>
                        </a:spcAft>
                      </a:pPr>
                      <a:r>
                        <a:rPr lang="en-IN" sz="2000" b="0" kern="100" dirty="0">
                          <a:effectLst/>
                        </a:rPr>
                        <a:t>Project</a:t>
                      </a:r>
                      <a:r>
                        <a:rPr lang="en-IN" sz="2000" b="0" kern="100" spc="-30" dirty="0">
                          <a:effectLst/>
                        </a:rPr>
                        <a:t> </a:t>
                      </a:r>
                      <a:r>
                        <a:rPr lang="en-IN" sz="2000" b="0" kern="100" dirty="0">
                          <a:effectLst/>
                        </a:rPr>
                        <a:t>certification</a:t>
                      </a:r>
                      <a:r>
                        <a:rPr lang="en-IN" sz="2000" b="0" kern="100" spc="20" dirty="0">
                          <a:effectLst/>
                        </a:rPr>
                        <a:t> </a:t>
                      </a:r>
                      <a:r>
                        <a:rPr lang="en-IN" sz="2000" b="0" kern="100" spc="-10" dirty="0">
                          <a:effectLst/>
                        </a:rPr>
                        <a:t>included</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r" defTabSz="914400" rtl="0" eaLnBrk="1" fontAlgn="auto" latinLnBrk="0" hangingPunct="1">
                        <a:lnSpc>
                          <a:spcPct val="115000"/>
                        </a:lnSpc>
                        <a:spcBef>
                          <a:spcPts val="0"/>
                        </a:spcBef>
                        <a:spcAft>
                          <a:spcPts val="0"/>
                        </a:spcAft>
                        <a:buClrTx/>
                        <a:buSzTx/>
                        <a:buFontTx/>
                        <a:buNone/>
                        <a:tabLst/>
                        <a:defRPr/>
                      </a:pPr>
                      <a:r>
                        <a:rPr lang="en-IN" sz="2000" kern="100" dirty="0">
                          <a:effectLst/>
                        </a:rPr>
                        <a:t>GST</a:t>
                      </a:r>
                      <a:r>
                        <a:rPr lang="en-IN" sz="2000" kern="100" spc="-30" dirty="0">
                          <a:effectLst/>
                        </a:rPr>
                        <a:t> </a:t>
                      </a:r>
                      <a:r>
                        <a:rPr lang="en-IN" sz="2000" kern="100" dirty="0">
                          <a:effectLst/>
                        </a:rPr>
                        <a:t>as</a:t>
                      </a:r>
                      <a:r>
                        <a:rPr lang="en-IN" sz="2000" kern="100" spc="5" dirty="0">
                          <a:effectLst/>
                        </a:rPr>
                        <a:t> </a:t>
                      </a:r>
                      <a:r>
                        <a:rPr lang="en-IN" sz="2000" kern="100" spc="-10" dirty="0">
                          <a:effectLst/>
                        </a:rPr>
                        <a:t>applicable</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7800559"/>
                  </a:ext>
                </a:extLst>
              </a:tr>
              <a:tr h="972877">
                <a:tc>
                  <a:txBody>
                    <a:bodyPr/>
                    <a:lstStyle/>
                    <a:p>
                      <a:pPr algn="l">
                        <a:lnSpc>
                          <a:spcPct val="115000"/>
                        </a:lnSpc>
                        <a:spcAft>
                          <a:spcPts val="0"/>
                        </a:spcAft>
                      </a:pPr>
                      <a:r>
                        <a:rPr lang="en-IN" sz="2000" b="0" kern="100" dirty="0">
                          <a:effectLst/>
                        </a:rPr>
                        <a:t>No</a:t>
                      </a:r>
                      <a:r>
                        <a:rPr lang="en-IN" sz="2000" b="0" kern="100" spc="-65" dirty="0">
                          <a:effectLst/>
                        </a:rPr>
                        <a:t> </a:t>
                      </a:r>
                      <a:r>
                        <a:rPr lang="en-IN" sz="2000" b="0" kern="100" dirty="0">
                          <a:effectLst/>
                        </a:rPr>
                        <a:t>hidden</a:t>
                      </a:r>
                      <a:r>
                        <a:rPr lang="en-IN" sz="2000" b="0" kern="100" spc="-35" dirty="0">
                          <a:effectLst/>
                        </a:rPr>
                        <a:t> </a:t>
                      </a:r>
                      <a:r>
                        <a:rPr lang="en-IN" sz="2000" b="0" kern="100" dirty="0">
                          <a:effectLst/>
                        </a:rPr>
                        <a:t>charges</a:t>
                      </a:r>
                      <a:r>
                        <a:rPr lang="en-IN" sz="2000" b="0" kern="100" spc="-65" dirty="0">
                          <a:effectLst/>
                        </a:rPr>
                        <a:t> </a:t>
                      </a:r>
                      <a:r>
                        <a:rPr lang="en-IN" sz="2000" b="0" kern="100" dirty="0">
                          <a:effectLst/>
                        </a:rPr>
                        <a:t>within</a:t>
                      </a:r>
                      <a:r>
                        <a:rPr lang="en-IN" sz="2000" b="0" kern="100" spc="-30" dirty="0">
                          <a:effectLst/>
                        </a:rPr>
                        <a:t> </a:t>
                      </a:r>
                      <a:r>
                        <a:rPr lang="en-IN" sz="2000" b="0" kern="100" dirty="0">
                          <a:effectLst/>
                        </a:rPr>
                        <a:t>approved </a:t>
                      </a:r>
                      <a:r>
                        <a:rPr lang="en-IN" sz="2000" b="0" kern="100" spc="-10" dirty="0">
                          <a:effectLst/>
                        </a:rPr>
                        <a:t>scope</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IN" sz="2000" kern="100" dirty="0">
                          <a:effectLst/>
                        </a:rPr>
                        <a:t>Special</a:t>
                      </a:r>
                      <a:r>
                        <a:rPr lang="en-IN" sz="2000" kern="100" spc="-55" dirty="0">
                          <a:effectLst/>
                        </a:rPr>
                        <a:t> </a:t>
                      </a:r>
                      <a:r>
                        <a:rPr lang="en-IN" sz="2000" kern="100" dirty="0">
                          <a:effectLst/>
                        </a:rPr>
                        <a:t>handles</a:t>
                      </a:r>
                      <a:r>
                        <a:rPr lang="en-IN" sz="2000" kern="100" spc="-45" dirty="0">
                          <a:effectLst/>
                        </a:rPr>
                        <a:t> </a:t>
                      </a:r>
                      <a:r>
                        <a:rPr lang="en-IN" sz="2000" kern="100" dirty="0">
                          <a:effectLst/>
                        </a:rPr>
                        <a:t>and</a:t>
                      </a:r>
                      <a:r>
                        <a:rPr lang="en-IN" sz="2000" kern="100" spc="-60" dirty="0">
                          <a:effectLst/>
                        </a:rPr>
                        <a:t> </a:t>
                      </a:r>
                      <a:r>
                        <a:rPr lang="en-IN" sz="2000" kern="100" dirty="0">
                          <a:effectLst/>
                        </a:rPr>
                        <a:t>premium </a:t>
                      </a:r>
                      <a:r>
                        <a:rPr lang="en-IN" sz="2000" kern="100" spc="-10" dirty="0">
                          <a:effectLst/>
                        </a:rPr>
                        <a:t>accessories</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8519051"/>
                  </a:ext>
                </a:extLst>
              </a:tr>
              <a:tr h="972877">
                <a:tc>
                  <a:txBody>
                    <a:bodyPr/>
                    <a:lstStyle/>
                    <a:p>
                      <a:pPr algn="l">
                        <a:lnSpc>
                          <a:spcPct val="115000"/>
                        </a:lnSpc>
                        <a:spcAft>
                          <a:spcPts val="0"/>
                        </a:spcAft>
                      </a:pPr>
                      <a:r>
                        <a:rPr lang="en-IN" sz="2000" b="0" kern="100" dirty="0">
                          <a:effectLst/>
                        </a:rPr>
                        <a:t>Soft-close</a:t>
                      </a:r>
                      <a:r>
                        <a:rPr lang="en-IN" sz="2000" b="0" kern="100" spc="-60" dirty="0">
                          <a:effectLst/>
                        </a:rPr>
                        <a:t> </a:t>
                      </a:r>
                      <a:r>
                        <a:rPr lang="en-IN" sz="2000" b="0" kern="100" dirty="0">
                          <a:effectLst/>
                        </a:rPr>
                        <a:t>and</a:t>
                      </a:r>
                      <a:r>
                        <a:rPr lang="en-IN" sz="2000" b="0" kern="100" spc="-40" dirty="0">
                          <a:effectLst/>
                        </a:rPr>
                        <a:t> </a:t>
                      </a:r>
                      <a:r>
                        <a:rPr lang="en-IN" sz="2000" b="0" kern="100" dirty="0">
                          <a:effectLst/>
                        </a:rPr>
                        <a:t>auto-close</a:t>
                      </a:r>
                      <a:r>
                        <a:rPr lang="en-IN" sz="2000" b="0" kern="100" spc="-35" dirty="0">
                          <a:effectLst/>
                        </a:rPr>
                        <a:t> </a:t>
                      </a:r>
                      <a:r>
                        <a:rPr lang="en-IN" sz="2000" b="0" kern="100" dirty="0">
                          <a:effectLst/>
                        </a:rPr>
                        <a:t>hardware</a:t>
                      </a:r>
                      <a:r>
                        <a:rPr lang="en-IN" sz="2000" b="0" kern="100" spc="-50" dirty="0">
                          <a:effectLst/>
                        </a:rPr>
                        <a:t> </a:t>
                      </a:r>
                      <a:r>
                        <a:rPr lang="en-IN" sz="2000" b="0" kern="100" dirty="0">
                          <a:effectLst/>
                        </a:rPr>
                        <a:t>for eligible kitchen models</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IN" sz="2000" kern="100" dirty="0">
                          <a:effectLst/>
                        </a:rPr>
                        <a:t>Additional</a:t>
                      </a:r>
                      <a:r>
                        <a:rPr lang="en-IN" sz="2000" kern="100" spc="-55" dirty="0">
                          <a:effectLst/>
                        </a:rPr>
                        <a:t> </a:t>
                      </a:r>
                      <a:r>
                        <a:rPr lang="en-IN" sz="2000" kern="100" dirty="0">
                          <a:effectLst/>
                        </a:rPr>
                        <a:t>shelves</a:t>
                      </a:r>
                      <a:r>
                        <a:rPr lang="en-IN" sz="2000" kern="100" spc="-70" dirty="0">
                          <a:effectLst/>
                        </a:rPr>
                        <a:t> </a:t>
                      </a:r>
                      <a:r>
                        <a:rPr lang="en-IN" sz="2000" kern="100" dirty="0">
                          <a:effectLst/>
                        </a:rPr>
                        <a:t>beyond</a:t>
                      </a:r>
                      <a:r>
                        <a:rPr lang="en-IN" sz="2000" kern="100" spc="-80" dirty="0">
                          <a:effectLst/>
                        </a:rPr>
                        <a:t> </a:t>
                      </a:r>
                      <a:r>
                        <a:rPr lang="en-IN" sz="2000" kern="100" dirty="0">
                          <a:effectLst/>
                        </a:rPr>
                        <a:t>approved </a:t>
                      </a:r>
                      <a:r>
                        <a:rPr lang="en-IN" sz="2000" kern="100" spc="-10" dirty="0">
                          <a:effectLst/>
                        </a:rPr>
                        <a:t>design</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70318500"/>
                  </a:ext>
                </a:extLst>
              </a:tr>
              <a:tr h="889353">
                <a:tc>
                  <a:txBody>
                    <a:bodyPr/>
                    <a:lstStyle/>
                    <a:p>
                      <a:pPr marL="76200" algn="l">
                        <a:lnSpc>
                          <a:spcPts val="2280"/>
                        </a:lnSpc>
                        <a:spcBef>
                          <a:spcPts val="125"/>
                        </a:spcBef>
                        <a:spcAft>
                          <a:spcPts val="0"/>
                        </a:spcAft>
                      </a:pPr>
                      <a:r>
                        <a:rPr lang="en-US" sz="2000" b="0" kern="100" dirty="0">
                          <a:effectLst/>
                        </a:rPr>
                        <a:t>Standard</a:t>
                      </a:r>
                      <a:r>
                        <a:rPr lang="en-US" sz="2000" b="0" kern="100" spc="-55" dirty="0">
                          <a:effectLst/>
                        </a:rPr>
                        <a:t> </a:t>
                      </a:r>
                      <a:r>
                        <a:rPr lang="en-US" sz="2000" b="0" kern="100" dirty="0">
                          <a:effectLst/>
                        </a:rPr>
                        <a:t>hinges</a:t>
                      </a:r>
                      <a:r>
                        <a:rPr lang="en-US" sz="2000" b="0" kern="100" spc="-40" dirty="0">
                          <a:effectLst/>
                        </a:rPr>
                        <a:t> </a:t>
                      </a:r>
                      <a:r>
                        <a:rPr lang="en-US" sz="2000" b="0" kern="100" dirty="0">
                          <a:effectLst/>
                        </a:rPr>
                        <a:t>for</a:t>
                      </a:r>
                      <a:r>
                        <a:rPr lang="en-US" sz="2000" b="0" kern="100" spc="-45" dirty="0">
                          <a:effectLst/>
                        </a:rPr>
                        <a:t> </a:t>
                      </a:r>
                      <a:r>
                        <a:rPr lang="en-US" sz="2000" b="0" kern="100" dirty="0">
                          <a:effectLst/>
                        </a:rPr>
                        <a:t>wardrobes</a:t>
                      </a:r>
                      <a:r>
                        <a:rPr lang="en-US" sz="2000" b="0" kern="100" spc="-40" dirty="0">
                          <a:effectLst/>
                        </a:rPr>
                        <a:t> </a:t>
                      </a:r>
                      <a:r>
                        <a:rPr lang="en-US" sz="2000" b="0" kern="100" spc="-25" dirty="0">
                          <a:effectLst/>
                        </a:rPr>
                        <a:t>and</a:t>
                      </a:r>
                      <a:endParaRPr lang="en-IN" sz="2000" b="0" kern="100" dirty="0">
                        <a:effectLst/>
                      </a:endParaRPr>
                    </a:p>
                    <a:p>
                      <a:pPr algn="l">
                        <a:lnSpc>
                          <a:spcPct val="115000"/>
                        </a:lnSpc>
                        <a:spcAft>
                          <a:spcPts val="0"/>
                        </a:spcAft>
                      </a:pPr>
                      <a:r>
                        <a:rPr lang="en-IN" sz="2000" b="0" kern="100" dirty="0">
                          <a:effectLst/>
                        </a:rPr>
                        <a:t>other</a:t>
                      </a:r>
                      <a:r>
                        <a:rPr lang="en-IN" sz="2000" b="0" kern="100" spc="-15" dirty="0">
                          <a:effectLst/>
                        </a:rPr>
                        <a:t> </a:t>
                      </a:r>
                      <a:r>
                        <a:rPr lang="en-IN" sz="2000" b="0" kern="100" spc="-10" dirty="0">
                          <a:effectLst/>
                        </a:rPr>
                        <a:t>units</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76200" algn="r">
                        <a:lnSpc>
                          <a:spcPts val="2280"/>
                        </a:lnSpc>
                        <a:spcBef>
                          <a:spcPts val="125"/>
                        </a:spcBef>
                        <a:spcAft>
                          <a:spcPts val="0"/>
                        </a:spcAft>
                      </a:pPr>
                      <a:r>
                        <a:rPr lang="en-US" sz="2000" kern="100" dirty="0">
                          <a:effectLst/>
                        </a:rPr>
                        <a:t>Additional</a:t>
                      </a:r>
                      <a:r>
                        <a:rPr lang="en-US" sz="2000" kern="100" spc="-20" dirty="0">
                          <a:effectLst/>
                        </a:rPr>
                        <a:t> </a:t>
                      </a:r>
                      <a:r>
                        <a:rPr lang="en-US" sz="2000" kern="100" dirty="0">
                          <a:effectLst/>
                        </a:rPr>
                        <a:t>mirrors</a:t>
                      </a:r>
                      <a:r>
                        <a:rPr lang="en-US" sz="2000" kern="100" spc="-50" dirty="0">
                          <a:effectLst/>
                        </a:rPr>
                        <a:t> </a:t>
                      </a:r>
                      <a:r>
                        <a:rPr lang="en-US" sz="2000" kern="100" dirty="0">
                          <a:effectLst/>
                        </a:rPr>
                        <a:t>beyond</a:t>
                      </a:r>
                      <a:r>
                        <a:rPr lang="en-US" sz="2000" kern="100" spc="-25" dirty="0">
                          <a:effectLst/>
                        </a:rPr>
                        <a:t> </a:t>
                      </a:r>
                      <a:r>
                        <a:rPr lang="en-US" sz="2000" kern="100" spc="-10" dirty="0">
                          <a:effectLst/>
                        </a:rPr>
                        <a:t>approved</a:t>
                      </a:r>
                      <a:endParaRPr lang="en-IN" sz="2000" kern="100" dirty="0">
                        <a:effectLst/>
                      </a:endParaRPr>
                    </a:p>
                    <a:p>
                      <a:pPr algn="r">
                        <a:lnSpc>
                          <a:spcPct val="115000"/>
                        </a:lnSpc>
                        <a:spcAft>
                          <a:spcPts val="0"/>
                        </a:spcAft>
                      </a:pPr>
                      <a:r>
                        <a:rPr lang="en-IN" sz="2000" kern="100" spc="-10" dirty="0">
                          <a:effectLst/>
                        </a:rPr>
                        <a:t>scope</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01916119"/>
                  </a:ext>
                </a:extLst>
              </a:tr>
              <a:tr h="571960">
                <a:tc>
                  <a:txBody>
                    <a:bodyPr/>
                    <a:lstStyle/>
                    <a:p>
                      <a:pPr algn="l">
                        <a:lnSpc>
                          <a:spcPct val="115000"/>
                        </a:lnSpc>
                        <a:spcAft>
                          <a:spcPts val="0"/>
                        </a:spcAft>
                      </a:pPr>
                      <a:r>
                        <a:rPr lang="en-IN" sz="2000" b="0" kern="100" dirty="0">
                          <a:effectLst/>
                        </a:rPr>
                        <a:t>Wardrobe</a:t>
                      </a:r>
                      <a:r>
                        <a:rPr lang="en-IN" sz="2000" b="0" kern="100" spc="-70" dirty="0">
                          <a:effectLst/>
                        </a:rPr>
                        <a:t> </a:t>
                      </a:r>
                      <a:r>
                        <a:rPr lang="en-IN" sz="2000" b="0" kern="100" dirty="0">
                          <a:effectLst/>
                        </a:rPr>
                        <a:t>locks</a:t>
                      </a:r>
                      <a:r>
                        <a:rPr lang="en-IN" sz="2000" b="0" kern="100" spc="-55" dirty="0">
                          <a:effectLst/>
                        </a:rPr>
                        <a:t> </a:t>
                      </a:r>
                      <a:r>
                        <a:rPr lang="en-IN" sz="2000" b="0" kern="100" spc="-10" dirty="0">
                          <a:effectLst/>
                        </a:rPr>
                        <a:t>included</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IN" sz="2000" kern="100" dirty="0">
                          <a:effectLst/>
                        </a:rPr>
                        <a:t>Wall</a:t>
                      </a:r>
                      <a:r>
                        <a:rPr lang="en-IN" sz="2000" kern="100" spc="-40" dirty="0">
                          <a:effectLst/>
                        </a:rPr>
                        <a:t> </a:t>
                      </a:r>
                      <a:r>
                        <a:rPr lang="en-IN" sz="2000" kern="100" dirty="0">
                          <a:effectLst/>
                        </a:rPr>
                        <a:t>pelmets</a:t>
                      </a:r>
                      <a:r>
                        <a:rPr lang="en-IN" sz="2000" kern="100" spc="-20" dirty="0">
                          <a:effectLst/>
                        </a:rPr>
                        <a:t> </a:t>
                      </a:r>
                      <a:r>
                        <a:rPr lang="en-IN" sz="2000" kern="100" dirty="0">
                          <a:effectLst/>
                        </a:rPr>
                        <a:t>and</a:t>
                      </a:r>
                      <a:r>
                        <a:rPr lang="en-IN" sz="2000" kern="100" spc="-35" dirty="0">
                          <a:effectLst/>
                        </a:rPr>
                        <a:t> </a:t>
                      </a:r>
                      <a:r>
                        <a:rPr lang="en-IN" sz="2000" kern="100" dirty="0">
                          <a:effectLst/>
                        </a:rPr>
                        <a:t>decorative</a:t>
                      </a:r>
                      <a:r>
                        <a:rPr lang="en-IN" sz="2000" kern="100" spc="-25" dirty="0">
                          <a:effectLst/>
                        </a:rPr>
                        <a:t> </a:t>
                      </a:r>
                      <a:r>
                        <a:rPr lang="en-IN" sz="2000" kern="100" spc="-10" dirty="0">
                          <a:effectLst/>
                        </a:rPr>
                        <a:t>additions</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66082637"/>
                  </a:ext>
                </a:extLst>
              </a:tr>
              <a:tr h="972877">
                <a:tc>
                  <a:txBody>
                    <a:bodyPr/>
                    <a:lstStyle/>
                    <a:p>
                      <a:pPr algn="l">
                        <a:lnSpc>
                          <a:spcPct val="115000"/>
                        </a:lnSpc>
                        <a:spcAft>
                          <a:spcPts val="0"/>
                        </a:spcAft>
                      </a:pPr>
                      <a:r>
                        <a:rPr lang="en-IN" sz="2000" b="0" kern="100" dirty="0">
                          <a:effectLst/>
                        </a:rPr>
                        <a:t>Approved</a:t>
                      </a:r>
                      <a:r>
                        <a:rPr lang="en-IN" sz="2000" b="0" kern="100" spc="-60" dirty="0">
                          <a:effectLst/>
                        </a:rPr>
                        <a:t> </a:t>
                      </a:r>
                      <a:r>
                        <a:rPr lang="en-IN" sz="2000" b="0" kern="100" dirty="0">
                          <a:effectLst/>
                        </a:rPr>
                        <a:t>design</a:t>
                      </a:r>
                      <a:r>
                        <a:rPr lang="en-IN" sz="2000" b="0" kern="100" spc="-45" dirty="0">
                          <a:effectLst/>
                        </a:rPr>
                        <a:t> </a:t>
                      </a:r>
                      <a:r>
                        <a:rPr lang="en-IN" sz="2000" b="0" kern="100" dirty="0">
                          <a:effectLst/>
                        </a:rPr>
                        <a:t>and</a:t>
                      </a:r>
                      <a:r>
                        <a:rPr lang="en-IN" sz="2000" b="0" kern="100" spc="-60" dirty="0">
                          <a:effectLst/>
                        </a:rPr>
                        <a:t> </a:t>
                      </a:r>
                      <a:r>
                        <a:rPr lang="en-IN" sz="2000" b="0" kern="100" dirty="0">
                          <a:effectLst/>
                        </a:rPr>
                        <a:t>manufacturing </a:t>
                      </a:r>
                      <a:r>
                        <a:rPr lang="en-IN" sz="2000" b="0" kern="100" spc="-10" dirty="0">
                          <a:effectLst/>
                        </a:rPr>
                        <a:t>scope</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IN" sz="2000" kern="100" dirty="0">
                          <a:effectLst/>
                        </a:rPr>
                        <a:t>Locks</a:t>
                      </a:r>
                      <a:r>
                        <a:rPr lang="en-IN" sz="2000" kern="100" spc="-10" dirty="0">
                          <a:effectLst/>
                        </a:rPr>
                        <a:t> </a:t>
                      </a:r>
                      <a:r>
                        <a:rPr lang="en-IN" sz="2000" kern="100" dirty="0">
                          <a:effectLst/>
                        </a:rPr>
                        <a:t>for</a:t>
                      </a:r>
                      <a:r>
                        <a:rPr lang="en-IN" sz="2000" kern="100" spc="-30" dirty="0">
                          <a:effectLst/>
                        </a:rPr>
                        <a:t> </a:t>
                      </a:r>
                      <a:r>
                        <a:rPr lang="en-IN" sz="2000" kern="100" dirty="0">
                          <a:effectLst/>
                        </a:rPr>
                        <a:t>units</a:t>
                      </a:r>
                      <a:r>
                        <a:rPr lang="en-IN" sz="2000" kern="100" spc="-15" dirty="0">
                          <a:effectLst/>
                        </a:rPr>
                        <a:t> </a:t>
                      </a:r>
                      <a:r>
                        <a:rPr lang="en-IN" sz="2000" kern="100" dirty="0">
                          <a:effectLst/>
                        </a:rPr>
                        <a:t>other</a:t>
                      </a:r>
                      <a:r>
                        <a:rPr lang="en-IN" sz="2000" kern="100" spc="-5" dirty="0">
                          <a:effectLst/>
                        </a:rPr>
                        <a:t> </a:t>
                      </a:r>
                      <a:r>
                        <a:rPr lang="en-IN" sz="2000" kern="100" dirty="0">
                          <a:effectLst/>
                        </a:rPr>
                        <a:t>than </a:t>
                      </a:r>
                      <a:r>
                        <a:rPr lang="en-IN" sz="2000" kern="100" spc="-10" dirty="0">
                          <a:effectLst/>
                        </a:rPr>
                        <a:t>wardrobes</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1041372"/>
                  </a:ext>
                </a:extLst>
              </a:tr>
              <a:tr h="972877">
                <a:tc>
                  <a:txBody>
                    <a:bodyPr/>
                    <a:lstStyle/>
                    <a:p>
                      <a:pPr algn="l">
                        <a:lnSpc>
                          <a:spcPct val="115000"/>
                        </a:lnSpc>
                        <a:spcAft>
                          <a:spcPts val="0"/>
                        </a:spcAft>
                      </a:pPr>
                      <a:r>
                        <a:rPr lang="en-IN" sz="2000" b="0" kern="100" spc="-10" dirty="0">
                          <a:effectLst/>
                        </a:rPr>
                        <a:t>Implementation of the </a:t>
                      </a:r>
                      <a:r>
                        <a:rPr lang="en-IN" sz="2000" b="0" kern="100" dirty="0">
                          <a:effectLst/>
                        </a:rPr>
                        <a:t>Final</a:t>
                      </a:r>
                      <a:r>
                        <a:rPr lang="en-IN" sz="2000" b="0" kern="100" spc="-30" dirty="0">
                          <a:effectLst/>
                        </a:rPr>
                        <a:t> </a:t>
                      </a:r>
                      <a:r>
                        <a:rPr lang="en-IN" sz="2000" b="0" kern="100" dirty="0">
                          <a:effectLst/>
                        </a:rPr>
                        <a:t>approved</a:t>
                      </a:r>
                      <a:r>
                        <a:rPr lang="en-IN" sz="2000" b="0" kern="100" spc="-20" dirty="0">
                          <a:effectLst/>
                        </a:rPr>
                        <a:t> </a:t>
                      </a:r>
                      <a:r>
                        <a:rPr lang="en-IN" sz="2000" b="0" kern="100" dirty="0">
                          <a:effectLst/>
                        </a:rPr>
                        <a:t>layout</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76200" algn="r">
                        <a:lnSpc>
                          <a:spcPts val="2280"/>
                        </a:lnSpc>
                        <a:spcBef>
                          <a:spcPts val="125"/>
                        </a:spcBef>
                        <a:spcAft>
                          <a:spcPts val="0"/>
                        </a:spcAft>
                      </a:pPr>
                      <a:r>
                        <a:rPr lang="en-US" sz="2000" kern="100" dirty="0">
                          <a:effectLst/>
                        </a:rPr>
                        <a:t>Design</a:t>
                      </a:r>
                      <a:r>
                        <a:rPr lang="en-US" sz="2000" kern="100" spc="-40" dirty="0">
                          <a:effectLst/>
                        </a:rPr>
                        <a:t> </a:t>
                      </a:r>
                      <a:r>
                        <a:rPr lang="en-US" sz="2000" kern="100" dirty="0">
                          <a:effectLst/>
                        </a:rPr>
                        <a:t>changes,</a:t>
                      </a:r>
                      <a:r>
                        <a:rPr lang="en-US" sz="2000" kern="100" spc="-5" dirty="0">
                          <a:effectLst/>
                        </a:rPr>
                        <a:t> </a:t>
                      </a:r>
                      <a:r>
                        <a:rPr lang="en-US" sz="2000" kern="100" dirty="0">
                          <a:effectLst/>
                        </a:rPr>
                        <a:t>alterations,</a:t>
                      </a:r>
                      <a:r>
                        <a:rPr lang="en-US" sz="2000" kern="100" spc="-20" dirty="0">
                          <a:effectLst/>
                        </a:rPr>
                        <a:t> </a:t>
                      </a:r>
                      <a:r>
                        <a:rPr lang="en-US" sz="2000" kern="100" dirty="0">
                          <a:effectLst/>
                        </a:rPr>
                        <a:t>or</a:t>
                      </a:r>
                      <a:r>
                        <a:rPr lang="en-US" sz="2000" kern="100" spc="-15" dirty="0">
                          <a:effectLst/>
                        </a:rPr>
                        <a:t> </a:t>
                      </a:r>
                      <a:r>
                        <a:rPr lang="en-US" sz="2000" kern="100" spc="-10" dirty="0">
                          <a:effectLst/>
                        </a:rPr>
                        <a:t>additions</a:t>
                      </a:r>
                      <a:endParaRPr lang="en-IN" sz="2000" kern="100" dirty="0">
                        <a:effectLst/>
                      </a:endParaRPr>
                    </a:p>
                    <a:p>
                      <a:pPr algn="r">
                        <a:lnSpc>
                          <a:spcPct val="115000"/>
                        </a:lnSpc>
                        <a:spcAft>
                          <a:spcPts val="0"/>
                        </a:spcAft>
                      </a:pPr>
                      <a:r>
                        <a:rPr lang="en-IN" sz="2000" kern="100" dirty="0">
                          <a:effectLst/>
                        </a:rPr>
                        <a:t>requested</a:t>
                      </a:r>
                      <a:r>
                        <a:rPr lang="en-IN" sz="2000" kern="100" spc="-15" dirty="0">
                          <a:effectLst/>
                        </a:rPr>
                        <a:t> </a:t>
                      </a:r>
                      <a:r>
                        <a:rPr lang="en-IN" sz="2000" kern="100" dirty="0">
                          <a:effectLst/>
                        </a:rPr>
                        <a:t>during</a:t>
                      </a:r>
                      <a:r>
                        <a:rPr lang="en-IN" sz="2000" kern="100" spc="-15" dirty="0">
                          <a:effectLst/>
                        </a:rPr>
                        <a:t> </a:t>
                      </a:r>
                      <a:r>
                        <a:rPr lang="en-IN" sz="2000" kern="100" spc="-10" dirty="0">
                          <a:effectLst/>
                        </a:rPr>
                        <a:t>installation</a:t>
                      </a:r>
                      <a:endParaRPr lang="en-IN" sz="2000" b="0" kern="1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43588788"/>
                  </a:ext>
                </a:extLst>
              </a:tr>
            </a:tbl>
          </a:graphicData>
        </a:graphic>
      </p:graphicFrame>
      <p:sp>
        <p:nvSpPr>
          <p:cNvPr id="4" name="Slide Number Placeholder 3">
            <a:extLst>
              <a:ext uri="{FF2B5EF4-FFF2-40B4-BE49-F238E27FC236}">
                <a16:creationId xmlns:a16="http://schemas.microsoft.com/office/drawing/2014/main" id="{7B8E64AF-503D-4E7E-BDB7-DB3A66C34D11}"/>
              </a:ext>
            </a:extLst>
          </p:cNvPr>
          <p:cNvSpPr>
            <a:spLocks noGrp="1"/>
          </p:cNvSpPr>
          <p:nvPr>
            <p:ph type="sldNum" sz="quarter" idx="12"/>
          </p:nvPr>
        </p:nvSpPr>
        <p:spPr/>
        <p:txBody>
          <a:bodyPr/>
          <a:lstStyle/>
          <a:p>
            <a:fld id="{B6F15528-21DE-4FAA-801E-634DDDAF4B2B}" type="slidenum">
              <a:rPr lang="en-US" smtClean="0"/>
              <a:pPr/>
              <a:t>24</a:t>
            </a:fld>
            <a:endParaRPr lang="en-US"/>
          </a:p>
        </p:txBody>
      </p:sp>
      <p:sp>
        <p:nvSpPr>
          <p:cNvPr id="6" name="Footer Placeholder 5">
            <a:extLst>
              <a:ext uri="{FF2B5EF4-FFF2-40B4-BE49-F238E27FC236}">
                <a16:creationId xmlns:a16="http://schemas.microsoft.com/office/drawing/2014/main" id="{6E398A88-BF1C-40DF-B408-7D596B435343}"/>
              </a:ext>
            </a:extLst>
          </p:cNvPr>
          <p:cNvSpPr>
            <a:spLocks noGrp="1"/>
          </p:cNvSpPr>
          <p:nvPr>
            <p:ph type="ftr" sz="quarter" idx="11"/>
          </p:nvPr>
        </p:nvSpPr>
        <p:spPr/>
        <p:txBody>
          <a:bodyPr/>
          <a:lstStyle/>
          <a:p>
            <a:r>
              <a:rPr lang="en-US"/>
              <a:t>Mr. Aravindan | Individual Villa Adyar | 7418414780</a:t>
            </a:r>
          </a:p>
        </p:txBody>
      </p:sp>
    </p:spTree>
    <p:extLst>
      <p:ext uri="{BB962C8B-B14F-4D97-AF65-F5344CB8AC3E}">
        <p14:creationId xmlns:p14="http://schemas.microsoft.com/office/powerpoint/2010/main" val="32205221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BCEC20-54F1-4C26-B262-F231CD305DAE}"/>
              </a:ext>
            </a:extLst>
          </p:cNvPr>
          <p:cNvSpPr/>
          <p:nvPr/>
        </p:nvSpPr>
        <p:spPr>
          <a:xfrm>
            <a:off x="679450" y="698500"/>
            <a:ext cx="5562600" cy="461665"/>
          </a:xfrm>
          <a:prstGeom prst="rect">
            <a:avLst/>
          </a:prstGeom>
        </p:spPr>
        <p:txBody>
          <a:bodyPr wrap="square">
            <a:spAutoFit/>
          </a:bodyPr>
          <a:lstStyle/>
          <a:p>
            <a:r>
              <a:rPr lang="en-US" sz="2400" b="1" dirty="0">
                <a:solidFill>
                  <a:srgbClr val="C00000"/>
                </a:solidFill>
              </a:rPr>
              <a:t>PAYMENT TERMS AND WORK STAGES</a:t>
            </a:r>
          </a:p>
        </p:txBody>
      </p:sp>
      <p:graphicFrame>
        <p:nvGraphicFramePr>
          <p:cNvPr id="3" name="Table 2">
            <a:extLst>
              <a:ext uri="{FF2B5EF4-FFF2-40B4-BE49-F238E27FC236}">
                <a16:creationId xmlns:a16="http://schemas.microsoft.com/office/drawing/2014/main" id="{6773EF1D-1874-43F2-9C95-A1E6D1530931}"/>
              </a:ext>
            </a:extLst>
          </p:cNvPr>
          <p:cNvGraphicFramePr>
            <a:graphicFrameLocks noGrp="1"/>
          </p:cNvGraphicFramePr>
          <p:nvPr>
            <p:extLst>
              <p:ext uri="{D42A27DB-BD31-4B8C-83A1-F6EECF244321}">
                <p14:modId xmlns:p14="http://schemas.microsoft.com/office/powerpoint/2010/main" val="2868975508"/>
              </p:ext>
            </p:extLst>
          </p:nvPr>
        </p:nvGraphicFramePr>
        <p:xfrm>
          <a:off x="679450" y="1460500"/>
          <a:ext cx="8763001" cy="11914760"/>
        </p:xfrm>
        <a:graphic>
          <a:graphicData uri="http://schemas.openxmlformats.org/drawingml/2006/table">
            <a:tbl>
              <a:tblPr firstRow="1" firstCol="1" bandRow="1">
                <a:tableStyleId>{D27102A9-8310-4765-A935-A1911B00CA55}</a:tableStyleId>
              </a:tblPr>
              <a:tblGrid>
                <a:gridCol w="1924439">
                  <a:extLst>
                    <a:ext uri="{9D8B030D-6E8A-4147-A177-3AD203B41FA5}">
                      <a16:colId xmlns:a16="http://schemas.microsoft.com/office/drawing/2014/main" val="881407664"/>
                    </a:ext>
                  </a:extLst>
                </a:gridCol>
                <a:gridCol w="826149">
                  <a:extLst>
                    <a:ext uri="{9D8B030D-6E8A-4147-A177-3AD203B41FA5}">
                      <a16:colId xmlns:a16="http://schemas.microsoft.com/office/drawing/2014/main" val="3792782357"/>
                    </a:ext>
                  </a:extLst>
                </a:gridCol>
                <a:gridCol w="6012413">
                  <a:extLst>
                    <a:ext uri="{9D8B030D-6E8A-4147-A177-3AD203B41FA5}">
                      <a16:colId xmlns:a16="http://schemas.microsoft.com/office/drawing/2014/main" val="919053081"/>
                    </a:ext>
                  </a:extLst>
                </a:gridCol>
              </a:tblGrid>
              <a:tr h="262661">
                <a:tc>
                  <a:txBody>
                    <a:bodyPr/>
                    <a:lstStyle/>
                    <a:p>
                      <a:pPr algn="ctr">
                        <a:lnSpc>
                          <a:spcPct val="115000"/>
                        </a:lnSpc>
                        <a:spcAft>
                          <a:spcPts val="0"/>
                        </a:spcAft>
                      </a:pPr>
                      <a:r>
                        <a:rPr lang="en-IN" sz="1800" kern="100" spc="-20" dirty="0">
                          <a:effectLst/>
                        </a:rPr>
                        <a:t>STAGE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1977" marR="61977" marT="0" marB="0"/>
                </a:tc>
                <a:tc>
                  <a:txBody>
                    <a:bodyPr/>
                    <a:lstStyle/>
                    <a:p>
                      <a:pPr algn="ctr">
                        <a:lnSpc>
                          <a:spcPct val="115000"/>
                        </a:lnSpc>
                        <a:spcAft>
                          <a:spcPts val="0"/>
                        </a:spcAft>
                      </a:pPr>
                      <a:r>
                        <a:rPr lang="en-IN" sz="1800" kern="100" spc="-50" dirty="0">
                          <a:effectLst/>
                        </a:rPr>
                        <a: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1977" marR="61977" marT="0" marB="0"/>
                </a:tc>
                <a:tc>
                  <a:txBody>
                    <a:bodyPr/>
                    <a:lstStyle/>
                    <a:p>
                      <a:pPr algn="ctr">
                        <a:lnSpc>
                          <a:spcPct val="115000"/>
                        </a:lnSpc>
                        <a:spcAft>
                          <a:spcPts val="0"/>
                        </a:spcAft>
                      </a:pPr>
                      <a:r>
                        <a:rPr lang="en-IN" sz="1800" kern="100" spc="-10">
                          <a:effectLst/>
                        </a:rPr>
                        <a:t>DETAILS</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1977" marR="61977" marT="0" marB="0"/>
                </a:tc>
                <a:extLst>
                  <a:ext uri="{0D108BD9-81ED-4DB2-BD59-A6C34878D82A}">
                    <a16:rowId xmlns:a16="http://schemas.microsoft.com/office/drawing/2014/main" val="3803942922"/>
                  </a:ext>
                </a:extLst>
              </a:tr>
              <a:tr h="1156974">
                <a:tc>
                  <a:txBody>
                    <a:bodyPr/>
                    <a:lstStyle/>
                    <a:p>
                      <a:pPr marL="76200">
                        <a:spcBef>
                          <a:spcPts val="565"/>
                        </a:spcBef>
                        <a:spcAft>
                          <a:spcPts val="0"/>
                        </a:spcAft>
                      </a:pPr>
                      <a:r>
                        <a:rPr lang="en-US" sz="1800" kern="100" dirty="0">
                          <a:effectLst/>
                        </a:rPr>
                        <a:t> </a:t>
                      </a:r>
                      <a:endParaRPr lang="en-IN" sz="1800" kern="100" dirty="0">
                        <a:effectLst/>
                      </a:endParaRPr>
                    </a:p>
                    <a:p>
                      <a:pPr marL="76200">
                        <a:spcBef>
                          <a:spcPts val="595"/>
                        </a:spcBef>
                        <a:spcAft>
                          <a:spcPts val="0"/>
                        </a:spcAft>
                      </a:pPr>
                      <a:r>
                        <a:rPr lang="en-US" sz="1800" kern="100" dirty="0">
                          <a:effectLst/>
                        </a:rPr>
                        <a:t> </a:t>
                      </a:r>
                      <a:r>
                        <a:rPr lang="en-IN" sz="1800" kern="100" dirty="0">
                          <a:effectLst/>
                        </a:rPr>
                        <a:t>Project</a:t>
                      </a:r>
                      <a:r>
                        <a:rPr lang="en-IN" sz="1800" kern="100" spc="-85" dirty="0">
                          <a:effectLst/>
                        </a:rPr>
                        <a:t> </a:t>
                      </a:r>
                      <a:r>
                        <a:rPr lang="en-IN" sz="1800" kern="100" dirty="0">
                          <a:effectLst/>
                        </a:rPr>
                        <a:t>Consultation</a:t>
                      </a:r>
                      <a:r>
                        <a:rPr lang="en-IN" sz="1800" kern="100" spc="-80" dirty="0">
                          <a:effectLst/>
                        </a:rPr>
                        <a:t> </a:t>
                      </a:r>
                      <a:r>
                        <a:rPr lang="en-IN" sz="1800" kern="100" dirty="0">
                          <a:effectLst/>
                        </a:rPr>
                        <a:t>&amp; </a:t>
                      </a:r>
                      <a:r>
                        <a:rPr lang="en-IN" sz="1800" kern="100" spc="-10" dirty="0">
                          <a:effectLst/>
                        </a:rPr>
                        <a:t>Estimation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1977" marR="61977" marT="0" marB="0"/>
                </a:tc>
                <a:tc>
                  <a:txBody>
                    <a:bodyPr/>
                    <a:lstStyle/>
                    <a:p>
                      <a:pPr marL="76200">
                        <a:spcBef>
                          <a:spcPts val="565"/>
                        </a:spcBef>
                        <a:spcAft>
                          <a:spcPts val="0"/>
                        </a:spcAft>
                      </a:pPr>
                      <a:r>
                        <a:rPr lang="en-US" sz="1800" kern="100" dirty="0">
                          <a:effectLst/>
                        </a:rPr>
                        <a:t> </a:t>
                      </a:r>
                      <a:endParaRPr lang="en-IN" sz="1800" kern="100" dirty="0">
                        <a:effectLst/>
                      </a:endParaRPr>
                    </a:p>
                    <a:p>
                      <a:pPr marL="76200">
                        <a:spcBef>
                          <a:spcPts val="1190"/>
                        </a:spcBef>
                        <a:spcAft>
                          <a:spcPts val="0"/>
                        </a:spcAft>
                      </a:pPr>
                      <a:r>
                        <a:rPr lang="en-US" sz="1800" kern="100" dirty="0">
                          <a:effectLst/>
                        </a:rPr>
                        <a:t> </a:t>
                      </a:r>
                      <a:endParaRPr lang="en-IN" sz="1800" kern="100" dirty="0">
                        <a:effectLst/>
                      </a:endParaRPr>
                    </a:p>
                    <a:p>
                      <a:pPr>
                        <a:lnSpc>
                          <a:spcPct val="115000"/>
                        </a:lnSpc>
                        <a:spcAft>
                          <a:spcPts val="0"/>
                        </a:spcAft>
                      </a:pPr>
                      <a:r>
                        <a:rPr lang="en-IN" sz="1800" kern="100" spc="-25" dirty="0">
                          <a:effectLst/>
                        </a:rPr>
                        <a:t>0%</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1977" marR="61977" marT="0" marB="0"/>
                </a:tc>
                <a:tc>
                  <a:txBody>
                    <a:bodyPr/>
                    <a:lstStyle/>
                    <a:p>
                      <a:pPr marL="342900" lvl="0" indent="-342900" algn="just">
                        <a:spcBef>
                          <a:spcPts val="220"/>
                        </a:spcBef>
                        <a:spcAft>
                          <a:spcPts val="0"/>
                        </a:spcAft>
                        <a:buClr>
                          <a:srgbClr val="333333"/>
                        </a:buClr>
                        <a:buSzPts val="1200"/>
                        <a:buFont typeface="Segoe UI Semibold" panose="020B0702040204020203" pitchFamily="34" charset="0"/>
                        <a:buChar char="•"/>
                        <a:tabLst>
                          <a:tab pos="181610" algn="l"/>
                        </a:tabLst>
                      </a:pPr>
                      <a:endParaRPr lang="en-US" sz="1800" kern="100" spc="0" dirty="0">
                        <a:effectLst/>
                      </a:endParaRPr>
                    </a:p>
                    <a:p>
                      <a:pPr marL="342900" lvl="0" indent="-342900" algn="just">
                        <a:spcBef>
                          <a:spcPts val="220"/>
                        </a:spcBef>
                        <a:spcAft>
                          <a:spcPts val="0"/>
                        </a:spcAft>
                        <a:buClr>
                          <a:srgbClr val="333333"/>
                        </a:buClr>
                        <a:buSzPts val="1200"/>
                        <a:buFont typeface="Segoe UI Semibold" panose="020B0702040204020203" pitchFamily="34" charset="0"/>
                        <a:buChar char="•"/>
                        <a:tabLst>
                          <a:tab pos="181610" algn="l"/>
                        </a:tabLst>
                      </a:pPr>
                      <a:r>
                        <a:rPr lang="en-US" sz="1800" kern="100" spc="0" dirty="0">
                          <a:effectLst/>
                        </a:rPr>
                        <a:t>Initial</a:t>
                      </a:r>
                      <a:r>
                        <a:rPr lang="en-US" sz="1800" kern="100" spc="-35" dirty="0">
                          <a:effectLst/>
                        </a:rPr>
                        <a:t> </a:t>
                      </a:r>
                      <a:r>
                        <a:rPr lang="en-US" sz="1800" kern="100" spc="0" dirty="0">
                          <a:effectLst/>
                        </a:rPr>
                        <a:t>requirement</a:t>
                      </a:r>
                      <a:r>
                        <a:rPr lang="en-US" sz="1800" kern="100" spc="-15" dirty="0">
                          <a:effectLst/>
                        </a:rPr>
                        <a:t> </a:t>
                      </a:r>
                      <a:r>
                        <a:rPr lang="en-US" sz="1800" kern="100" spc="0" dirty="0">
                          <a:effectLst/>
                        </a:rPr>
                        <a:t>gathering</a:t>
                      </a:r>
                      <a:r>
                        <a:rPr lang="en-US" sz="1800" kern="100" spc="-10" dirty="0">
                          <a:effectLst/>
                        </a:rPr>
                        <a:t> </a:t>
                      </a:r>
                      <a:r>
                        <a:rPr lang="en-US" sz="1800" kern="100" spc="0" dirty="0">
                          <a:effectLst/>
                        </a:rPr>
                        <a:t>and</a:t>
                      </a:r>
                      <a:r>
                        <a:rPr lang="en-US" sz="1800" kern="100" spc="-35" dirty="0">
                          <a:effectLst/>
                        </a:rPr>
                        <a:t> </a:t>
                      </a:r>
                      <a:r>
                        <a:rPr lang="en-US" sz="1800" kern="100" spc="0" dirty="0">
                          <a:effectLst/>
                        </a:rPr>
                        <a:t>design</a:t>
                      </a:r>
                      <a:r>
                        <a:rPr lang="en-US" sz="1800" kern="100" spc="-30" dirty="0">
                          <a:effectLst/>
                        </a:rPr>
                        <a:t> </a:t>
                      </a:r>
                      <a:r>
                        <a:rPr lang="en-US" sz="1800" kern="100" spc="-10" dirty="0">
                          <a:effectLst/>
                        </a:rPr>
                        <a:t>consultation.</a:t>
                      </a:r>
                      <a:endParaRPr lang="en-IN" sz="1800" kern="100" spc="0" dirty="0">
                        <a:effectLst/>
                      </a:endParaRPr>
                    </a:p>
                    <a:p>
                      <a:pPr marL="342900" lvl="0" indent="-342900" algn="just">
                        <a:spcBef>
                          <a:spcPts val="255"/>
                        </a:spcBef>
                        <a:spcAft>
                          <a:spcPts val="0"/>
                        </a:spcAft>
                        <a:buClr>
                          <a:srgbClr val="333333"/>
                        </a:buClr>
                        <a:buSzPts val="1200"/>
                        <a:buFont typeface="Segoe UI Semibold" panose="020B0702040204020203" pitchFamily="34" charset="0"/>
                        <a:buChar char="•"/>
                        <a:tabLst>
                          <a:tab pos="181610" algn="l"/>
                        </a:tabLst>
                      </a:pPr>
                      <a:r>
                        <a:rPr lang="en-US" sz="1800" kern="100" spc="0" dirty="0">
                          <a:effectLst/>
                        </a:rPr>
                        <a:t>Site</a:t>
                      </a:r>
                      <a:r>
                        <a:rPr lang="en-US" sz="1800" kern="100" spc="-35" dirty="0">
                          <a:effectLst/>
                        </a:rPr>
                        <a:t> </a:t>
                      </a:r>
                      <a:r>
                        <a:rPr lang="en-US" sz="1800" kern="100" spc="0" dirty="0">
                          <a:effectLst/>
                        </a:rPr>
                        <a:t>assessment</a:t>
                      </a:r>
                      <a:r>
                        <a:rPr lang="en-US" sz="1800" kern="100" spc="-45" dirty="0">
                          <a:effectLst/>
                        </a:rPr>
                        <a:t> </a:t>
                      </a:r>
                      <a:r>
                        <a:rPr lang="en-US" sz="1800" kern="100" spc="0" dirty="0">
                          <a:effectLst/>
                        </a:rPr>
                        <a:t>and</a:t>
                      </a:r>
                      <a:r>
                        <a:rPr lang="en-US" sz="1800" kern="100" spc="-30" dirty="0">
                          <a:effectLst/>
                        </a:rPr>
                        <a:t> </a:t>
                      </a:r>
                      <a:r>
                        <a:rPr lang="en-US" sz="1800" kern="100" spc="0" dirty="0">
                          <a:effectLst/>
                        </a:rPr>
                        <a:t>project</a:t>
                      </a:r>
                      <a:r>
                        <a:rPr lang="en-US" sz="1800" kern="100" spc="-35" dirty="0">
                          <a:effectLst/>
                        </a:rPr>
                        <a:t> </a:t>
                      </a:r>
                      <a:r>
                        <a:rPr lang="en-US" sz="1800" kern="100" spc="0" dirty="0">
                          <a:effectLst/>
                        </a:rPr>
                        <a:t>feasibility</a:t>
                      </a:r>
                      <a:r>
                        <a:rPr lang="en-US" sz="1800" kern="100" spc="-25" dirty="0">
                          <a:effectLst/>
                        </a:rPr>
                        <a:t> </a:t>
                      </a:r>
                      <a:r>
                        <a:rPr lang="en-US" sz="1800" kern="100" spc="-10" dirty="0">
                          <a:effectLst/>
                        </a:rPr>
                        <a:t>discussion.</a:t>
                      </a:r>
                      <a:endParaRPr lang="en-IN" sz="1800" kern="100" spc="0" dirty="0">
                        <a:effectLst/>
                      </a:endParaRPr>
                    </a:p>
                    <a:p>
                      <a:pPr marL="342900" lvl="0" indent="-342900" algn="just">
                        <a:spcBef>
                          <a:spcPts val="240"/>
                        </a:spcBef>
                        <a:spcAft>
                          <a:spcPts val="0"/>
                        </a:spcAft>
                        <a:buClr>
                          <a:srgbClr val="333333"/>
                        </a:buClr>
                        <a:buSzPts val="1200"/>
                        <a:buFont typeface="Segoe UI Semibold" panose="020B0702040204020203" pitchFamily="34" charset="0"/>
                        <a:buChar char="•"/>
                        <a:tabLst>
                          <a:tab pos="181610" algn="l"/>
                        </a:tabLst>
                      </a:pPr>
                      <a:r>
                        <a:rPr lang="en-US" sz="1800" kern="100" spc="0" dirty="0">
                          <a:effectLst/>
                        </a:rPr>
                        <a:t>Variants, material options,</a:t>
                      </a:r>
                      <a:r>
                        <a:rPr lang="en-US" sz="1800" kern="100" spc="-30" dirty="0">
                          <a:effectLst/>
                        </a:rPr>
                        <a:t> </a:t>
                      </a:r>
                      <a:r>
                        <a:rPr lang="en-US" sz="1800" kern="100" spc="0" dirty="0">
                          <a:effectLst/>
                        </a:rPr>
                        <a:t>finishes,</a:t>
                      </a:r>
                      <a:r>
                        <a:rPr lang="en-US" sz="1800" kern="100" spc="-35" dirty="0">
                          <a:effectLst/>
                        </a:rPr>
                        <a:t> </a:t>
                      </a:r>
                      <a:r>
                        <a:rPr lang="en-US" sz="1800" kern="100" spc="0" dirty="0">
                          <a:effectLst/>
                        </a:rPr>
                        <a:t>and</a:t>
                      </a:r>
                      <a:r>
                        <a:rPr lang="en-US" sz="1800" kern="100" spc="-40" dirty="0">
                          <a:effectLst/>
                        </a:rPr>
                        <a:t> </a:t>
                      </a:r>
                      <a:r>
                        <a:rPr lang="en-US" sz="1800" kern="100" spc="0" dirty="0">
                          <a:effectLst/>
                        </a:rPr>
                        <a:t>budget</a:t>
                      </a:r>
                      <a:r>
                        <a:rPr lang="en-US" sz="1800" kern="100" spc="-25" dirty="0">
                          <a:effectLst/>
                        </a:rPr>
                        <a:t> </a:t>
                      </a:r>
                      <a:r>
                        <a:rPr lang="en-US" sz="1800" kern="100" spc="-10" dirty="0">
                          <a:effectLst/>
                        </a:rPr>
                        <a:t>alignment.</a:t>
                      </a:r>
                      <a:endParaRPr lang="en-IN" sz="1800" kern="100" spc="0" dirty="0">
                        <a:effectLst/>
                      </a:endParaRPr>
                    </a:p>
                    <a:p>
                      <a:pPr marL="342900" lvl="0" indent="-342900" algn="just">
                        <a:spcBef>
                          <a:spcPts val="240"/>
                        </a:spcBef>
                        <a:spcAft>
                          <a:spcPts val="0"/>
                        </a:spcAft>
                        <a:buClr>
                          <a:srgbClr val="333333"/>
                        </a:buClr>
                        <a:buSzPts val="1200"/>
                        <a:buFont typeface="Segoe UI Semibold" panose="020B0702040204020203" pitchFamily="34" charset="0"/>
                        <a:buChar char="•"/>
                        <a:tabLst>
                          <a:tab pos="181610" algn="l"/>
                        </a:tabLst>
                      </a:pPr>
                      <a:r>
                        <a:rPr lang="en-IN" sz="1800" kern="100" dirty="0">
                          <a:effectLst/>
                        </a:rPr>
                        <a:t>Preliminary</a:t>
                      </a:r>
                      <a:r>
                        <a:rPr lang="en-IN" sz="1800" kern="100" spc="-15" dirty="0">
                          <a:effectLst/>
                        </a:rPr>
                        <a:t> </a:t>
                      </a:r>
                      <a:r>
                        <a:rPr lang="en-IN" sz="1800" kern="100" dirty="0">
                          <a:effectLst/>
                        </a:rPr>
                        <a:t>scope</a:t>
                      </a:r>
                      <a:r>
                        <a:rPr lang="en-IN" sz="1800" kern="100" spc="-45" dirty="0">
                          <a:effectLst/>
                        </a:rPr>
                        <a:t> </a:t>
                      </a:r>
                      <a:r>
                        <a:rPr lang="en-IN" sz="1800" kern="100" dirty="0">
                          <a:effectLst/>
                        </a:rPr>
                        <a:t>definition</a:t>
                      </a:r>
                      <a:r>
                        <a:rPr lang="en-IN" sz="1800" kern="100" spc="-10" dirty="0">
                          <a:effectLst/>
                        </a:rPr>
                        <a:t> </a:t>
                      </a:r>
                      <a:r>
                        <a:rPr lang="en-IN" sz="1800" kern="100" dirty="0">
                          <a:effectLst/>
                        </a:rPr>
                        <a:t>and</a:t>
                      </a:r>
                      <a:r>
                        <a:rPr lang="en-IN" sz="1800" kern="100" spc="-15" dirty="0">
                          <a:effectLst/>
                        </a:rPr>
                        <a:t> </a:t>
                      </a:r>
                      <a:r>
                        <a:rPr lang="en-IN" sz="1800" kern="100" dirty="0">
                          <a:effectLst/>
                        </a:rPr>
                        <a:t>budgetary</a:t>
                      </a:r>
                      <a:r>
                        <a:rPr lang="en-IN" sz="1800" kern="100" spc="10" dirty="0">
                          <a:effectLst/>
                        </a:rPr>
                        <a:t> </a:t>
                      </a:r>
                      <a:r>
                        <a:rPr lang="en-IN" sz="1800" kern="100" spc="-10" dirty="0">
                          <a:effectLst/>
                        </a:rPr>
                        <a:t>estimate.</a:t>
                      </a:r>
                    </a:p>
                    <a:p>
                      <a:pPr marL="0" lvl="0" indent="0" algn="just">
                        <a:spcBef>
                          <a:spcPts val="240"/>
                        </a:spcBef>
                        <a:spcAft>
                          <a:spcPts val="0"/>
                        </a:spcAft>
                        <a:buClr>
                          <a:srgbClr val="333333"/>
                        </a:buClr>
                        <a:buSzPts val="1200"/>
                        <a:buFont typeface="Segoe UI Semibold" panose="020B0702040204020203" pitchFamily="34" charset="0"/>
                        <a:buNone/>
                        <a:tabLst>
                          <a:tab pos="181610" algn="l"/>
                        </a:tabLs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1977" marR="61977" marT="0" marB="0"/>
                </a:tc>
                <a:extLst>
                  <a:ext uri="{0D108BD9-81ED-4DB2-BD59-A6C34878D82A}">
                    <a16:rowId xmlns:a16="http://schemas.microsoft.com/office/drawing/2014/main" val="2550632885"/>
                  </a:ext>
                </a:extLst>
              </a:tr>
              <a:tr h="1662632">
                <a:tc>
                  <a:txBody>
                    <a:bodyPr/>
                    <a:lstStyle/>
                    <a:p>
                      <a:pPr marL="76200">
                        <a:spcBef>
                          <a:spcPts val="565"/>
                        </a:spcBef>
                        <a:spcAft>
                          <a:spcPts val="0"/>
                        </a:spcAft>
                      </a:pPr>
                      <a:r>
                        <a:rPr lang="en-US" sz="1800" kern="100">
                          <a:effectLst/>
                        </a:rPr>
                        <a:t> </a:t>
                      </a:r>
                      <a:endParaRPr lang="en-IN" sz="1800" kern="100">
                        <a:effectLst/>
                      </a:endParaRPr>
                    </a:p>
                    <a:p>
                      <a:pPr marL="76200">
                        <a:spcBef>
                          <a:spcPts val="565"/>
                        </a:spcBef>
                        <a:spcAft>
                          <a:spcPts val="0"/>
                        </a:spcAft>
                      </a:pPr>
                      <a:r>
                        <a:rPr lang="en-US" sz="1800" kern="100">
                          <a:effectLst/>
                        </a:rPr>
                        <a:t> </a:t>
                      </a:r>
                      <a:endParaRPr lang="en-IN" sz="1800" kern="100">
                        <a:effectLst/>
                      </a:endParaRPr>
                    </a:p>
                    <a:p>
                      <a:pPr marL="76200">
                        <a:spcBef>
                          <a:spcPts val="325"/>
                        </a:spcBef>
                        <a:spcAft>
                          <a:spcPts val="0"/>
                        </a:spcAft>
                      </a:pPr>
                      <a:r>
                        <a:rPr lang="en-US" sz="1800" kern="100">
                          <a:effectLst/>
                        </a:rPr>
                        <a:t> </a:t>
                      </a:r>
                      <a:endParaRPr lang="en-IN" sz="1800" kern="100">
                        <a:effectLst/>
                      </a:endParaRPr>
                    </a:p>
                    <a:p>
                      <a:pPr>
                        <a:lnSpc>
                          <a:spcPct val="115000"/>
                        </a:lnSpc>
                        <a:spcAft>
                          <a:spcPts val="0"/>
                        </a:spcAft>
                      </a:pPr>
                      <a:r>
                        <a:rPr lang="en-IN" sz="1800" kern="100">
                          <a:effectLst/>
                        </a:rPr>
                        <a:t>Project</a:t>
                      </a:r>
                      <a:r>
                        <a:rPr lang="en-IN" sz="1800" kern="100" spc="-70">
                          <a:effectLst/>
                        </a:rPr>
                        <a:t> </a:t>
                      </a:r>
                      <a:r>
                        <a:rPr lang="en-IN" sz="1800" kern="100">
                          <a:effectLst/>
                        </a:rPr>
                        <a:t>Booking</a:t>
                      </a:r>
                      <a:r>
                        <a:rPr lang="en-IN" sz="1800" kern="100" spc="-80">
                          <a:effectLst/>
                        </a:rPr>
                        <a:t> </a:t>
                      </a:r>
                      <a:endParaRPr lang="en-IN" sz="1800" kern="100">
                        <a:effectLst/>
                      </a:endParaRPr>
                    </a:p>
                    <a:p>
                      <a:pPr>
                        <a:lnSpc>
                          <a:spcPct val="115000"/>
                        </a:lnSpc>
                        <a:spcAft>
                          <a:spcPts val="0"/>
                        </a:spcAft>
                      </a:pPr>
                      <a:r>
                        <a:rPr lang="en-IN" sz="1800" kern="100">
                          <a:effectLst/>
                        </a:rPr>
                        <a:t>&amp;</a:t>
                      </a:r>
                      <a:r>
                        <a:rPr lang="en-IN" sz="1800" kern="100" spc="-75">
                          <a:effectLst/>
                        </a:rPr>
                        <a:t> </a:t>
                      </a:r>
                      <a:r>
                        <a:rPr lang="en-IN" sz="1800" kern="100">
                          <a:effectLst/>
                        </a:rPr>
                        <a:t>Design </a:t>
                      </a:r>
                      <a:r>
                        <a:rPr lang="en-IN" sz="1800" kern="100" spc="-10">
                          <a:effectLst/>
                        </a:rPr>
                        <a:t>Initiation</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1977" marR="61977" marT="0" marB="0"/>
                </a:tc>
                <a:tc>
                  <a:txBody>
                    <a:bodyPr/>
                    <a:lstStyle/>
                    <a:p>
                      <a:pPr marL="76200">
                        <a:spcBef>
                          <a:spcPts val="565"/>
                        </a:spcBef>
                        <a:spcAft>
                          <a:spcPts val="0"/>
                        </a:spcAft>
                      </a:pPr>
                      <a:r>
                        <a:rPr lang="en-US" sz="1800" kern="100" dirty="0">
                          <a:effectLst/>
                        </a:rPr>
                        <a:t> </a:t>
                      </a:r>
                      <a:endParaRPr lang="en-IN" sz="1800" kern="100" dirty="0">
                        <a:effectLst/>
                      </a:endParaRPr>
                    </a:p>
                    <a:p>
                      <a:pPr marL="76200">
                        <a:spcBef>
                          <a:spcPts val="565"/>
                        </a:spcBef>
                        <a:spcAft>
                          <a:spcPts val="0"/>
                        </a:spcAft>
                      </a:pPr>
                      <a:r>
                        <a:rPr lang="en-US" sz="1800" kern="100" dirty="0">
                          <a:effectLst/>
                        </a:rPr>
                        <a:t> </a:t>
                      </a:r>
                      <a:endParaRPr lang="en-IN" sz="1800" kern="100" dirty="0">
                        <a:effectLst/>
                      </a:endParaRPr>
                    </a:p>
                    <a:p>
                      <a:pPr marL="76200">
                        <a:spcBef>
                          <a:spcPts val="1160"/>
                        </a:spcBef>
                        <a:spcAft>
                          <a:spcPts val="0"/>
                        </a:spcAft>
                      </a:pPr>
                      <a:r>
                        <a:rPr lang="en-US" sz="1800" kern="100" dirty="0">
                          <a:effectLst/>
                        </a:rPr>
                        <a:t> </a:t>
                      </a:r>
                      <a:endParaRPr lang="en-IN" sz="1800" kern="100" dirty="0">
                        <a:effectLst/>
                      </a:endParaRPr>
                    </a:p>
                    <a:p>
                      <a:pPr>
                        <a:lnSpc>
                          <a:spcPct val="115000"/>
                        </a:lnSpc>
                        <a:spcAft>
                          <a:spcPts val="0"/>
                        </a:spcAft>
                      </a:pPr>
                      <a:r>
                        <a:rPr lang="en-IN" sz="1800" kern="100" spc="-25" dirty="0">
                          <a:effectLst/>
                        </a:rPr>
                        <a:t>15%</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1977" marR="61977" marT="0" marB="0"/>
                </a:tc>
                <a:tc>
                  <a:txBody>
                    <a:bodyPr/>
                    <a:lstStyle/>
                    <a:p>
                      <a:pPr marL="342900" lvl="0" indent="-342900" algn="just">
                        <a:spcBef>
                          <a:spcPts val="225"/>
                        </a:spcBef>
                        <a:spcAft>
                          <a:spcPts val="0"/>
                        </a:spcAft>
                        <a:buClr>
                          <a:srgbClr val="333333"/>
                        </a:buClr>
                        <a:buSzPts val="1200"/>
                        <a:buFont typeface="Segoe UI Semibold" panose="020B0702040204020203" pitchFamily="34" charset="0"/>
                        <a:buChar char="•"/>
                        <a:tabLst>
                          <a:tab pos="181610" algn="l"/>
                        </a:tabLst>
                      </a:pPr>
                      <a:endParaRPr lang="en-US" sz="1800" kern="100" spc="0" dirty="0">
                        <a:effectLst/>
                      </a:endParaRPr>
                    </a:p>
                    <a:p>
                      <a:pPr marL="342900" lvl="0" indent="-342900" algn="just">
                        <a:spcBef>
                          <a:spcPts val="225"/>
                        </a:spcBef>
                        <a:spcAft>
                          <a:spcPts val="0"/>
                        </a:spcAft>
                        <a:buClr>
                          <a:srgbClr val="333333"/>
                        </a:buClr>
                        <a:buSzPts val="1200"/>
                        <a:buFont typeface="Segoe UI Semibold" panose="020B0702040204020203" pitchFamily="34" charset="0"/>
                        <a:buChar char="•"/>
                        <a:tabLst>
                          <a:tab pos="181610" algn="l"/>
                        </a:tabLst>
                      </a:pPr>
                      <a:r>
                        <a:rPr lang="en-US" sz="1800" kern="100" spc="0" dirty="0">
                          <a:effectLst/>
                        </a:rPr>
                        <a:t>Confirmation</a:t>
                      </a:r>
                      <a:r>
                        <a:rPr lang="en-US" sz="1800" kern="100" spc="-35" dirty="0">
                          <a:effectLst/>
                        </a:rPr>
                        <a:t> </a:t>
                      </a:r>
                      <a:r>
                        <a:rPr lang="en-US" sz="1800" kern="100" spc="0" dirty="0">
                          <a:effectLst/>
                        </a:rPr>
                        <a:t>of</a:t>
                      </a:r>
                      <a:r>
                        <a:rPr lang="en-US" sz="1800" kern="100" spc="-45" dirty="0">
                          <a:effectLst/>
                        </a:rPr>
                        <a:t> </a:t>
                      </a:r>
                      <a:r>
                        <a:rPr lang="en-US" sz="1800" kern="100" spc="0" dirty="0">
                          <a:effectLst/>
                        </a:rPr>
                        <a:t>project</a:t>
                      </a:r>
                      <a:r>
                        <a:rPr lang="en-US" sz="1800" kern="100" spc="-30" dirty="0">
                          <a:effectLst/>
                        </a:rPr>
                        <a:t> </a:t>
                      </a:r>
                      <a:r>
                        <a:rPr lang="en-US" sz="1800" kern="100" spc="-10" dirty="0">
                          <a:effectLst/>
                        </a:rPr>
                        <a:t>engagement.</a:t>
                      </a:r>
                      <a:endParaRPr lang="en-IN" sz="1800" kern="100" spc="0" dirty="0">
                        <a:effectLst/>
                      </a:endParaRPr>
                    </a:p>
                    <a:p>
                      <a:pPr marL="342900" lvl="0" indent="-342900" algn="just">
                        <a:spcBef>
                          <a:spcPts val="250"/>
                        </a:spcBef>
                        <a:spcAft>
                          <a:spcPts val="0"/>
                        </a:spcAft>
                        <a:buClr>
                          <a:srgbClr val="333333"/>
                        </a:buClr>
                        <a:buSzPts val="1200"/>
                        <a:buFont typeface="Segoe UI Semibold" panose="020B0702040204020203" pitchFamily="34" charset="0"/>
                        <a:buChar char="•"/>
                        <a:tabLst>
                          <a:tab pos="181610" algn="l"/>
                        </a:tabLst>
                      </a:pPr>
                      <a:r>
                        <a:rPr lang="en-US" sz="1800" kern="100" spc="0" dirty="0">
                          <a:effectLst/>
                        </a:rPr>
                        <a:t>Detailed</a:t>
                      </a:r>
                      <a:r>
                        <a:rPr lang="en-US" sz="1800" kern="100" spc="-40" dirty="0">
                          <a:effectLst/>
                        </a:rPr>
                        <a:t> </a:t>
                      </a:r>
                      <a:r>
                        <a:rPr lang="en-US" sz="1800" kern="100" spc="0" dirty="0">
                          <a:effectLst/>
                        </a:rPr>
                        <a:t>site</a:t>
                      </a:r>
                      <a:r>
                        <a:rPr lang="en-US" sz="1800" kern="100" spc="-30" dirty="0">
                          <a:effectLst/>
                        </a:rPr>
                        <a:t> </a:t>
                      </a:r>
                      <a:r>
                        <a:rPr lang="en-US" sz="1800" kern="100" spc="0" dirty="0">
                          <a:effectLst/>
                        </a:rPr>
                        <a:t>measurement</a:t>
                      </a:r>
                      <a:r>
                        <a:rPr lang="en-US" sz="1800" kern="100" spc="-35" dirty="0">
                          <a:effectLst/>
                        </a:rPr>
                        <a:t> </a:t>
                      </a:r>
                      <a:r>
                        <a:rPr lang="en-US" sz="1800" kern="100" spc="0" dirty="0">
                          <a:effectLst/>
                        </a:rPr>
                        <a:t>and</a:t>
                      </a:r>
                      <a:r>
                        <a:rPr lang="en-US" sz="1800" kern="100" spc="-35" dirty="0">
                          <a:effectLst/>
                        </a:rPr>
                        <a:t> </a:t>
                      </a:r>
                      <a:r>
                        <a:rPr lang="en-US" sz="1800" kern="100" spc="0" dirty="0">
                          <a:effectLst/>
                        </a:rPr>
                        <a:t>technical</a:t>
                      </a:r>
                      <a:r>
                        <a:rPr lang="en-US" sz="1800" kern="100" spc="-15" dirty="0">
                          <a:effectLst/>
                        </a:rPr>
                        <a:t> </a:t>
                      </a:r>
                      <a:r>
                        <a:rPr lang="en-US" sz="1800" kern="100" spc="-10" dirty="0">
                          <a:effectLst/>
                        </a:rPr>
                        <a:t>assessment.</a:t>
                      </a:r>
                      <a:endParaRPr lang="en-IN" sz="1800" kern="100" spc="0" dirty="0">
                        <a:effectLst/>
                      </a:endParaRPr>
                    </a:p>
                    <a:p>
                      <a:pPr marL="342900" lvl="0" indent="-342900" algn="just">
                        <a:spcBef>
                          <a:spcPts val="240"/>
                        </a:spcBef>
                        <a:spcAft>
                          <a:spcPts val="0"/>
                        </a:spcAft>
                        <a:buClr>
                          <a:srgbClr val="333333"/>
                        </a:buClr>
                        <a:buSzPts val="1200"/>
                        <a:buFont typeface="Segoe UI Semibold" panose="020B0702040204020203" pitchFamily="34" charset="0"/>
                        <a:buChar char="•"/>
                        <a:tabLst>
                          <a:tab pos="181610" algn="l"/>
                        </a:tabLst>
                      </a:pPr>
                      <a:r>
                        <a:rPr lang="en-US" sz="1800" kern="100" spc="0" dirty="0">
                          <a:effectLst/>
                        </a:rPr>
                        <a:t>Design</a:t>
                      </a:r>
                      <a:r>
                        <a:rPr lang="en-US" sz="1800" kern="100" spc="-50" dirty="0">
                          <a:effectLst/>
                        </a:rPr>
                        <a:t> </a:t>
                      </a:r>
                      <a:r>
                        <a:rPr lang="en-US" sz="1800" kern="100" spc="0" dirty="0">
                          <a:effectLst/>
                        </a:rPr>
                        <a:t>development</a:t>
                      </a:r>
                      <a:r>
                        <a:rPr lang="en-US" sz="1800" kern="100" spc="-25" dirty="0">
                          <a:effectLst/>
                        </a:rPr>
                        <a:t> </a:t>
                      </a:r>
                      <a:r>
                        <a:rPr lang="en-US" sz="1800" kern="100" spc="0" dirty="0">
                          <a:effectLst/>
                        </a:rPr>
                        <a:t>discussions</a:t>
                      </a:r>
                      <a:r>
                        <a:rPr lang="en-US" sz="1800" kern="100" spc="-50" dirty="0">
                          <a:effectLst/>
                        </a:rPr>
                        <a:t> </a:t>
                      </a:r>
                      <a:r>
                        <a:rPr lang="en-US" sz="1800" kern="100" spc="0" dirty="0">
                          <a:effectLst/>
                        </a:rPr>
                        <a:t>and</a:t>
                      </a:r>
                      <a:r>
                        <a:rPr lang="en-US" sz="1800" kern="100" spc="-35" dirty="0">
                          <a:effectLst/>
                        </a:rPr>
                        <a:t> </a:t>
                      </a:r>
                      <a:r>
                        <a:rPr lang="en-US" sz="1800" kern="100" spc="0" dirty="0">
                          <a:effectLst/>
                        </a:rPr>
                        <a:t>layout</a:t>
                      </a:r>
                      <a:r>
                        <a:rPr lang="en-US" sz="1800" kern="100" spc="-30" dirty="0">
                          <a:effectLst/>
                        </a:rPr>
                        <a:t> </a:t>
                      </a:r>
                      <a:r>
                        <a:rPr lang="en-US" sz="1800" kern="100" spc="-10" dirty="0">
                          <a:effectLst/>
                        </a:rPr>
                        <a:t>planning.</a:t>
                      </a:r>
                      <a:endParaRPr lang="en-IN" sz="1800" kern="100" spc="0" dirty="0">
                        <a:effectLst/>
                      </a:endParaRPr>
                    </a:p>
                    <a:p>
                      <a:pPr marL="342900" lvl="0" indent="-342900" algn="just">
                        <a:spcBef>
                          <a:spcPts val="240"/>
                        </a:spcBef>
                        <a:spcAft>
                          <a:spcPts val="0"/>
                        </a:spcAft>
                        <a:buClr>
                          <a:srgbClr val="333333"/>
                        </a:buClr>
                        <a:buSzPts val="1200"/>
                        <a:buFont typeface="Segoe UI Semibold" panose="020B0702040204020203" pitchFamily="34" charset="0"/>
                        <a:buChar char="•"/>
                        <a:tabLst>
                          <a:tab pos="181610" algn="l"/>
                        </a:tabLst>
                      </a:pPr>
                      <a:r>
                        <a:rPr lang="en-US" sz="1800" kern="100" spc="0" dirty="0">
                          <a:effectLst/>
                        </a:rPr>
                        <a:t>Selection</a:t>
                      </a:r>
                      <a:r>
                        <a:rPr lang="en-US" sz="1800" kern="100" spc="-55" dirty="0">
                          <a:effectLst/>
                        </a:rPr>
                        <a:t> </a:t>
                      </a:r>
                      <a:r>
                        <a:rPr lang="en-US" sz="1800" kern="100" spc="0" dirty="0">
                          <a:effectLst/>
                        </a:rPr>
                        <a:t>of</a:t>
                      </a:r>
                      <a:r>
                        <a:rPr lang="en-US" sz="1800" kern="100" spc="-35" dirty="0">
                          <a:effectLst/>
                        </a:rPr>
                        <a:t> </a:t>
                      </a:r>
                      <a:r>
                        <a:rPr lang="en-US" sz="1800" kern="100" spc="0" dirty="0">
                          <a:effectLst/>
                        </a:rPr>
                        <a:t>finishes,</a:t>
                      </a:r>
                      <a:r>
                        <a:rPr lang="en-US" sz="1800" kern="100" spc="-35" dirty="0">
                          <a:effectLst/>
                        </a:rPr>
                        <a:t> </a:t>
                      </a:r>
                      <a:r>
                        <a:rPr lang="en-US" sz="1800" kern="100" spc="0" dirty="0" err="1">
                          <a:effectLst/>
                        </a:rPr>
                        <a:t>colours</a:t>
                      </a:r>
                      <a:r>
                        <a:rPr lang="en-US" sz="1800" kern="100" spc="-10" dirty="0">
                          <a:effectLst/>
                        </a:rPr>
                        <a:t> </a:t>
                      </a:r>
                      <a:r>
                        <a:rPr lang="en-US" sz="1800" kern="100" spc="0" dirty="0">
                          <a:effectLst/>
                        </a:rPr>
                        <a:t>and</a:t>
                      </a:r>
                      <a:r>
                        <a:rPr lang="en-US" sz="1800" kern="100" spc="-40" dirty="0">
                          <a:effectLst/>
                        </a:rPr>
                        <a:t> </a:t>
                      </a:r>
                      <a:r>
                        <a:rPr lang="en-US" sz="1800" kern="100" spc="-10" dirty="0">
                          <a:effectLst/>
                        </a:rPr>
                        <a:t>accessories.</a:t>
                      </a:r>
                      <a:endParaRPr lang="en-IN" sz="1800" kern="100" spc="0" dirty="0">
                        <a:effectLst/>
                      </a:endParaRPr>
                    </a:p>
                    <a:p>
                      <a:pPr marL="342900" lvl="0" indent="-342900" algn="just">
                        <a:spcBef>
                          <a:spcPts val="240"/>
                        </a:spcBef>
                        <a:spcAft>
                          <a:spcPts val="0"/>
                        </a:spcAft>
                        <a:buClr>
                          <a:srgbClr val="333333"/>
                        </a:buClr>
                        <a:buSzPts val="1200"/>
                        <a:buFont typeface="Segoe UI Semibold" panose="020B0702040204020203" pitchFamily="34" charset="0"/>
                        <a:buChar char="•"/>
                        <a:tabLst>
                          <a:tab pos="181610" algn="l"/>
                        </a:tabLst>
                      </a:pPr>
                      <a:r>
                        <a:rPr lang="en-IN" sz="1800" kern="100" dirty="0">
                          <a:effectLst/>
                        </a:rPr>
                        <a:t>Presentation</a:t>
                      </a:r>
                      <a:r>
                        <a:rPr lang="en-IN" sz="1800" kern="100" spc="-30" dirty="0">
                          <a:effectLst/>
                        </a:rPr>
                        <a:t> </a:t>
                      </a:r>
                      <a:r>
                        <a:rPr lang="en-IN" sz="1800" kern="100" dirty="0">
                          <a:effectLst/>
                        </a:rPr>
                        <a:t>of</a:t>
                      </a:r>
                      <a:r>
                        <a:rPr lang="en-IN" sz="1800" kern="100" spc="-50" dirty="0">
                          <a:effectLst/>
                        </a:rPr>
                        <a:t> </a:t>
                      </a:r>
                      <a:r>
                        <a:rPr lang="en-IN" sz="1800" kern="100" dirty="0">
                          <a:effectLst/>
                        </a:rPr>
                        <a:t>conceptual</a:t>
                      </a:r>
                      <a:r>
                        <a:rPr lang="en-IN" sz="1800" kern="100" spc="-40" dirty="0">
                          <a:effectLst/>
                        </a:rPr>
                        <a:t> </a:t>
                      </a:r>
                      <a:r>
                        <a:rPr lang="en-IN" sz="1800" kern="100" dirty="0">
                          <a:effectLst/>
                        </a:rPr>
                        <a:t>3D</a:t>
                      </a:r>
                      <a:r>
                        <a:rPr lang="en-IN" sz="1800" kern="100" spc="-50" dirty="0">
                          <a:effectLst/>
                        </a:rPr>
                        <a:t> </a:t>
                      </a:r>
                      <a:r>
                        <a:rPr lang="en-IN" sz="1800" kern="100" dirty="0">
                          <a:effectLst/>
                        </a:rPr>
                        <a:t>visualizations</a:t>
                      </a:r>
                      <a:r>
                        <a:rPr lang="en-IN" sz="1800" kern="100" spc="-40" dirty="0">
                          <a:effectLst/>
                        </a:rPr>
                        <a:t> </a:t>
                      </a:r>
                      <a:r>
                        <a:rPr lang="en-IN" sz="1800" kern="100" dirty="0">
                          <a:effectLst/>
                        </a:rPr>
                        <a:t>and</a:t>
                      </a:r>
                      <a:r>
                        <a:rPr lang="en-IN" sz="1800" kern="100" spc="-40" dirty="0">
                          <a:effectLst/>
                        </a:rPr>
                        <a:t> </a:t>
                      </a:r>
                      <a:r>
                        <a:rPr lang="en-IN" sz="1800" kern="100" dirty="0">
                          <a:effectLst/>
                        </a:rPr>
                        <a:t>design</a:t>
                      </a:r>
                      <a:r>
                        <a:rPr lang="en-IN" sz="1800" kern="100" spc="-40" dirty="0">
                          <a:effectLst/>
                        </a:rPr>
                        <a:t> </a:t>
                      </a:r>
                      <a:r>
                        <a:rPr lang="en-IN" sz="1800" kern="100" dirty="0">
                          <a:effectLst/>
                        </a:rPr>
                        <a:t>proposals</a:t>
                      </a:r>
                      <a:r>
                        <a:rPr lang="en-IN" sz="1800" kern="100" spc="-45" dirty="0">
                          <a:effectLst/>
                        </a:rPr>
                        <a:t> </a:t>
                      </a:r>
                      <a:r>
                        <a:rPr lang="en-IN" sz="1800" kern="100" dirty="0">
                          <a:effectLst/>
                        </a:rPr>
                        <a:t>for </a:t>
                      </a:r>
                      <a:r>
                        <a:rPr lang="en-IN" sz="1800" kern="100" spc="-10" dirty="0">
                          <a:effectLst/>
                        </a:rPr>
                        <a:t>approval.</a:t>
                      </a:r>
                    </a:p>
                    <a:p>
                      <a:pPr marL="342900" lvl="0" indent="-342900" algn="just">
                        <a:spcBef>
                          <a:spcPts val="240"/>
                        </a:spcBef>
                        <a:spcAft>
                          <a:spcPts val="0"/>
                        </a:spcAft>
                        <a:buClr>
                          <a:srgbClr val="333333"/>
                        </a:buClr>
                        <a:buSzPts val="1200"/>
                        <a:buFont typeface="Segoe UI Semibold" panose="020B0702040204020203" pitchFamily="34" charset="0"/>
                        <a:buChar char="•"/>
                        <a:tabLst>
                          <a:tab pos="181610" algn="l"/>
                        </a:tabLs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1977" marR="61977" marT="0" marB="0"/>
                </a:tc>
                <a:extLst>
                  <a:ext uri="{0D108BD9-81ED-4DB2-BD59-A6C34878D82A}">
                    <a16:rowId xmlns:a16="http://schemas.microsoft.com/office/drawing/2014/main" val="483712610"/>
                  </a:ext>
                </a:extLst>
              </a:tr>
              <a:tr h="1626385">
                <a:tc>
                  <a:txBody>
                    <a:bodyPr/>
                    <a:lstStyle/>
                    <a:p>
                      <a:pPr marL="76200">
                        <a:spcBef>
                          <a:spcPts val="565"/>
                        </a:spcBef>
                        <a:spcAft>
                          <a:spcPts val="0"/>
                        </a:spcAft>
                      </a:pPr>
                      <a:r>
                        <a:rPr lang="en-US" sz="1800" kern="100">
                          <a:effectLst/>
                        </a:rPr>
                        <a:t> </a:t>
                      </a:r>
                      <a:endParaRPr lang="en-IN" sz="1800" kern="100">
                        <a:effectLst/>
                      </a:endParaRPr>
                    </a:p>
                    <a:p>
                      <a:pPr marL="76200">
                        <a:spcBef>
                          <a:spcPts val="385"/>
                        </a:spcBef>
                        <a:spcAft>
                          <a:spcPts val="0"/>
                        </a:spcAft>
                      </a:pPr>
                      <a:r>
                        <a:rPr lang="en-US" sz="1800" kern="100">
                          <a:effectLst/>
                        </a:rPr>
                        <a:t> </a:t>
                      </a:r>
                      <a:endParaRPr lang="en-IN" sz="1800" kern="100">
                        <a:effectLst/>
                      </a:endParaRPr>
                    </a:p>
                    <a:p>
                      <a:pPr>
                        <a:lnSpc>
                          <a:spcPct val="115000"/>
                        </a:lnSpc>
                        <a:spcAft>
                          <a:spcPts val="0"/>
                        </a:spcAft>
                      </a:pPr>
                      <a:r>
                        <a:rPr lang="en-IN" sz="1800" kern="100">
                          <a:effectLst/>
                        </a:rPr>
                        <a:t>Design</a:t>
                      </a:r>
                      <a:r>
                        <a:rPr lang="en-IN" sz="1800" kern="100" spc="-65">
                          <a:effectLst/>
                        </a:rPr>
                        <a:t> </a:t>
                      </a:r>
                      <a:r>
                        <a:rPr lang="en-IN" sz="1800" kern="100">
                          <a:effectLst/>
                        </a:rPr>
                        <a:t>Approval</a:t>
                      </a:r>
                      <a:r>
                        <a:rPr lang="en-IN" sz="1800" kern="100" spc="-65">
                          <a:effectLst/>
                        </a:rPr>
                        <a:t> </a:t>
                      </a:r>
                      <a:endParaRPr lang="en-IN" sz="1800" kern="100">
                        <a:effectLst/>
                      </a:endParaRPr>
                    </a:p>
                    <a:p>
                      <a:pPr>
                        <a:lnSpc>
                          <a:spcPct val="115000"/>
                        </a:lnSpc>
                        <a:spcAft>
                          <a:spcPts val="0"/>
                        </a:spcAft>
                      </a:pPr>
                      <a:r>
                        <a:rPr lang="en-IN" sz="1800" kern="100">
                          <a:effectLst/>
                        </a:rPr>
                        <a:t>&amp; Production</a:t>
                      </a:r>
                      <a:r>
                        <a:rPr lang="en-IN" sz="1800" kern="100" spc="-65">
                          <a:effectLst/>
                        </a:rPr>
                        <a:t> </a:t>
                      </a:r>
                      <a:r>
                        <a:rPr lang="en-IN" sz="1800" kern="100" spc="-10">
                          <a:effectLst/>
                        </a:rPr>
                        <a:t>Release</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1977" marR="61977" marT="0" marB="0"/>
                </a:tc>
                <a:tc>
                  <a:txBody>
                    <a:bodyPr/>
                    <a:lstStyle/>
                    <a:p>
                      <a:pPr marL="76200">
                        <a:spcBef>
                          <a:spcPts val="565"/>
                        </a:spcBef>
                        <a:spcAft>
                          <a:spcPts val="0"/>
                        </a:spcAft>
                      </a:pPr>
                      <a:r>
                        <a:rPr lang="en-US" sz="1800" kern="100" dirty="0">
                          <a:effectLst/>
                        </a:rPr>
                        <a:t> </a:t>
                      </a:r>
                      <a:endParaRPr lang="en-IN" sz="1800" kern="100" dirty="0">
                        <a:effectLst/>
                      </a:endParaRPr>
                    </a:p>
                    <a:p>
                      <a:pPr marL="76200">
                        <a:spcBef>
                          <a:spcPts val="975"/>
                        </a:spcBef>
                        <a:spcAft>
                          <a:spcPts val="0"/>
                        </a:spcAft>
                      </a:pPr>
                      <a:r>
                        <a:rPr lang="en-US" sz="1800" kern="100" dirty="0">
                          <a:effectLst/>
                        </a:rPr>
                        <a:t> </a:t>
                      </a:r>
                      <a:endParaRPr lang="en-IN" sz="1800" kern="100" dirty="0">
                        <a:effectLst/>
                      </a:endParaRPr>
                    </a:p>
                    <a:p>
                      <a:pPr>
                        <a:lnSpc>
                          <a:spcPct val="115000"/>
                        </a:lnSpc>
                        <a:spcAft>
                          <a:spcPts val="0"/>
                        </a:spcAft>
                      </a:pPr>
                      <a:endParaRPr lang="en-IN" sz="1800" kern="100" spc="-25" dirty="0">
                        <a:effectLst/>
                      </a:endParaRPr>
                    </a:p>
                    <a:p>
                      <a:pPr>
                        <a:lnSpc>
                          <a:spcPct val="115000"/>
                        </a:lnSpc>
                        <a:spcAft>
                          <a:spcPts val="0"/>
                        </a:spcAft>
                      </a:pPr>
                      <a:r>
                        <a:rPr lang="en-IN" sz="1800" kern="100" spc="-25" dirty="0">
                          <a:effectLst/>
                        </a:rPr>
                        <a:t>35%</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1977" marR="61977" marT="0" marB="0"/>
                </a:tc>
                <a:tc>
                  <a:txBody>
                    <a:bodyPr/>
                    <a:lstStyle/>
                    <a:p>
                      <a:pPr marL="342900" lvl="0" indent="-342900" algn="just">
                        <a:spcBef>
                          <a:spcPts val="250"/>
                        </a:spcBef>
                        <a:spcAft>
                          <a:spcPts val="0"/>
                        </a:spcAft>
                        <a:buClr>
                          <a:srgbClr val="333333"/>
                        </a:buClr>
                        <a:buSzPts val="1200"/>
                        <a:buFont typeface="Segoe UI Semibold" panose="020B0702040204020203" pitchFamily="34" charset="0"/>
                        <a:buChar char="•"/>
                        <a:tabLst>
                          <a:tab pos="181610" algn="l"/>
                        </a:tabLst>
                      </a:pPr>
                      <a:endParaRPr lang="en-US" sz="1800" kern="100" spc="0" dirty="0">
                        <a:effectLst/>
                      </a:endParaRPr>
                    </a:p>
                    <a:p>
                      <a:pPr marL="342900" lvl="0" indent="-342900" algn="just">
                        <a:spcBef>
                          <a:spcPts val="250"/>
                        </a:spcBef>
                        <a:spcAft>
                          <a:spcPts val="0"/>
                        </a:spcAft>
                        <a:buClr>
                          <a:srgbClr val="333333"/>
                        </a:buClr>
                        <a:buSzPts val="1200"/>
                        <a:buFont typeface="Segoe UI Semibold" panose="020B0702040204020203" pitchFamily="34" charset="0"/>
                        <a:buChar char="•"/>
                        <a:tabLst>
                          <a:tab pos="181610" algn="l"/>
                        </a:tabLst>
                      </a:pPr>
                      <a:r>
                        <a:rPr lang="en-US" sz="1800" kern="100" spc="0" dirty="0">
                          <a:effectLst/>
                        </a:rPr>
                        <a:t>Release</a:t>
                      </a:r>
                      <a:r>
                        <a:rPr lang="en-US" sz="1800" kern="100" spc="-50" dirty="0">
                          <a:effectLst/>
                        </a:rPr>
                        <a:t> </a:t>
                      </a:r>
                      <a:r>
                        <a:rPr lang="en-US" sz="1800" kern="100" spc="0" dirty="0">
                          <a:effectLst/>
                        </a:rPr>
                        <a:t>of</a:t>
                      </a:r>
                      <a:r>
                        <a:rPr lang="en-US" sz="1800" kern="100" spc="-50" dirty="0">
                          <a:effectLst/>
                        </a:rPr>
                        <a:t> </a:t>
                      </a:r>
                      <a:r>
                        <a:rPr lang="en-US" sz="1800" kern="100" spc="0" dirty="0">
                          <a:effectLst/>
                        </a:rPr>
                        <a:t>approved</a:t>
                      </a:r>
                      <a:r>
                        <a:rPr lang="en-US" sz="1800" kern="100" spc="-30" dirty="0">
                          <a:effectLst/>
                        </a:rPr>
                        <a:t> </a:t>
                      </a:r>
                      <a:r>
                        <a:rPr lang="en-US" sz="1800" kern="100" spc="0" dirty="0">
                          <a:effectLst/>
                        </a:rPr>
                        <a:t>designs</a:t>
                      </a:r>
                      <a:r>
                        <a:rPr lang="en-US" sz="1800" kern="100" spc="-40" dirty="0">
                          <a:effectLst/>
                        </a:rPr>
                        <a:t> </a:t>
                      </a:r>
                      <a:r>
                        <a:rPr lang="en-US" sz="1800" kern="100" spc="0" dirty="0">
                          <a:effectLst/>
                        </a:rPr>
                        <a:t>for</a:t>
                      </a:r>
                      <a:r>
                        <a:rPr lang="en-US" sz="1800" kern="100" spc="-45" dirty="0">
                          <a:effectLst/>
                        </a:rPr>
                        <a:t> </a:t>
                      </a:r>
                      <a:r>
                        <a:rPr lang="en-US" sz="1800" kern="100" spc="0" dirty="0">
                          <a:effectLst/>
                        </a:rPr>
                        <a:t>manufacturing</a:t>
                      </a:r>
                      <a:r>
                        <a:rPr lang="en-US" sz="1800" kern="100" spc="-15" dirty="0">
                          <a:effectLst/>
                        </a:rPr>
                        <a:t> </a:t>
                      </a:r>
                      <a:r>
                        <a:rPr lang="en-US" sz="1800" kern="100" spc="0" dirty="0">
                          <a:effectLst/>
                        </a:rPr>
                        <a:t>and</a:t>
                      </a:r>
                      <a:r>
                        <a:rPr lang="en-US" sz="1800" kern="100" spc="-35" dirty="0">
                          <a:effectLst/>
                        </a:rPr>
                        <a:t> </a:t>
                      </a:r>
                      <a:r>
                        <a:rPr lang="en-US" sz="1800" kern="100" spc="-10" dirty="0">
                          <a:effectLst/>
                        </a:rPr>
                        <a:t>production.</a:t>
                      </a:r>
                      <a:endParaRPr lang="en-IN" sz="1800" kern="100" spc="0" dirty="0">
                        <a:effectLst/>
                      </a:endParaRPr>
                    </a:p>
                    <a:p>
                      <a:pPr marL="342900" lvl="0" indent="-342900" algn="just">
                        <a:spcBef>
                          <a:spcPts val="240"/>
                        </a:spcBef>
                        <a:spcAft>
                          <a:spcPts val="0"/>
                        </a:spcAft>
                        <a:buClr>
                          <a:srgbClr val="333333"/>
                        </a:buClr>
                        <a:buSzPts val="1200"/>
                        <a:buFont typeface="Segoe UI Semibold" panose="020B0702040204020203" pitchFamily="34" charset="0"/>
                        <a:buChar char="•"/>
                        <a:tabLst>
                          <a:tab pos="181610" algn="l"/>
                        </a:tabLst>
                      </a:pPr>
                      <a:r>
                        <a:rPr lang="en-US" sz="1800" kern="100" spc="0" dirty="0">
                          <a:effectLst/>
                        </a:rPr>
                        <a:t>Procurement</a:t>
                      </a:r>
                      <a:r>
                        <a:rPr lang="en-US" sz="1800" kern="100" spc="-45" dirty="0">
                          <a:effectLst/>
                        </a:rPr>
                        <a:t> </a:t>
                      </a:r>
                      <a:r>
                        <a:rPr lang="en-US" sz="1800" kern="100" spc="0" dirty="0">
                          <a:effectLst/>
                        </a:rPr>
                        <a:t>planning</a:t>
                      </a:r>
                      <a:r>
                        <a:rPr lang="en-US" sz="1800" kern="100" spc="-35" dirty="0">
                          <a:effectLst/>
                        </a:rPr>
                        <a:t> </a:t>
                      </a:r>
                      <a:r>
                        <a:rPr lang="en-US" sz="1800" kern="100" spc="0" dirty="0">
                          <a:effectLst/>
                        </a:rPr>
                        <a:t>and</a:t>
                      </a:r>
                      <a:r>
                        <a:rPr lang="en-US" sz="1800" kern="100" spc="-45" dirty="0">
                          <a:effectLst/>
                        </a:rPr>
                        <a:t> </a:t>
                      </a:r>
                      <a:r>
                        <a:rPr lang="en-US" sz="1800" kern="100" spc="0" dirty="0">
                          <a:effectLst/>
                        </a:rPr>
                        <a:t>production</a:t>
                      </a:r>
                      <a:r>
                        <a:rPr lang="en-US" sz="1800" kern="100" spc="-50" dirty="0">
                          <a:effectLst/>
                        </a:rPr>
                        <a:t> </a:t>
                      </a:r>
                      <a:r>
                        <a:rPr lang="en-US" sz="1800" kern="100" spc="0" dirty="0">
                          <a:effectLst/>
                        </a:rPr>
                        <a:t>scheduling</a:t>
                      </a:r>
                      <a:r>
                        <a:rPr lang="en-US" sz="1800" kern="100" spc="-30" dirty="0">
                          <a:effectLst/>
                        </a:rPr>
                        <a:t> </a:t>
                      </a:r>
                      <a:r>
                        <a:rPr lang="en-US" sz="1800" kern="100" spc="-10" dirty="0">
                          <a:effectLst/>
                        </a:rPr>
                        <a:t>commence.</a:t>
                      </a:r>
                      <a:endParaRPr lang="en-IN" sz="1800" kern="100" spc="0" dirty="0">
                        <a:effectLst/>
                      </a:endParaRPr>
                    </a:p>
                    <a:p>
                      <a:pPr marL="342900" lvl="0" indent="-342900" algn="just">
                        <a:spcBef>
                          <a:spcPts val="240"/>
                        </a:spcBef>
                        <a:spcAft>
                          <a:spcPts val="0"/>
                        </a:spcAft>
                        <a:buClr>
                          <a:srgbClr val="333333"/>
                        </a:buClr>
                        <a:buSzPts val="1200"/>
                        <a:buFont typeface="Segoe UI Semibold" panose="020B0702040204020203" pitchFamily="34" charset="0"/>
                        <a:buChar char="•"/>
                        <a:tabLst>
                          <a:tab pos="181610" algn="l"/>
                        </a:tabLst>
                      </a:pPr>
                      <a:r>
                        <a:rPr lang="en-US" sz="1800" kern="100" spc="0" dirty="0">
                          <a:effectLst/>
                        </a:rPr>
                        <a:t>No</a:t>
                      </a:r>
                      <a:r>
                        <a:rPr lang="en-US" sz="1800" kern="100" spc="-55" dirty="0">
                          <a:effectLst/>
                        </a:rPr>
                        <a:t> </a:t>
                      </a:r>
                      <a:r>
                        <a:rPr lang="en-US" sz="1800" kern="100" spc="0" dirty="0">
                          <a:effectLst/>
                        </a:rPr>
                        <a:t>modifications</a:t>
                      </a:r>
                      <a:r>
                        <a:rPr lang="en-US" sz="1800" kern="100" spc="-35" dirty="0">
                          <a:effectLst/>
                        </a:rPr>
                        <a:t> to the </a:t>
                      </a:r>
                      <a:r>
                        <a:rPr lang="en-US" sz="1800" kern="100" spc="0" dirty="0">
                          <a:effectLst/>
                        </a:rPr>
                        <a:t>approved</a:t>
                      </a:r>
                      <a:r>
                        <a:rPr lang="en-US" sz="1800" kern="100" spc="-20" dirty="0">
                          <a:effectLst/>
                        </a:rPr>
                        <a:t> </a:t>
                      </a:r>
                      <a:r>
                        <a:rPr lang="en-US" sz="1800" kern="100" spc="0" dirty="0">
                          <a:effectLst/>
                        </a:rPr>
                        <a:t>designs,</a:t>
                      </a:r>
                      <a:r>
                        <a:rPr lang="en-US" sz="1800" kern="100" spc="-30" dirty="0">
                          <a:effectLst/>
                        </a:rPr>
                        <a:t> </a:t>
                      </a:r>
                      <a:r>
                        <a:rPr lang="en-US" sz="1800" kern="100" spc="0" dirty="0">
                          <a:effectLst/>
                        </a:rPr>
                        <a:t>dimensions,</a:t>
                      </a:r>
                      <a:r>
                        <a:rPr lang="en-US" sz="1800" kern="100" spc="-40" dirty="0">
                          <a:effectLst/>
                        </a:rPr>
                        <a:t> </a:t>
                      </a:r>
                      <a:r>
                        <a:rPr lang="en-US" sz="1800" kern="100" spc="0" dirty="0">
                          <a:effectLst/>
                        </a:rPr>
                        <a:t>or</a:t>
                      </a:r>
                      <a:r>
                        <a:rPr lang="en-US" sz="1800" kern="100" spc="-35" dirty="0">
                          <a:effectLst/>
                        </a:rPr>
                        <a:t> </a:t>
                      </a:r>
                      <a:r>
                        <a:rPr lang="en-US" sz="1800" kern="100" spc="0" dirty="0">
                          <a:effectLst/>
                        </a:rPr>
                        <a:t>specifications</a:t>
                      </a:r>
                      <a:r>
                        <a:rPr lang="en-US" sz="1800" kern="100" spc="-40" dirty="0">
                          <a:effectLst/>
                        </a:rPr>
                        <a:t> </a:t>
                      </a:r>
                      <a:r>
                        <a:rPr lang="en-US" sz="1800" kern="100" spc="0" dirty="0">
                          <a:effectLst/>
                        </a:rPr>
                        <a:t>shall</a:t>
                      </a:r>
                      <a:r>
                        <a:rPr lang="en-US" sz="1800" kern="100" spc="-35" dirty="0">
                          <a:effectLst/>
                        </a:rPr>
                        <a:t> </a:t>
                      </a:r>
                      <a:r>
                        <a:rPr lang="en-US" sz="1800" kern="100" spc="-25" dirty="0">
                          <a:effectLst/>
                        </a:rPr>
                        <a:t>be </a:t>
                      </a:r>
                      <a:r>
                        <a:rPr lang="en-IN" sz="1800" kern="100" dirty="0">
                          <a:effectLst/>
                        </a:rPr>
                        <a:t>permitted</a:t>
                      </a:r>
                      <a:r>
                        <a:rPr lang="en-IN" sz="1800" kern="100" spc="-10" dirty="0">
                          <a:effectLst/>
                        </a:rPr>
                        <a:t> </a:t>
                      </a:r>
                      <a:r>
                        <a:rPr lang="en-IN" sz="1800" kern="100" dirty="0">
                          <a:effectLst/>
                        </a:rPr>
                        <a:t>after</a:t>
                      </a:r>
                      <a:r>
                        <a:rPr lang="en-IN" sz="1800" kern="100" spc="-15" dirty="0">
                          <a:effectLst/>
                        </a:rPr>
                        <a:t> </a:t>
                      </a:r>
                      <a:r>
                        <a:rPr lang="en-IN" sz="1800" kern="100" dirty="0">
                          <a:effectLst/>
                        </a:rPr>
                        <a:t>this</a:t>
                      </a:r>
                      <a:r>
                        <a:rPr lang="en-IN" sz="1800" kern="100" spc="-35" dirty="0">
                          <a:effectLst/>
                        </a:rPr>
                        <a:t> </a:t>
                      </a:r>
                      <a:r>
                        <a:rPr lang="en-IN" sz="1800" kern="100" spc="-10" dirty="0">
                          <a:effectLst/>
                        </a:rPr>
                        <a:t>stage.</a:t>
                      </a:r>
                    </a:p>
                    <a:p>
                      <a:pPr marL="342900" lvl="0" indent="-342900" algn="just">
                        <a:spcBef>
                          <a:spcPts val="240"/>
                        </a:spcBef>
                        <a:spcAft>
                          <a:spcPts val="0"/>
                        </a:spcAft>
                        <a:buClr>
                          <a:srgbClr val="333333"/>
                        </a:buClr>
                        <a:buSzPts val="1200"/>
                        <a:buFont typeface="Segoe UI Semibold" panose="020B0702040204020203" pitchFamily="34" charset="0"/>
                        <a:buChar char="•"/>
                        <a:tabLst>
                          <a:tab pos="181610" algn="l"/>
                        </a:tabLs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1977" marR="61977" marT="0" marB="0"/>
                </a:tc>
                <a:extLst>
                  <a:ext uri="{0D108BD9-81ED-4DB2-BD59-A6C34878D82A}">
                    <a16:rowId xmlns:a16="http://schemas.microsoft.com/office/drawing/2014/main" val="1017863912"/>
                  </a:ext>
                </a:extLst>
              </a:tr>
              <a:tr h="1888364">
                <a:tc>
                  <a:txBody>
                    <a:bodyPr/>
                    <a:lstStyle/>
                    <a:p>
                      <a:pPr marL="76200">
                        <a:spcBef>
                          <a:spcPts val="565"/>
                        </a:spcBef>
                        <a:spcAft>
                          <a:spcPts val="0"/>
                        </a:spcAft>
                      </a:pPr>
                      <a:r>
                        <a:rPr lang="en-US" sz="1800" kern="100" dirty="0">
                          <a:effectLst/>
                        </a:rPr>
                        <a:t> </a:t>
                      </a:r>
                      <a:endParaRPr lang="en-IN" sz="1800" kern="100" dirty="0">
                        <a:effectLst/>
                      </a:endParaRPr>
                    </a:p>
                    <a:p>
                      <a:pPr marL="76200">
                        <a:spcBef>
                          <a:spcPts val="565"/>
                        </a:spcBef>
                        <a:spcAft>
                          <a:spcPts val="0"/>
                        </a:spcAft>
                      </a:pPr>
                      <a:endParaRPr lang="en-IN" sz="1800" kern="100" dirty="0">
                        <a:effectLst/>
                      </a:endParaRPr>
                    </a:p>
                    <a:p>
                      <a:pPr marL="76200">
                        <a:spcBef>
                          <a:spcPts val="565"/>
                        </a:spcBef>
                        <a:spcAft>
                          <a:spcPts val="0"/>
                        </a:spcAft>
                      </a:pPr>
                      <a:r>
                        <a:rPr lang="en-IN" sz="1800" kern="100" dirty="0">
                          <a:effectLst/>
                        </a:rPr>
                        <a:t>Production</a:t>
                      </a:r>
                      <a:r>
                        <a:rPr lang="en-IN" sz="1800" kern="100" spc="-85" dirty="0">
                          <a:effectLst/>
                        </a:rPr>
                        <a:t> </a:t>
                      </a:r>
                      <a:r>
                        <a:rPr lang="en-IN" sz="1800" kern="100" dirty="0">
                          <a:effectLst/>
                        </a:rPr>
                        <a:t>Completion</a:t>
                      </a:r>
                      <a:r>
                        <a:rPr lang="en-IN" sz="1800" kern="100" spc="-80" dirty="0">
                          <a:effectLst/>
                        </a:rPr>
                        <a:t> </a:t>
                      </a:r>
                      <a:endParaRPr lang="en-IN" sz="1800" kern="100" dirty="0">
                        <a:effectLst/>
                      </a:endParaRPr>
                    </a:p>
                    <a:p>
                      <a:pPr>
                        <a:lnSpc>
                          <a:spcPct val="115000"/>
                        </a:lnSpc>
                        <a:spcAft>
                          <a:spcPts val="0"/>
                        </a:spcAft>
                      </a:pPr>
                      <a:r>
                        <a:rPr lang="en-IN" sz="1800" kern="100" dirty="0">
                          <a:effectLst/>
                        </a:rPr>
                        <a:t>&amp; QC Clearance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1977" marR="61977" marT="0" marB="0"/>
                </a:tc>
                <a:tc>
                  <a:txBody>
                    <a:bodyPr/>
                    <a:lstStyle/>
                    <a:p>
                      <a:pPr marL="76200">
                        <a:spcBef>
                          <a:spcPts val="565"/>
                        </a:spcBef>
                        <a:spcAft>
                          <a:spcPts val="0"/>
                        </a:spcAft>
                      </a:pPr>
                      <a:r>
                        <a:rPr lang="en-US" sz="1800" kern="100" dirty="0">
                          <a:effectLst/>
                        </a:rPr>
                        <a:t> </a:t>
                      </a:r>
                      <a:endParaRPr lang="en-IN" sz="1800" kern="100" dirty="0">
                        <a:effectLst/>
                      </a:endParaRPr>
                    </a:p>
                    <a:p>
                      <a:pPr marL="76200">
                        <a:spcBef>
                          <a:spcPts val="975"/>
                        </a:spcBef>
                        <a:spcAft>
                          <a:spcPts val="0"/>
                        </a:spcAft>
                      </a:pPr>
                      <a:r>
                        <a:rPr lang="en-US" sz="1800" kern="100" dirty="0">
                          <a:effectLst/>
                        </a:rPr>
                        <a:t> </a:t>
                      </a:r>
                      <a:endParaRPr lang="en-IN" sz="1800" kern="100" dirty="0">
                        <a:effectLst/>
                      </a:endParaRPr>
                    </a:p>
                    <a:p>
                      <a:pPr>
                        <a:lnSpc>
                          <a:spcPct val="115000"/>
                        </a:lnSpc>
                        <a:spcAft>
                          <a:spcPts val="0"/>
                        </a:spcAft>
                      </a:pPr>
                      <a:endParaRPr lang="en-IN" sz="1800" kern="100" spc="-25" dirty="0">
                        <a:effectLst/>
                      </a:endParaRPr>
                    </a:p>
                    <a:p>
                      <a:pPr>
                        <a:lnSpc>
                          <a:spcPct val="115000"/>
                        </a:lnSpc>
                        <a:spcAft>
                          <a:spcPts val="0"/>
                        </a:spcAft>
                      </a:pPr>
                      <a:r>
                        <a:rPr lang="en-IN" sz="1800" kern="100" spc="-25" dirty="0">
                          <a:effectLst/>
                        </a:rPr>
                        <a:t>40%</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1977" marR="61977" marT="0" marB="0"/>
                </a:tc>
                <a:tc>
                  <a:txBody>
                    <a:bodyPr/>
                    <a:lstStyle/>
                    <a:p>
                      <a:pPr marL="342900" lvl="0" indent="-342900" algn="just">
                        <a:spcBef>
                          <a:spcPts val="225"/>
                        </a:spcBef>
                        <a:spcAft>
                          <a:spcPts val="0"/>
                        </a:spcAft>
                        <a:buClr>
                          <a:srgbClr val="333333"/>
                        </a:buClr>
                        <a:buSzPts val="1200"/>
                        <a:buFont typeface="Segoe UI Semibold" panose="020B0702040204020203" pitchFamily="34" charset="0"/>
                        <a:buChar char="•"/>
                        <a:tabLst>
                          <a:tab pos="181610" algn="l"/>
                        </a:tabLst>
                      </a:pPr>
                      <a:endParaRPr lang="en-US" sz="1800" kern="100" spc="0" dirty="0">
                        <a:effectLst/>
                      </a:endParaRPr>
                    </a:p>
                    <a:p>
                      <a:pPr marL="342900" lvl="0" indent="-342900" algn="just">
                        <a:spcBef>
                          <a:spcPts val="225"/>
                        </a:spcBef>
                        <a:spcAft>
                          <a:spcPts val="0"/>
                        </a:spcAft>
                        <a:buClr>
                          <a:srgbClr val="333333"/>
                        </a:buClr>
                        <a:buSzPts val="1200"/>
                        <a:buFont typeface="Segoe UI Semibold" panose="020B0702040204020203" pitchFamily="34" charset="0"/>
                        <a:buChar char="•"/>
                        <a:tabLst>
                          <a:tab pos="181610" algn="l"/>
                        </a:tabLst>
                      </a:pPr>
                      <a:r>
                        <a:rPr lang="en-US" sz="1800" kern="100" spc="0" dirty="0">
                          <a:effectLst/>
                        </a:rPr>
                        <a:t>Completion</a:t>
                      </a:r>
                      <a:r>
                        <a:rPr lang="en-US" sz="1800" kern="100" spc="-65" dirty="0">
                          <a:effectLst/>
                        </a:rPr>
                        <a:t> </a:t>
                      </a:r>
                      <a:r>
                        <a:rPr lang="en-US" sz="1800" kern="100" spc="0" dirty="0">
                          <a:effectLst/>
                        </a:rPr>
                        <a:t>of</a:t>
                      </a:r>
                      <a:r>
                        <a:rPr lang="en-US" sz="1800" kern="100" spc="-55" dirty="0">
                          <a:effectLst/>
                        </a:rPr>
                        <a:t> </a:t>
                      </a:r>
                      <a:r>
                        <a:rPr lang="en-US" sz="1800" kern="100" spc="0" dirty="0">
                          <a:effectLst/>
                        </a:rPr>
                        <a:t>manufacturing</a:t>
                      </a:r>
                      <a:r>
                        <a:rPr lang="en-US" sz="1800" kern="100" spc="-20" dirty="0">
                          <a:effectLst/>
                        </a:rPr>
                        <a:t> </a:t>
                      </a:r>
                      <a:r>
                        <a:rPr lang="en-US" sz="1800" kern="100" spc="-10" dirty="0">
                          <a:effectLst/>
                        </a:rPr>
                        <a:t>activities.</a:t>
                      </a:r>
                      <a:endParaRPr lang="en-IN" sz="1800" kern="100" spc="0" dirty="0">
                        <a:effectLst/>
                      </a:endParaRPr>
                    </a:p>
                    <a:p>
                      <a:pPr marL="342900" marR="877570" lvl="0" indent="-342900" algn="just">
                        <a:lnSpc>
                          <a:spcPct val="115000"/>
                        </a:lnSpc>
                        <a:spcBef>
                          <a:spcPts val="250"/>
                        </a:spcBef>
                        <a:spcAft>
                          <a:spcPts val="0"/>
                        </a:spcAft>
                        <a:buClr>
                          <a:srgbClr val="333333"/>
                        </a:buClr>
                        <a:buSzPts val="1200"/>
                        <a:buFont typeface="Segoe UI Semibold" panose="020B0702040204020203" pitchFamily="34" charset="0"/>
                        <a:buChar char="•"/>
                        <a:tabLst>
                          <a:tab pos="180975" algn="l"/>
                          <a:tab pos="200025" algn="l"/>
                        </a:tabLst>
                      </a:pPr>
                      <a:r>
                        <a:rPr lang="en-US" sz="1800" kern="100" spc="0" dirty="0">
                          <a:effectLst/>
                        </a:rPr>
                        <a:t>Comprehensive</a:t>
                      </a:r>
                      <a:r>
                        <a:rPr lang="en-US" sz="1800" kern="100" spc="-35" dirty="0">
                          <a:effectLst/>
                        </a:rPr>
                        <a:t> </a:t>
                      </a:r>
                      <a:r>
                        <a:rPr lang="en-US" sz="1800" kern="100" spc="0" dirty="0">
                          <a:effectLst/>
                        </a:rPr>
                        <a:t>Quality</a:t>
                      </a:r>
                      <a:r>
                        <a:rPr lang="en-US" sz="1800" kern="100" spc="-35" dirty="0">
                          <a:effectLst/>
                        </a:rPr>
                        <a:t> </a:t>
                      </a:r>
                      <a:r>
                        <a:rPr lang="en-US" sz="1800" kern="100" spc="0" dirty="0">
                          <a:effectLst/>
                        </a:rPr>
                        <a:t>Control</a:t>
                      </a:r>
                      <a:r>
                        <a:rPr lang="en-US" sz="1800" kern="100" spc="-35" dirty="0">
                          <a:effectLst/>
                        </a:rPr>
                        <a:t> </a:t>
                      </a:r>
                      <a:r>
                        <a:rPr lang="en-US" sz="1800" kern="100" spc="0" dirty="0">
                          <a:effectLst/>
                        </a:rPr>
                        <a:t>(QC)</a:t>
                      </a:r>
                      <a:r>
                        <a:rPr lang="en-US" sz="1800" kern="100" spc="-20" dirty="0">
                          <a:effectLst/>
                        </a:rPr>
                        <a:t> </a:t>
                      </a:r>
                      <a:r>
                        <a:rPr lang="en-US" sz="1800" kern="100" spc="0" dirty="0">
                          <a:effectLst/>
                        </a:rPr>
                        <a:t>inspection</a:t>
                      </a:r>
                      <a:r>
                        <a:rPr lang="en-US" sz="1800" kern="100" spc="-50" dirty="0">
                          <a:effectLst/>
                        </a:rPr>
                        <a:t> </a:t>
                      </a:r>
                      <a:r>
                        <a:rPr lang="en-US" sz="1800" kern="100" spc="0" dirty="0">
                          <a:effectLst/>
                        </a:rPr>
                        <a:t>of</a:t>
                      </a:r>
                      <a:r>
                        <a:rPr lang="en-US" sz="1800" kern="100" spc="-40" dirty="0">
                          <a:effectLst/>
                        </a:rPr>
                        <a:t> </a:t>
                      </a:r>
                      <a:r>
                        <a:rPr lang="en-US" sz="1800" kern="100" spc="0" dirty="0">
                          <a:effectLst/>
                        </a:rPr>
                        <a:t>all</a:t>
                      </a:r>
                      <a:r>
                        <a:rPr lang="en-US" sz="1800" kern="100" spc="-45" dirty="0">
                          <a:effectLst/>
                        </a:rPr>
                        <a:t> </a:t>
                      </a:r>
                      <a:r>
                        <a:rPr lang="en-US" sz="1800" kern="100" spc="0" dirty="0">
                          <a:effectLst/>
                        </a:rPr>
                        <a:t>materials</a:t>
                      </a:r>
                      <a:r>
                        <a:rPr lang="en-US" sz="1800" kern="100" spc="-40" dirty="0">
                          <a:effectLst/>
                        </a:rPr>
                        <a:t> </a:t>
                      </a:r>
                      <a:r>
                        <a:rPr lang="en-US" sz="1800" kern="100" spc="0" dirty="0">
                          <a:effectLst/>
                        </a:rPr>
                        <a:t>and </a:t>
                      </a:r>
                      <a:r>
                        <a:rPr lang="en-US" sz="1800" kern="100" spc="-10" dirty="0">
                          <a:effectLst/>
                        </a:rPr>
                        <a:t>components.</a:t>
                      </a:r>
                      <a:endParaRPr lang="en-IN" sz="1800" kern="100" spc="0" dirty="0">
                        <a:effectLst/>
                      </a:endParaRPr>
                    </a:p>
                    <a:p>
                      <a:pPr marL="342900" lvl="0" indent="-342900" algn="just">
                        <a:spcBef>
                          <a:spcPts val="5"/>
                        </a:spcBef>
                        <a:spcAft>
                          <a:spcPts val="0"/>
                        </a:spcAft>
                        <a:buClr>
                          <a:srgbClr val="333333"/>
                        </a:buClr>
                        <a:buSzPts val="1200"/>
                        <a:buFont typeface="Segoe UI Semibold" panose="020B0702040204020203" pitchFamily="34" charset="0"/>
                        <a:buChar char="•"/>
                        <a:tabLst>
                          <a:tab pos="181610" algn="l"/>
                        </a:tabLst>
                      </a:pPr>
                      <a:r>
                        <a:rPr lang="en-US" sz="1800" kern="100" spc="0" dirty="0">
                          <a:effectLst/>
                        </a:rPr>
                        <a:t>Approval</a:t>
                      </a:r>
                      <a:r>
                        <a:rPr lang="en-US" sz="1800" kern="100" spc="-35" dirty="0">
                          <a:effectLst/>
                        </a:rPr>
                        <a:t> </a:t>
                      </a:r>
                      <a:r>
                        <a:rPr lang="en-US" sz="1800" kern="100" spc="0" dirty="0">
                          <a:effectLst/>
                        </a:rPr>
                        <a:t>for</a:t>
                      </a:r>
                      <a:r>
                        <a:rPr lang="en-US" sz="1800" kern="100" spc="-40" dirty="0">
                          <a:effectLst/>
                        </a:rPr>
                        <a:t> </a:t>
                      </a:r>
                      <a:r>
                        <a:rPr lang="en-US" sz="1800" kern="100" spc="0" dirty="0">
                          <a:effectLst/>
                        </a:rPr>
                        <a:t>dispatch</a:t>
                      </a:r>
                      <a:r>
                        <a:rPr lang="en-US" sz="1800" kern="100" spc="-20" dirty="0">
                          <a:effectLst/>
                        </a:rPr>
                        <a:t> </a:t>
                      </a:r>
                      <a:r>
                        <a:rPr lang="en-US" sz="1800" kern="100" spc="0" dirty="0">
                          <a:effectLst/>
                        </a:rPr>
                        <a:t>from</a:t>
                      </a:r>
                      <a:r>
                        <a:rPr lang="en-US" sz="1800" kern="100" spc="-35" dirty="0">
                          <a:effectLst/>
                        </a:rPr>
                        <a:t> </a:t>
                      </a:r>
                      <a:r>
                        <a:rPr lang="en-US" sz="1800" kern="100" spc="0" dirty="0">
                          <a:effectLst/>
                        </a:rPr>
                        <a:t>the</a:t>
                      </a:r>
                      <a:r>
                        <a:rPr lang="en-US" sz="1800" kern="100" spc="-30" dirty="0">
                          <a:effectLst/>
                        </a:rPr>
                        <a:t> Factory </a:t>
                      </a:r>
                      <a:r>
                        <a:rPr lang="en-US" sz="1800" kern="100" spc="0" dirty="0">
                          <a:effectLst/>
                        </a:rPr>
                        <a:t>to</a:t>
                      </a:r>
                      <a:r>
                        <a:rPr lang="en-US" sz="1800" kern="100" spc="-35" dirty="0">
                          <a:effectLst/>
                        </a:rPr>
                        <a:t> </a:t>
                      </a:r>
                      <a:r>
                        <a:rPr lang="en-US" sz="1800" kern="100" spc="0" dirty="0">
                          <a:effectLst/>
                        </a:rPr>
                        <a:t>the</a:t>
                      </a:r>
                      <a:r>
                        <a:rPr lang="en-US" sz="1800" kern="100" spc="-30" dirty="0">
                          <a:effectLst/>
                        </a:rPr>
                        <a:t> </a:t>
                      </a:r>
                      <a:r>
                        <a:rPr lang="en-US" sz="1800" kern="100" spc="0" dirty="0">
                          <a:effectLst/>
                        </a:rPr>
                        <a:t>project</a:t>
                      </a:r>
                      <a:r>
                        <a:rPr lang="en-US" sz="1800" kern="100" spc="-30" dirty="0">
                          <a:effectLst/>
                        </a:rPr>
                        <a:t> </a:t>
                      </a:r>
                      <a:r>
                        <a:rPr lang="en-US" sz="1800" kern="100" spc="-10" dirty="0">
                          <a:effectLst/>
                        </a:rPr>
                        <a:t>site.</a:t>
                      </a:r>
                    </a:p>
                    <a:p>
                      <a:pPr marL="342900" lvl="0" indent="-342900" algn="just">
                        <a:spcBef>
                          <a:spcPts val="5"/>
                        </a:spcBef>
                        <a:spcAft>
                          <a:spcPts val="0"/>
                        </a:spcAft>
                        <a:buClr>
                          <a:srgbClr val="333333"/>
                        </a:buClr>
                        <a:buSzPts val="1200"/>
                        <a:buFont typeface="Segoe UI Semibold" panose="020B0702040204020203" pitchFamily="34" charset="0"/>
                        <a:buChar char="•"/>
                        <a:tabLst>
                          <a:tab pos="181610" algn="l"/>
                        </a:tabLst>
                      </a:pPr>
                      <a:r>
                        <a:rPr lang="en-IN" sz="1800" kern="100" dirty="0">
                          <a:effectLst/>
                        </a:rPr>
                        <a:t>Payment</a:t>
                      </a:r>
                      <a:r>
                        <a:rPr lang="en-IN" sz="1800" kern="100" spc="-45" dirty="0">
                          <a:effectLst/>
                        </a:rPr>
                        <a:t> </a:t>
                      </a:r>
                      <a:r>
                        <a:rPr lang="en-IN" sz="1800" kern="100" dirty="0">
                          <a:effectLst/>
                        </a:rPr>
                        <a:t>due</a:t>
                      </a:r>
                      <a:r>
                        <a:rPr lang="en-IN" sz="1800" kern="100" spc="-30" dirty="0">
                          <a:effectLst/>
                        </a:rPr>
                        <a:t> before </a:t>
                      </a:r>
                      <a:r>
                        <a:rPr lang="en-IN" sz="1800" kern="100" dirty="0">
                          <a:effectLst/>
                        </a:rPr>
                        <a:t>material</a:t>
                      </a:r>
                      <a:r>
                        <a:rPr lang="en-IN" sz="1800" kern="100" spc="-35" dirty="0">
                          <a:effectLst/>
                        </a:rPr>
                        <a:t> </a:t>
                      </a:r>
                      <a:r>
                        <a:rPr lang="en-IN" sz="1800" kern="100" dirty="0">
                          <a:effectLst/>
                        </a:rPr>
                        <a:t>dispatch</a:t>
                      </a:r>
                      <a:r>
                        <a:rPr lang="en-IN" sz="1800" kern="100" spc="-20" dirty="0">
                          <a:effectLst/>
                        </a:rPr>
                        <a:t> </a:t>
                      </a:r>
                      <a:r>
                        <a:rPr lang="en-IN" sz="1800" kern="100" dirty="0">
                          <a:effectLst/>
                        </a:rPr>
                        <a:t>and</a:t>
                      </a:r>
                      <a:r>
                        <a:rPr lang="en-IN" sz="1800" kern="100" spc="-30" dirty="0">
                          <a:effectLst/>
                        </a:rPr>
                        <a:t> </a:t>
                      </a:r>
                      <a:r>
                        <a:rPr lang="en-IN" sz="1800" kern="100" spc="-10" dirty="0">
                          <a:effectLst/>
                        </a:rPr>
                        <a:t>commencement of site installation.</a:t>
                      </a:r>
                    </a:p>
                    <a:p>
                      <a:pPr marL="342900" lvl="0" indent="-342900" algn="just">
                        <a:spcBef>
                          <a:spcPts val="5"/>
                        </a:spcBef>
                        <a:spcAft>
                          <a:spcPts val="0"/>
                        </a:spcAft>
                        <a:buClr>
                          <a:srgbClr val="333333"/>
                        </a:buClr>
                        <a:buSzPts val="1200"/>
                        <a:buFont typeface="Segoe UI Semibold" panose="020B0702040204020203" pitchFamily="34" charset="0"/>
                        <a:buChar char="•"/>
                        <a:tabLst>
                          <a:tab pos="181610" algn="l"/>
                        </a:tabLs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1977" marR="61977" marT="0" marB="0"/>
                </a:tc>
                <a:extLst>
                  <a:ext uri="{0D108BD9-81ED-4DB2-BD59-A6C34878D82A}">
                    <a16:rowId xmlns:a16="http://schemas.microsoft.com/office/drawing/2014/main" val="3862934743"/>
                  </a:ext>
                </a:extLst>
              </a:tr>
              <a:tr h="2823338">
                <a:tc>
                  <a:txBody>
                    <a:bodyPr/>
                    <a:lstStyle/>
                    <a:p>
                      <a:pPr marL="76200">
                        <a:spcBef>
                          <a:spcPts val="930"/>
                        </a:spcBef>
                        <a:spcAft>
                          <a:spcPts val="0"/>
                        </a:spcAft>
                      </a:pPr>
                      <a:r>
                        <a:rPr lang="en-US" sz="1800" kern="100" dirty="0">
                          <a:effectLst/>
                        </a:rPr>
                        <a:t> </a:t>
                      </a:r>
                      <a:endParaRPr lang="en-IN" sz="1800" kern="100" dirty="0">
                        <a:effectLst/>
                      </a:endParaRPr>
                    </a:p>
                    <a:p>
                      <a:pPr>
                        <a:lnSpc>
                          <a:spcPct val="115000"/>
                        </a:lnSpc>
                        <a:spcAft>
                          <a:spcPts val="0"/>
                        </a:spcAft>
                      </a:pPr>
                      <a:endParaRPr lang="en-IN" sz="1800" kern="100" dirty="0">
                        <a:effectLst/>
                      </a:endParaRPr>
                    </a:p>
                    <a:p>
                      <a:pPr>
                        <a:lnSpc>
                          <a:spcPct val="115000"/>
                        </a:lnSpc>
                        <a:spcAft>
                          <a:spcPts val="0"/>
                        </a:spcAft>
                      </a:pPr>
                      <a:r>
                        <a:rPr lang="en-IN" sz="1800" kern="100" dirty="0">
                          <a:effectLst/>
                        </a:rPr>
                        <a:t>Installation</a:t>
                      </a:r>
                      <a:r>
                        <a:rPr lang="en-IN" sz="1800" kern="100" spc="-85" dirty="0">
                          <a:effectLst/>
                        </a:rPr>
                        <a:t> </a:t>
                      </a:r>
                      <a:r>
                        <a:rPr lang="en-IN" sz="1800" kern="100" dirty="0">
                          <a:effectLst/>
                        </a:rPr>
                        <a:t>Completion</a:t>
                      </a:r>
                      <a:r>
                        <a:rPr lang="en-IN" sz="1800" kern="100" spc="-80" dirty="0">
                          <a:effectLst/>
                        </a:rPr>
                        <a:t> </a:t>
                      </a:r>
                      <a:endParaRPr lang="en-IN" sz="1800" kern="100" dirty="0">
                        <a:effectLst/>
                      </a:endParaRPr>
                    </a:p>
                    <a:p>
                      <a:pPr>
                        <a:lnSpc>
                          <a:spcPct val="115000"/>
                        </a:lnSpc>
                        <a:spcAft>
                          <a:spcPts val="0"/>
                        </a:spcAft>
                      </a:pPr>
                      <a:r>
                        <a:rPr lang="en-IN" sz="1800" kern="100" dirty="0">
                          <a:effectLst/>
                        </a:rPr>
                        <a:t>&amp; Handover Stage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1977" marR="61977" marT="0" marB="0"/>
                </a:tc>
                <a:tc>
                  <a:txBody>
                    <a:bodyPr/>
                    <a:lstStyle/>
                    <a:p>
                      <a:pPr marL="76200">
                        <a:spcBef>
                          <a:spcPts val="565"/>
                        </a:spcBef>
                        <a:spcAft>
                          <a:spcPts val="0"/>
                        </a:spcAft>
                      </a:pPr>
                      <a:r>
                        <a:rPr lang="en-US" sz="1800" kern="100" dirty="0">
                          <a:effectLst/>
                        </a:rPr>
                        <a:t> </a:t>
                      </a:r>
                      <a:endParaRPr lang="en-IN" sz="1800" kern="100" dirty="0">
                        <a:effectLst/>
                      </a:endParaRPr>
                    </a:p>
                    <a:p>
                      <a:pPr marL="76200">
                        <a:spcBef>
                          <a:spcPts val="60"/>
                        </a:spcBef>
                        <a:spcAft>
                          <a:spcPts val="0"/>
                        </a:spcAft>
                      </a:pPr>
                      <a:r>
                        <a:rPr lang="en-US" sz="1800" kern="100" dirty="0">
                          <a:effectLst/>
                        </a:rPr>
                        <a:t> </a:t>
                      </a:r>
                      <a:endParaRPr lang="en-IN" sz="1800" kern="100" dirty="0">
                        <a:effectLst/>
                      </a:endParaRPr>
                    </a:p>
                    <a:p>
                      <a:pPr>
                        <a:lnSpc>
                          <a:spcPct val="115000"/>
                        </a:lnSpc>
                        <a:spcAft>
                          <a:spcPts val="0"/>
                        </a:spcAft>
                      </a:pPr>
                      <a:endParaRPr lang="en-IN" sz="1800" kern="100" spc="-25" dirty="0">
                        <a:effectLst/>
                      </a:endParaRPr>
                    </a:p>
                    <a:p>
                      <a:pPr>
                        <a:lnSpc>
                          <a:spcPct val="115000"/>
                        </a:lnSpc>
                        <a:spcAft>
                          <a:spcPts val="0"/>
                        </a:spcAft>
                      </a:pPr>
                      <a:endParaRPr lang="en-IN" sz="1800" kern="100" spc="-25" dirty="0">
                        <a:effectLst/>
                      </a:endParaRPr>
                    </a:p>
                    <a:p>
                      <a:pPr>
                        <a:lnSpc>
                          <a:spcPct val="115000"/>
                        </a:lnSpc>
                        <a:spcAft>
                          <a:spcPts val="0"/>
                        </a:spcAft>
                      </a:pPr>
                      <a:r>
                        <a:rPr lang="en-IN" sz="1800" kern="100" spc="-25" dirty="0">
                          <a:effectLst/>
                        </a:rPr>
                        <a:t>10%</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1977" marR="61977" marT="0" marB="0"/>
                </a:tc>
                <a:tc>
                  <a:txBody>
                    <a:bodyPr/>
                    <a:lstStyle/>
                    <a:p>
                      <a:pPr marL="342900" lvl="0" indent="-342900" algn="just">
                        <a:spcBef>
                          <a:spcPts val="225"/>
                        </a:spcBef>
                        <a:spcAft>
                          <a:spcPts val="0"/>
                        </a:spcAft>
                        <a:buClr>
                          <a:srgbClr val="333333"/>
                        </a:buClr>
                        <a:buSzPts val="1200"/>
                        <a:buFont typeface="Segoe UI Semibold" panose="020B0702040204020203" pitchFamily="34" charset="0"/>
                        <a:buChar char="•"/>
                        <a:tabLst>
                          <a:tab pos="181610" algn="l"/>
                        </a:tabLst>
                      </a:pPr>
                      <a:endParaRPr lang="en-US" sz="1800" kern="100" spc="0" dirty="0">
                        <a:effectLst/>
                      </a:endParaRPr>
                    </a:p>
                    <a:p>
                      <a:pPr marL="342900" lvl="0" indent="-342900" algn="just">
                        <a:spcBef>
                          <a:spcPts val="225"/>
                        </a:spcBef>
                        <a:spcAft>
                          <a:spcPts val="0"/>
                        </a:spcAft>
                        <a:buClr>
                          <a:srgbClr val="333333"/>
                        </a:buClr>
                        <a:buSzPts val="1200"/>
                        <a:buFont typeface="Segoe UI Semibold" panose="020B0702040204020203" pitchFamily="34" charset="0"/>
                        <a:buChar char="•"/>
                        <a:tabLst>
                          <a:tab pos="181610" algn="l"/>
                        </a:tabLst>
                      </a:pPr>
                      <a:r>
                        <a:rPr lang="en-US" sz="1800" kern="100" spc="0" dirty="0">
                          <a:effectLst/>
                        </a:rPr>
                        <a:t>Completion</a:t>
                      </a:r>
                      <a:r>
                        <a:rPr lang="en-US" sz="1800" kern="100" spc="-50" dirty="0">
                          <a:effectLst/>
                        </a:rPr>
                        <a:t> </a:t>
                      </a:r>
                      <a:r>
                        <a:rPr lang="en-US" sz="1800" kern="100" spc="0" dirty="0">
                          <a:effectLst/>
                        </a:rPr>
                        <a:t>of</a:t>
                      </a:r>
                      <a:r>
                        <a:rPr lang="en-US" sz="1800" kern="100" spc="-35" dirty="0">
                          <a:effectLst/>
                        </a:rPr>
                        <a:t> </a:t>
                      </a:r>
                      <a:r>
                        <a:rPr lang="en-US" sz="1800" kern="100" spc="0" dirty="0">
                          <a:effectLst/>
                        </a:rPr>
                        <a:t>modular</a:t>
                      </a:r>
                      <a:r>
                        <a:rPr lang="en-US" sz="1800" kern="100" spc="-20" dirty="0">
                          <a:effectLst/>
                        </a:rPr>
                        <a:t> </a:t>
                      </a:r>
                      <a:r>
                        <a:rPr lang="en-US" sz="1800" kern="100" spc="0" dirty="0">
                          <a:effectLst/>
                        </a:rPr>
                        <a:t>woodwork</a:t>
                      </a:r>
                      <a:r>
                        <a:rPr lang="en-US" sz="1800" kern="100" spc="-60" dirty="0">
                          <a:effectLst/>
                        </a:rPr>
                        <a:t> </a:t>
                      </a:r>
                      <a:r>
                        <a:rPr lang="en-US" sz="1800" kern="100" spc="0" dirty="0">
                          <a:effectLst/>
                        </a:rPr>
                        <a:t>installation</a:t>
                      </a:r>
                      <a:r>
                        <a:rPr lang="en-US" sz="1800" kern="100" spc="-25" dirty="0">
                          <a:effectLst/>
                        </a:rPr>
                        <a:t> </a:t>
                      </a:r>
                      <a:r>
                        <a:rPr lang="en-US" sz="1800" kern="100" spc="0" dirty="0">
                          <a:effectLst/>
                        </a:rPr>
                        <a:t>at</a:t>
                      </a:r>
                      <a:r>
                        <a:rPr lang="en-US" sz="1800" kern="100" spc="-20" dirty="0">
                          <a:effectLst/>
                        </a:rPr>
                        <a:t> the </a:t>
                      </a:r>
                      <a:r>
                        <a:rPr lang="en-US" sz="1800" kern="100" spc="-10" dirty="0">
                          <a:effectLst/>
                        </a:rPr>
                        <a:t>site.</a:t>
                      </a:r>
                      <a:endParaRPr lang="en-IN" sz="1800" kern="100" spc="0" dirty="0">
                        <a:effectLst/>
                      </a:endParaRPr>
                    </a:p>
                    <a:p>
                      <a:pPr marL="342900" marR="76200" lvl="0" indent="-342900" algn="just">
                        <a:lnSpc>
                          <a:spcPct val="115000"/>
                        </a:lnSpc>
                        <a:spcBef>
                          <a:spcPts val="250"/>
                        </a:spcBef>
                        <a:spcAft>
                          <a:spcPts val="0"/>
                        </a:spcAft>
                        <a:buClr>
                          <a:srgbClr val="333333"/>
                        </a:buClr>
                        <a:buSzPts val="1200"/>
                        <a:buFont typeface="Segoe UI Semibold" panose="020B0702040204020203" pitchFamily="34" charset="0"/>
                        <a:buChar char="•"/>
                        <a:tabLst>
                          <a:tab pos="180975" algn="l"/>
                          <a:tab pos="200025" algn="l"/>
                        </a:tabLst>
                      </a:pPr>
                      <a:r>
                        <a:rPr lang="en-US" sz="1800" kern="100" spc="0" dirty="0">
                          <a:effectLst/>
                        </a:rPr>
                        <a:t>Final</a:t>
                      </a:r>
                      <a:r>
                        <a:rPr lang="en-US" sz="1800" kern="100" spc="-45" dirty="0">
                          <a:effectLst/>
                        </a:rPr>
                        <a:t> </a:t>
                      </a:r>
                      <a:r>
                        <a:rPr lang="en-US" sz="1800" kern="100" spc="0" dirty="0">
                          <a:effectLst/>
                        </a:rPr>
                        <a:t>payment</a:t>
                      </a:r>
                      <a:r>
                        <a:rPr lang="en-US" sz="1800" kern="100" spc="-40" dirty="0">
                          <a:effectLst/>
                        </a:rPr>
                        <a:t> is </a:t>
                      </a:r>
                      <a:r>
                        <a:rPr lang="en-US" sz="1800" kern="100" spc="0" dirty="0">
                          <a:effectLst/>
                        </a:rPr>
                        <a:t>due</a:t>
                      </a:r>
                      <a:r>
                        <a:rPr lang="en-US" sz="1800" kern="100" spc="-40" dirty="0">
                          <a:effectLst/>
                        </a:rPr>
                        <a:t> </a:t>
                      </a:r>
                      <a:r>
                        <a:rPr lang="en-US" sz="1800" kern="100" spc="0" dirty="0">
                          <a:effectLst/>
                        </a:rPr>
                        <a:t>before the</a:t>
                      </a:r>
                      <a:r>
                        <a:rPr lang="en-US" sz="1800" kern="100" spc="-40" dirty="0">
                          <a:effectLst/>
                        </a:rPr>
                        <a:t> </a:t>
                      </a:r>
                      <a:r>
                        <a:rPr lang="en-US" sz="1800" kern="100" spc="0" dirty="0">
                          <a:effectLst/>
                        </a:rPr>
                        <a:t>installation</a:t>
                      </a:r>
                      <a:r>
                        <a:rPr lang="en-US" sz="1800" kern="100" spc="-40" dirty="0">
                          <a:effectLst/>
                        </a:rPr>
                        <a:t> </a:t>
                      </a:r>
                      <a:r>
                        <a:rPr lang="en-US" sz="1800" kern="100" spc="0" dirty="0">
                          <a:effectLst/>
                        </a:rPr>
                        <a:t>of</a:t>
                      </a:r>
                      <a:r>
                        <a:rPr lang="en-US" sz="1800" kern="100" spc="-40" dirty="0">
                          <a:effectLst/>
                        </a:rPr>
                        <a:t> </a:t>
                      </a:r>
                      <a:r>
                        <a:rPr lang="en-US" sz="1800" kern="100" spc="0" dirty="0">
                          <a:effectLst/>
                        </a:rPr>
                        <a:t>accessories,</a:t>
                      </a:r>
                      <a:r>
                        <a:rPr lang="en-US" sz="1800" kern="100" spc="-60" dirty="0">
                          <a:effectLst/>
                        </a:rPr>
                        <a:t> </a:t>
                      </a:r>
                      <a:r>
                        <a:rPr lang="en-US" sz="1800" kern="100" spc="0" dirty="0">
                          <a:effectLst/>
                        </a:rPr>
                        <a:t>hardware</a:t>
                      </a:r>
                      <a:r>
                        <a:rPr lang="en-US" sz="1800" kern="100" spc="-40" dirty="0">
                          <a:effectLst/>
                        </a:rPr>
                        <a:t> </a:t>
                      </a:r>
                      <a:r>
                        <a:rPr lang="en-US" sz="1800" kern="100" spc="0" dirty="0">
                          <a:effectLst/>
                        </a:rPr>
                        <a:t>and finishing elements.</a:t>
                      </a:r>
                    </a:p>
                    <a:p>
                      <a:pPr marL="342900" marR="76200" lvl="0" indent="-342900" algn="just">
                        <a:lnSpc>
                          <a:spcPct val="115000"/>
                        </a:lnSpc>
                        <a:spcBef>
                          <a:spcPts val="250"/>
                        </a:spcBef>
                        <a:spcAft>
                          <a:spcPts val="0"/>
                        </a:spcAft>
                        <a:buClr>
                          <a:srgbClr val="333333"/>
                        </a:buClr>
                        <a:buSzPts val="1200"/>
                        <a:buFont typeface="Segoe UI Semibold" panose="020B0702040204020203" pitchFamily="34" charset="0"/>
                        <a:buChar char="•"/>
                        <a:tabLst>
                          <a:tab pos="180975" algn="l"/>
                          <a:tab pos="200025" algn="l"/>
                        </a:tabLst>
                      </a:pPr>
                      <a:r>
                        <a:rPr lang="en-IN" sz="1800" kern="100" dirty="0">
                          <a:effectLst/>
                        </a:rPr>
                        <a:t>The project</a:t>
                      </a:r>
                      <a:r>
                        <a:rPr lang="en-IN" sz="1800" kern="100" spc="-45" dirty="0">
                          <a:effectLst/>
                        </a:rPr>
                        <a:t> </a:t>
                      </a:r>
                      <a:r>
                        <a:rPr lang="en-IN" sz="1800" kern="100" dirty="0">
                          <a:effectLst/>
                        </a:rPr>
                        <a:t>proceeds</a:t>
                      </a:r>
                      <a:r>
                        <a:rPr lang="en-IN" sz="1800" kern="100" spc="-45" dirty="0">
                          <a:effectLst/>
                        </a:rPr>
                        <a:t> </a:t>
                      </a:r>
                      <a:r>
                        <a:rPr lang="en-IN" sz="1800" kern="100" dirty="0">
                          <a:effectLst/>
                        </a:rPr>
                        <a:t>to</a:t>
                      </a:r>
                      <a:r>
                        <a:rPr lang="en-IN" sz="1800" kern="100" spc="-30" dirty="0">
                          <a:effectLst/>
                        </a:rPr>
                        <a:t> the </a:t>
                      </a:r>
                      <a:r>
                        <a:rPr lang="en-IN" sz="1800" kern="100" dirty="0">
                          <a:effectLst/>
                        </a:rPr>
                        <a:t>final</a:t>
                      </a:r>
                      <a:r>
                        <a:rPr lang="en-IN" sz="1800" kern="100" spc="-30" dirty="0">
                          <a:effectLst/>
                        </a:rPr>
                        <a:t> </a:t>
                      </a:r>
                      <a:r>
                        <a:rPr lang="en-IN" sz="1800" kern="100" dirty="0">
                          <a:effectLst/>
                        </a:rPr>
                        <a:t>quality</a:t>
                      </a:r>
                      <a:r>
                        <a:rPr lang="en-IN" sz="1800" kern="100" spc="-35" dirty="0">
                          <a:effectLst/>
                        </a:rPr>
                        <a:t> </a:t>
                      </a:r>
                      <a:r>
                        <a:rPr lang="en-IN" sz="1800" kern="100" dirty="0">
                          <a:effectLst/>
                        </a:rPr>
                        <a:t>inspection,</a:t>
                      </a:r>
                      <a:r>
                        <a:rPr lang="en-IN" sz="1800" kern="100" spc="-35" dirty="0">
                          <a:effectLst/>
                        </a:rPr>
                        <a:t> </a:t>
                      </a:r>
                      <a:r>
                        <a:rPr lang="en-IN" sz="1800" kern="100" dirty="0">
                          <a:effectLst/>
                        </a:rPr>
                        <a:t>and</a:t>
                      </a:r>
                      <a:r>
                        <a:rPr lang="en-IN" sz="1800" kern="100" spc="-35" dirty="0">
                          <a:effectLst/>
                        </a:rPr>
                        <a:t> </a:t>
                      </a:r>
                      <a:r>
                        <a:rPr lang="en-IN" sz="1800" kern="100" dirty="0">
                          <a:effectLst/>
                        </a:rPr>
                        <a:t>handover</a:t>
                      </a:r>
                      <a:r>
                        <a:rPr lang="en-IN" sz="1800" kern="100" spc="-30" dirty="0">
                          <a:effectLst/>
                        </a:rPr>
                        <a:t> </a:t>
                      </a:r>
                      <a:r>
                        <a:rPr lang="en-IN" sz="1800" kern="100" spc="-10" dirty="0">
                          <a:effectLst/>
                        </a:rPr>
                        <a:t>process.</a:t>
                      </a:r>
                    </a:p>
                    <a:p>
                      <a:pPr marL="342900" marR="76200" lvl="0" indent="-342900" algn="just">
                        <a:lnSpc>
                          <a:spcPct val="115000"/>
                        </a:lnSpc>
                        <a:spcBef>
                          <a:spcPts val="250"/>
                        </a:spcBef>
                        <a:spcAft>
                          <a:spcPts val="0"/>
                        </a:spcAft>
                        <a:buClr>
                          <a:srgbClr val="333333"/>
                        </a:buClr>
                        <a:buSzPts val="1200"/>
                        <a:buFont typeface="Segoe UI Semibold" panose="020B0702040204020203" pitchFamily="34" charset="0"/>
                        <a:buChar char="•"/>
                        <a:tabLst>
                          <a:tab pos="180975" algn="l"/>
                          <a:tab pos="200025" algn="l"/>
                        </a:tabLst>
                      </a:pPr>
                      <a:r>
                        <a:rPr lang="en-US" sz="1800" kern="100" spc="-10" dirty="0">
                          <a:effectLst/>
                          <a:latin typeface="Calibri" panose="020F0502020204030204" pitchFamily="34" charset="0"/>
                          <a:ea typeface="Calibri" panose="020F0502020204030204" pitchFamily="34" charset="0"/>
                          <a:cs typeface="Times New Roman" panose="02020603050405020304" pitchFamily="18" charset="0"/>
                        </a:rPr>
                        <a:t>A 1</a:t>
                      </a:r>
                      <a:r>
                        <a:rPr lang="en-IN" sz="1800" kern="100" spc="-10" dirty="0">
                          <a:effectLst/>
                          <a:latin typeface="Calibri" panose="020F0502020204030204" pitchFamily="34" charset="0"/>
                          <a:ea typeface="Calibri" panose="020F0502020204030204" pitchFamily="34" charset="0"/>
                          <a:cs typeface="Times New Roman" panose="02020603050405020304" pitchFamily="18" charset="0"/>
                        </a:rPr>
                        <a:t>0 - Years Guarantee Certificate will be provided, For Applicable Variants.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1977" marR="61977" marT="0" marB="0"/>
                </a:tc>
                <a:extLst>
                  <a:ext uri="{0D108BD9-81ED-4DB2-BD59-A6C34878D82A}">
                    <a16:rowId xmlns:a16="http://schemas.microsoft.com/office/drawing/2014/main" val="772763765"/>
                  </a:ext>
                </a:extLst>
              </a:tr>
            </a:tbl>
          </a:graphicData>
        </a:graphic>
      </p:graphicFrame>
      <p:sp>
        <p:nvSpPr>
          <p:cNvPr id="5" name="Slide Number Placeholder 4">
            <a:extLst>
              <a:ext uri="{FF2B5EF4-FFF2-40B4-BE49-F238E27FC236}">
                <a16:creationId xmlns:a16="http://schemas.microsoft.com/office/drawing/2014/main" id="{823FE6BD-C9AF-4AD6-9FA2-9F7A110A81E2}"/>
              </a:ext>
            </a:extLst>
          </p:cNvPr>
          <p:cNvSpPr>
            <a:spLocks noGrp="1"/>
          </p:cNvSpPr>
          <p:nvPr>
            <p:ph type="sldNum" sz="quarter" idx="12"/>
          </p:nvPr>
        </p:nvSpPr>
        <p:spPr/>
        <p:txBody>
          <a:bodyPr/>
          <a:lstStyle/>
          <a:p>
            <a:fld id="{B6F15528-21DE-4FAA-801E-634DDDAF4B2B}" type="slidenum">
              <a:rPr lang="en-US" smtClean="0"/>
              <a:pPr/>
              <a:t>25</a:t>
            </a:fld>
            <a:endParaRPr lang="en-US"/>
          </a:p>
        </p:txBody>
      </p:sp>
      <p:sp>
        <p:nvSpPr>
          <p:cNvPr id="6" name="Footer Placeholder 5">
            <a:extLst>
              <a:ext uri="{FF2B5EF4-FFF2-40B4-BE49-F238E27FC236}">
                <a16:creationId xmlns:a16="http://schemas.microsoft.com/office/drawing/2014/main" id="{E547B74A-5679-4C60-8C43-12B4B03A4630}"/>
              </a:ext>
            </a:extLst>
          </p:cNvPr>
          <p:cNvSpPr>
            <a:spLocks noGrp="1"/>
          </p:cNvSpPr>
          <p:nvPr>
            <p:ph type="ftr" sz="quarter" idx="11"/>
          </p:nvPr>
        </p:nvSpPr>
        <p:spPr/>
        <p:txBody>
          <a:bodyPr/>
          <a:lstStyle/>
          <a:p>
            <a:r>
              <a:rPr lang="en-US"/>
              <a:t>Mr. Aravindan | Individual Villa Adyar | 7418414780</a:t>
            </a:r>
          </a:p>
        </p:txBody>
      </p:sp>
    </p:spTree>
    <p:extLst>
      <p:ext uri="{BB962C8B-B14F-4D97-AF65-F5344CB8AC3E}">
        <p14:creationId xmlns:p14="http://schemas.microsoft.com/office/powerpoint/2010/main" val="22081517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BCEC20-54F1-4C26-B262-F231CD305DAE}"/>
              </a:ext>
            </a:extLst>
          </p:cNvPr>
          <p:cNvSpPr/>
          <p:nvPr/>
        </p:nvSpPr>
        <p:spPr>
          <a:xfrm>
            <a:off x="679450" y="1460500"/>
            <a:ext cx="8686800" cy="11541621"/>
          </a:xfrm>
          <a:prstGeom prst="rect">
            <a:avLst/>
          </a:prstGeom>
        </p:spPr>
        <p:txBody>
          <a:bodyPr wrap="square">
            <a:spAutoFit/>
          </a:bodyPr>
          <a:lstStyle/>
          <a:p>
            <a:pPr algn="ctr"/>
            <a:r>
              <a:rPr lang="en-US" sz="2000" b="1" dirty="0">
                <a:solidFill>
                  <a:srgbClr val="C00000"/>
                </a:solidFill>
              </a:rPr>
              <a:t>TERMS &amp; CONDITIONS</a:t>
            </a:r>
          </a:p>
          <a:p>
            <a:pPr algn="just"/>
            <a:endParaRPr lang="en-US" b="1" dirty="0">
              <a:solidFill>
                <a:srgbClr val="C00000"/>
              </a:solidFill>
            </a:endParaRPr>
          </a:p>
          <a:p>
            <a:pPr algn="just"/>
            <a:r>
              <a:rPr lang="en-US" b="1" dirty="0">
                <a:solidFill>
                  <a:srgbClr val="000000"/>
                </a:solidFill>
                <a:latin typeface="Calibri" panose="020F0502020204030204" pitchFamily="34" charset="0"/>
              </a:rPr>
              <a:t>1. Builder &amp; Site-Related Delays:</a:t>
            </a:r>
            <a:endParaRPr lang="en-US" b="1" dirty="0"/>
          </a:p>
          <a:p>
            <a:pPr algn="just"/>
            <a:r>
              <a:rPr lang="en-US" b="1" dirty="0">
                <a:solidFill>
                  <a:srgbClr val="000000"/>
                </a:solidFill>
                <a:latin typeface="Calibri" panose="020F0502020204030204" pitchFamily="34" charset="0"/>
              </a:rPr>
              <a:t>	</a:t>
            </a:r>
            <a:r>
              <a:rPr lang="en-US" dirty="0">
                <a:solidFill>
                  <a:srgbClr val="000000"/>
                </a:solidFill>
                <a:latin typeface="Calibri" panose="020F0502020204030204" pitchFamily="34" charset="0"/>
              </a:rPr>
              <a:t>Cookscape shall not be responsible for delays arising from builder-related activities, pending civil works, Pending </a:t>
            </a:r>
            <a:r>
              <a:rPr lang="en-US" b="1" dirty="0">
                <a:solidFill>
                  <a:srgbClr val="000000"/>
                </a:solidFill>
                <a:latin typeface="Calibri" panose="020F0502020204030204" pitchFamily="34" charset="0"/>
              </a:rPr>
              <a:t>Plumbing and Electrical Works,</a:t>
            </a:r>
            <a:r>
              <a:rPr lang="en-US" dirty="0">
                <a:solidFill>
                  <a:srgbClr val="000000"/>
                </a:solidFill>
                <a:latin typeface="Calibri" panose="020F0502020204030204" pitchFamily="34" charset="0"/>
              </a:rPr>
              <a:t> site readiness issues or other third-party dependencies. Any such delays may affect the overall project timeline.</a:t>
            </a:r>
            <a:endParaRPr lang="en-US" dirty="0"/>
          </a:p>
          <a:p>
            <a:pPr algn="just"/>
            <a:br>
              <a:rPr lang="en-US" b="1" dirty="0"/>
            </a:br>
            <a:r>
              <a:rPr lang="en-US" b="1" dirty="0">
                <a:solidFill>
                  <a:srgbClr val="000000"/>
                </a:solidFill>
                <a:latin typeface="Calibri" panose="020F0502020204030204" pitchFamily="34" charset="0"/>
              </a:rPr>
              <a:t>2. Payment-Linked Material Supply:</a:t>
            </a:r>
            <a:endParaRPr lang="en-US" b="1" dirty="0"/>
          </a:p>
          <a:p>
            <a:pPr algn="just"/>
            <a:r>
              <a:rPr lang="en-US" b="1" dirty="0">
                <a:solidFill>
                  <a:srgbClr val="000000"/>
                </a:solidFill>
                <a:latin typeface="Calibri" panose="020F0502020204030204" pitchFamily="34" charset="0"/>
              </a:rPr>
              <a:t>	</a:t>
            </a:r>
            <a:r>
              <a:rPr lang="en-US" dirty="0">
                <a:solidFill>
                  <a:srgbClr val="000000"/>
                </a:solidFill>
                <a:latin typeface="Calibri" panose="020F0502020204030204" pitchFamily="34" charset="0"/>
              </a:rPr>
              <a:t>All materials shall be invoiced prior to dispatch. Procurement, Production, Quality Certification and dispatch the </a:t>
            </a:r>
            <a:r>
              <a:rPr lang="en-US" b="1" dirty="0">
                <a:solidFill>
                  <a:srgbClr val="000000"/>
                </a:solidFill>
                <a:latin typeface="Calibri" panose="020F0502020204030204" pitchFamily="34" charset="0"/>
              </a:rPr>
              <a:t>installation activities are subject to the receipt of the respective payment </a:t>
            </a:r>
            <a:r>
              <a:rPr lang="en-US" dirty="0">
                <a:solidFill>
                  <a:srgbClr val="000000"/>
                </a:solidFill>
                <a:latin typeface="Calibri" panose="020F0502020204030204" pitchFamily="34" charset="0"/>
              </a:rPr>
              <a:t>as per the agreed payment schedule.</a:t>
            </a:r>
            <a:endParaRPr lang="en-US" dirty="0"/>
          </a:p>
          <a:p>
            <a:pPr algn="just"/>
            <a:br>
              <a:rPr lang="en-US" b="1" dirty="0"/>
            </a:br>
            <a:r>
              <a:rPr lang="en-US" b="1" dirty="0">
                <a:solidFill>
                  <a:srgbClr val="000000"/>
                </a:solidFill>
                <a:latin typeface="Calibri" panose="020F0502020204030204" pitchFamily="34" charset="0"/>
              </a:rPr>
              <a:t>3. Additional Transportation &amp; </a:t>
            </a:r>
            <a:r>
              <a:rPr lang="en-US" b="1" dirty="0" err="1">
                <a:solidFill>
                  <a:srgbClr val="000000"/>
                </a:solidFill>
                <a:latin typeface="Calibri" panose="020F0502020204030204" pitchFamily="34" charset="0"/>
              </a:rPr>
              <a:t>Labour</a:t>
            </a:r>
            <a:r>
              <a:rPr lang="en-US" b="1" dirty="0">
                <a:solidFill>
                  <a:srgbClr val="000000"/>
                </a:solidFill>
                <a:latin typeface="Calibri" panose="020F0502020204030204" pitchFamily="34" charset="0"/>
              </a:rPr>
              <a:t> Charges:</a:t>
            </a:r>
            <a:endParaRPr lang="en-US" b="1" dirty="0"/>
          </a:p>
          <a:p>
            <a:pPr algn="just"/>
            <a:r>
              <a:rPr lang="en-US" dirty="0">
                <a:solidFill>
                  <a:srgbClr val="000000"/>
                </a:solidFill>
                <a:latin typeface="Calibri" panose="020F0502020204030204" pitchFamily="34" charset="0"/>
              </a:rPr>
              <a:t>	Once the Order (has been released for production), any additional orders, scope enhancements, or revisions beyond the approved proposal may incur additional transportation, logistics, and labor charges.</a:t>
            </a:r>
            <a:endParaRPr lang="en-US" dirty="0"/>
          </a:p>
          <a:p>
            <a:pPr algn="just"/>
            <a:br>
              <a:rPr lang="en-US" b="1" dirty="0"/>
            </a:br>
            <a:r>
              <a:rPr lang="en-US" b="1" dirty="0">
                <a:solidFill>
                  <a:srgbClr val="000000"/>
                </a:solidFill>
                <a:latin typeface="Calibri" panose="020F0502020204030204" pitchFamily="34" charset="0"/>
              </a:rPr>
              <a:t>4. Dispatch, Invoicing &amp; E-Way Bill Compliance:</a:t>
            </a:r>
            <a:endParaRPr lang="en-US" b="1" dirty="0"/>
          </a:p>
          <a:p>
            <a:pPr algn="just"/>
            <a:r>
              <a:rPr lang="en-US" b="1" dirty="0">
                <a:solidFill>
                  <a:srgbClr val="000000"/>
                </a:solidFill>
                <a:latin typeface="Calibri" panose="020F0502020204030204" pitchFamily="34" charset="0"/>
              </a:rPr>
              <a:t>	</a:t>
            </a:r>
            <a:r>
              <a:rPr lang="en-US" dirty="0">
                <a:solidFill>
                  <a:srgbClr val="000000"/>
                </a:solidFill>
                <a:latin typeface="Calibri" panose="020F0502020204030204" pitchFamily="34" charset="0"/>
              </a:rPr>
              <a:t>Materials shall be dispatched only against valid invoices and statutory documentation, including E-Way Bills wherever applicable. </a:t>
            </a:r>
            <a:r>
              <a:rPr lang="en-US" b="1" dirty="0">
                <a:solidFill>
                  <a:srgbClr val="000000"/>
                </a:solidFill>
                <a:latin typeface="Calibri" panose="020F0502020204030204" pitchFamily="34" charset="0"/>
              </a:rPr>
              <a:t>Dispatch schedules are subject to payment clearance.</a:t>
            </a:r>
            <a:endParaRPr lang="en-US" dirty="0"/>
          </a:p>
          <a:p>
            <a:pPr algn="just"/>
            <a:br>
              <a:rPr lang="en-US" dirty="0"/>
            </a:br>
            <a:r>
              <a:rPr lang="en-US" b="1" dirty="0">
                <a:solidFill>
                  <a:srgbClr val="000000"/>
                </a:solidFill>
                <a:latin typeface="Calibri" panose="020F0502020204030204" pitchFamily="34" charset="0"/>
              </a:rPr>
              <a:t>5. Final Material Dispatch Policy:</a:t>
            </a:r>
            <a:endParaRPr lang="en-US" b="1" dirty="0"/>
          </a:p>
          <a:p>
            <a:pPr algn="just"/>
            <a:r>
              <a:rPr lang="en-US" b="1" dirty="0">
                <a:solidFill>
                  <a:srgbClr val="000000"/>
                </a:solidFill>
                <a:latin typeface="Calibri" panose="020F0502020204030204" pitchFamily="34" charset="0"/>
              </a:rPr>
              <a:t>	</a:t>
            </a:r>
            <a:r>
              <a:rPr lang="en-US" dirty="0">
                <a:solidFill>
                  <a:srgbClr val="000000"/>
                </a:solidFill>
                <a:latin typeface="Calibri" panose="020F0502020204030204" pitchFamily="34" charset="0"/>
              </a:rPr>
              <a:t>All the project material shall be supplied in accordance with the agreed payment schedule. Cookscape reserves the right to withhold dispatch of material against outstanding payments.</a:t>
            </a:r>
            <a:endParaRPr lang="en-US" dirty="0"/>
          </a:p>
          <a:p>
            <a:pPr algn="just"/>
            <a:br>
              <a:rPr lang="en-US" dirty="0"/>
            </a:br>
            <a:r>
              <a:rPr lang="en-US" b="1" dirty="0">
                <a:solidFill>
                  <a:srgbClr val="000000"/>
                </a:solidFill>
                <a:latin typeface="Calibri" panose="020F0502020204030204" pitchFamily="34" charset="0"/>
              </a:rPr>
              <a:t>6. Accessories, Hardware &amp; Finishing Components:</a:t>
            </a:r>
          </a:p>
          <a:p>
            <a:pPr algn="just"/>
            <a:r>
              <a:rPr lang="en-US" b="1" dirty="0">
                <a:solidFill>
                  <a:srgbClr val="000000"/>
                </a:solidFill>
                <a:latin typeface="Calibri" panose="020F0502020204030204" pitchFamily="34" charset="0"/>
              </a:rPr>
              <a:t>	</a:t>
            </a:r>
            <a:r>
              <a:rPr lang="en-US" dirty="0">
                <a:solidFill>
                  <a:srgbClr val="000000"/>
                </a:solidFill>
                <a:latin typeface="Calibri" panose="020F0502020204030204" pitchFamily="34" charset="0"/>
              </a:rPr>
              <a:t>Accessories, hardware fittings, appliances, and décor elements form an integral part of the project and shall be supplied and installed upon clearance of the applicable payment milestone.</a:t>
            </a:r>
            <a:endParaRPr lang="en-US" dirty="0"/>
          </a:p>
          <a:p>
            <a:pPr algn="just"/>
            <a:br>
              <a:rPr lang="en-US" b="1" dirty="0"/>
            </a:br>
            <a:r>
              <a:rPr lang="en-US" b="1" dirty="0">
                <a:solidFill>
                  <a:srgbClr val="000000"/>
                </a:solidFill>
                <a:latin typeface="Calibri" panose="020F0502020204030204" pitchFamily="34" charset="0"/>
              </a:rPr>
              <a:t>7. Scope Variations:</a:t>
            </a:r>
            <a:endParaRPr lang="en-US" b="1" dirty="0"/>
          </a:p>
          <a:p>
            <a:pPr algn="just"/>
            <a:r>
              <a:rPr lang="en-US" b="1" dirty="0">
                <a:solidFill>
                  <a:srgbClr val="000000"/>
                </a:solidFill>
                <a:latin typeface="Calibri" panose="020F0502020204030204" pitchFamily="34" charset="0"/>
              </a:rPr>
              <a:t>	</a:t>
            </a:r>
            <a:r>
              <a:rPr lang="en-US" dirty="0">
                <a:solidFill>
                  <a:srgbClr val="000000"/>
                </a:solidFill>
                <a:latin typeface="Calibri" panose="020F0502020204030204" pitchFamily="34" charset="0"/>
              </a:rPr>
              <a:t>Any addition, deletion, design revisions, material upgrades, or scope changes requested </a:t>
            </a:r>
            <a:r>
              <a:rPr lang="en-US" b="1" dirty="0">
                <a:solidFill>
                  <a:srgbClr val="000000"/>
                </a:solidFill>
                <a:latin typeface="Calibri" panose="020F0502020204030204" pitchFamily="34" charset="0"/>
              </a:rPr>
              <a:t>after approval of the drawings </a:t>
            </a:r>
            <a:r>
              <a:rPr lang="en-US" dirty="0">
                <a:solidFill>
                  <a:srgbClr val="000000"/>
                </a:solidFill>
                <a:latin typeface="Calibri" panose="020F0502020204030204" pitchFamily="34" charset="0"/>
              </a:rPr>
              <a:t>may result in revised costs and timelines and shall be executed only after mutual approval.</a:t>
            </a:r>
            <a:endParaRPr lang="en-US" dirty="0"/>
          </a:p>
          <a:p>
            <a:pPr algn="just"/>
            <a:br>
              <a:rPr lang="en-US" dirty="0"/>
            </a:br>
            <a:r>
              <a:rPr lang="en-US" b="1" dirty="0">
                <a:solidFill>
                  <a:srgbClr val="000000"/>
                </a:solidFill>
                <a:latin typeface="Calibri" panose="020F0502020204030204" pitchFamily="34" charset="0"/>
              </a:rPr>
              <a:t>8. Cancellation &amp; Refund Policy:</a:t>
            </a:r>
            <a:endParaRPr lang="en-US" b="1" dirty="0"/>
          </a:p>
          <a:p>
            <a:pPr algn="just"/>
            <a:r>
              <a:rPr lang="en-US" b="1" dirty="0">
                <a:solidFill>
                  <a:srgbClr val="000000"/>
                </a:solidFill>
                <a:latin typeface="Calibri" panose="020F0502020204030204" pitchFamily="34" charset="0"/>
              </a:rPr>
              <a:t>	</a:t>
            </a:r>
            <a:r>
              <a:rPr lang="en-US" dirty="0">
                <a:solidFill>
                  <a:srgbClr val="000000"/>
                </a:solidFill>
                <a:latin typeface="Calibri" panose="020F0502020204030204" pitchFamily="34" charset="0"/>
              </a:rPr>
              <a:t>In the event of project cancellation, booking advances and amounts paid towards site measurements, design development, working drawings, 3D visualizations, and production planning shall be non-refundable.</a:t>
            </a:r>
            <a:endParaRPr lang="en-US" dirty="0"/>
          </a:p>
        </p:txBody>
      </p:sp>
      <p:sp>
        <p:nvSpPr>
          <p:cNvPr id="4" name="Slide Number Placeholder 3">
            <a:extLst>
              <a:ext uri="{FF2B5EF4-FFF2-40B4-BE49-F238E27FC236}">
                <a16:creationId xmlns:a16="http://schemas.microsoft.com/office/drawing/2014/main" id="{D9E8DD81-8A31-45E9-BD99-468E9CB536B8}"/>
              </a:ext>
            </a:extLst>
          </p:cNvPr>
          <p:cNvSpPr>
            <a:spLocks noGrp="1"/>
          </p:cNvSpPr>
          <p:nvPr>
            <p:ph type="sldNum" sz="quarter" idx="12"/>
          </p:nvPr>
        </p:nvSpPr>
        <p:spPr/>
        <p:txBody>
          <a:bodyPr/>
          <a:lstStyle/>
          <a:p>
            <a:fld id="{B6F15528-21DE-4FAA-801E-634DDDAF4B2B}" type="slidenum">
              <a:rPr lang="en-US" smtClean="0"/>
              <a:pPr/>
              <a:t>26</a:t>
            </a:fld>
            <a:endParaRPr lang="en-US"/>
          </a:p>
        </p:txBody>
      </p:sp>
      <p:sp>
        <p:nvSpPr>
          <p:cNvPr id="5" name="Footer Placeholder 4">
            <a:extLst>
              <a:ext uri="{FF2B5EF4-FFF2-40B4-BE49-F238E27FC236}">
                <a16:creationId xmlns:a16="http://schemas.microsoft.com/office/drawing/2014/main" id="{E4D99659-8369-4C79-8D52-89D5E2B799E9}"/>
              </a:ext>
            </a:extLst>
          </p:cNvPr>
          <p:cNvSpPr>
            <a:spLocks noGrp="1"/>
          </p:cNvSpPr>
          <p:nvPr>
            <p:ph type="ftr" sz="quarter" idx="11"/>
          </p:nvPr>
        </p:nvSpPr>
        <p:spPr/>
        <p:txBody>
          <a:bodyPr/>
          <a:lstStyle/>
          <a:p>
            <a:r>
              <a:rPr lang="en-US"/>
              <a:t>Mr. Aravindan | Individual Villa Adyar | 7418414780</a:t>
            </a:r>
            <a:endParaRPr lang="en-US" dirty="0"/>
          </a:p>
        </p:txBody>
      </p:sp>
    </p:spTree>
    <p:extLst>
      <p:ext uri="{BB962C8B-B14F-4D97-AF65-F5344CB8AC3E}">
        <p14:creationId xmlns:p14="http://schemas.microsoft.com/office/powerpoint/2010/main" val="29230032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BCEC20-54F1-4C26-B262-F231CD305DAE}"/>
              </a:ext>
            </a:extLst>
          </p:cNvPr>
          <p:cNvSpPr/>
          <p:nvPr/>
        </p:nvSpPr>
        <p:spPr>
          <a:xfrm>
            <a:off x="679450" y="1460500"/>
            <a:ext cx="8686800" cy="1200329"/>
          </a:xfrm>
          <a:prstGeom prst="rect">
            <a:avLst/>
          </a:prstGeom>
        </p:spPr>
        <p:txBody>
          <a:bodyPr wrap="square">
            <a:spAutoFit/>
          </a:bodyPr>
          <a:lstStyle/>
          <a:p>
            <a:pPr algn="just"/>
            <a:r>
              <a:rPr lang="en-US" b="1" dirty="0">
                <a:solidFill>
                  <a:srgbClr val="000000"/>
                </a:solidFill>
                <a:latin typeface="Calibri" panose="020F0502020204030204" pitchFamily="34" charset="0"/>
              </a:rPr>
              <a:t>9. Quality &amp; Handover:</a:t>
            </a:r>
            <a:endParaRPr lang="en-US" b="1" dirty="0"/>
          </a:p>
          <a:p>
            <a:pPr algn="just"/>
            <a:r>
              <a:rPr lang="en-US" b="1" dirty="0">
                <a:solidFill>
                  <a:srgbClr val="000000"/>
                </a:solidFill>
                <a:latin typeface="Calibri" panose="020F0502020204030204" pitchFamily="34" charset="0"/>
              </a:rPr>
              <a:t>	</a:t>
            </a:r>
            <a:r>
              <a:rPr lang="en-US" dirty="0">
                <a:solidFill>
                  <a:srgbClr val="000000"/>
                </a:solidFill>
                <a:latin typeface="Calibri" panose="020F0502020204030204" pitchFamily="34" charset="0"/>
              </a:rPr>
              <a:t>Cookscape maintains stringent quality standards throughout project execution. Clients are encouraged to communicate any concerns identified during the final inspection or handover process to ensure prompt resolution.</a:t>
            </a:r>
            <a:endParaRPr lang="en-US" dirty="0"/>
          </a:p>
        </p:txBody>
      </p:sp>
      <p:sp>
        <p:nvSpPr>
          <p:cNvPr id="4" name="Slide Number Placeholder 3">
            <a:extLst>
              <a:ext uri="{FF2B5EF4-FFF2-40B4-BE49-F238E27FC236}">
                <a16:creationId xmlns:a16="http://schemas.microsoft.com/office/drawing/2014/main" id="{D9E8DD81-8A31-45E9-BD99-468E9CB536B8}"/>
              </a:ext>
            </a:extLst>
          </p:cNvPr>
          <p:cNvSpPr>
            <a:spLocks noGrp="1"/>
          </p:cNvSpPr>
          <p:nvPr>
            <p:ph type="sldNum" sz="quarter" idx="12"/>
          </p:nvPr>
        </p:nvSpPr>
        <p:spPr/>
        <p:txBody>
          <a:bodyPr/>
          <a:lstStyle/>
          <a:p>
            <a:fld id="{B6F15528-21DE-4FAA-801E-634DDDAF4B2B}" type="slidenum">
              <a:rPr lang="en-US" smtClean="0"/>
              <a:pPr/>
              <a:t>27</a:t>
            </a:fld>
            <a:endParaRPr lang="en-US"/>
          </a:p>
        </p:txBody>
      </p:sp>
      <p:sp>
        <p:nvSpPr>
          <p:cNvPr id="5" name="Footer Placeholder 4">
            <a:extLst>
              <a:ext uri="{FF2B5EF4-FFF2-40B4-BE49-F238E27FC236}">
                <a16:creationId xmlns:a16="http://schemas.microsoft.com/office/drawing/2014/main" id="{E4D99659-8369-4C79-8D52-89D5E2B799E9}"/>
              </a:ext>
            </a:extLst>
          </p:cNvPr>
          <p:cNvSpPr>
            <a:spLocks noGrp="1"/>
          </p:cNvSpPr>
          <p:nvPr>
            <p:ph type="ftr" sz="quarter" idx="11"/>
          </p:nvPr>
        </p:nvSpPr>
        <p:spPr/>
        <p:txBody>
          <a:bodyPr/>
          <a:lstStyle/>
          <a:p>
            <a:r>
              <a:rPr lang="en-US"/>
              <a:t>Mr. Aravindan | Individual Villa Adyar | 7418414780</a:t>
            </a:r>
            <a:endParaRPr lang="en-US" dirty="0"/>
          </a:p>
        </p:txBody>
      </p:sp>
      <p:sp>
        <p:nvSpPr>
          <p:cNvPr id="6" name="Rectangle 5">
            <a:extLst>
              <a:ext uri="{FF2B5EF4-FFF2-40B4-BE49-F238E27FC236}">
                <a16:creationId xmlns:a16="http://schemas.microsoft.com/office/drawing/2014/main" id="{3F491412-4D15-4532-AD64-548E451C1FD2}"/>
              </a:ext>
            </a:extLst>
          </p:cNvPr>
          <p:cNvSpPr/>
          <p:nvPr/>
        </p:nvSpPr>
        <p:spPr>
          <a:xfrm>
            <a:off x="679450" y="2891750"/>
            <a:ext cx="8686800" cy="10464403"/>
          </a:xfrm>
          <a:prstGeom prst="rect">
            <a:avLst/>
          </a:prstGeom>
        </p:spPr>
        <p:txBody>
          <a:bodyPr wrap="square">
            <a:spAutoFit/>
          </a:bodyPr>
          <a:lstStyle/>
          <a:p>
            <a:pPr algn="just"/>
            <a:r>
              <a:rPr lang="en-US" sz="2000" b="1" dirty="0">
                <a:solidFill>
                  <a:srgbClr val="C00000"/>
                </a:solidFill>
              </a:rPr>
              <a:t>FREQUENTLY ASKED QUESTIONS (FAQS)</a:t>
            </a:r>
          </a:p>
          <a:p>
            <a:pPr algn="just"/>
            <a:endParaRPr lang="en-US" sz="2400" b="1" dirty="0">
              <a:solidFill>
                <a:srgbClr val="C00000"/>
              </a:solidFill>
            </a:endParaRPr>
          </a:p>
          <a:p>
            <a:pPr algn="just"/>
            <a:r>
              <a:rPr lang="en-US" b="1" dirty="0"/>
              <a:t>1.What exactly is included in the quoted price?</a:t>
            </a:r>
          </a:p>
          <a:p>
            <a:pPr algn="just"/>
            <a:r>
              <a:rPr lang="en-US" dirty="0"/>
              <a:t>	The quoted price includes Design services, PDI, woodwork related materials, Hardware, manufacturing, Transportation, installation, Supervision, Inspection and services work specifically mentioned in the quotation.</a:t>
            </a:r>
          </a:p>
          <a:p>
            <a:pPr algn="just"/>
            <a:endParaRPr lang="en-US" dirty="0"/>
          </a:p>
          <a:p>
            <a:pPr algn="just"/>
            <a:r>
              <a:rPr lang="en-US" b="1" dirty="0"/>
              <a:t>2.How long is this quotation valid?</a:t>
            </a:r>
          </a:p>
          <a:p>
            <a:pPr algn="just"/>
            <a:r>
              <a:rPr lang="en-US" dirty="0"/>
              <a:t>	This quotation is valid for 15 days from the date of issue unless otherwise specified. Prices may be revised after the validity period due to market fluctuations in material and labor costs.</a:t>
            </a:r>
          </a:p>
          <a:p>
            <a:pPr algn="just"/>
            <a:endParaRPr lang="en-US" dirty="0"/>
          </a:p>
          <a:p>
            <a:pPr algn="just"/>
            <a:r>
              <a:rPr lang="en-US" b="1" dirty="0"/>
              <a:t>3.How is the total project cost calculated?</a:t>
            </a:r>
          </a:p>
          <a:p>
            <a:pPr algn="just"/>
            <a:r>
              <a:rPr lang="en-US" dirty="0"/>
              <a:t>	The total project cost is calculated based on the approved design, material specifications, project scope, installation work, and site conditions.</a:t>
            </a:r>
          </a:p>
          <a:p>
            <a:pPr algn="just"/>
            <a:endParaRPr lang="en-US" dirty="0"/>
          </a:p>
          <a:p>
            <a:pPr algn="just"/>
            <a:r>
              <a:rPr lang="en-US" b="1" dirty="0"/>
              <a:t>4.Are design services and drawings included in the quotation?</a:t>
            </a:r>
          </a:p>
          <a:p>
            <a:pPr algn="just"/>
            <a:r>
              <a:rPr lang="en-US" dirty="0"/>
              <a:t>	Yes. Design consultation, space planning, and relevant drawings are included in accordance with the scope defined in the quotation.</a:t>
            </a:r>
          </a:p>
          <a:p>
            <a:pPr algn="just"/>
            <a:endParaRPr lang="en-US" dirty="0"/>
          </a:p>
          <a:p>
            <a:pPr algn="just"/>
            <a:r>
              <a:rPr lang="en-US" b="1" dirty="0"/>
              <a:t>5.Can the design be modified after final approval?</a:t>
            </a:r>
          </a:p>
          <a:p>
            <a:pPr algn="just"/>
            <a:r>
              <a:rPr lang="en-US" dirty="0"/>
              <a:t>	Minor modifications may be accommodated before production begins. Significant design changes after approval may impact project cost and timeline.</a:t>
            </a:r>
          </a:p>
          <a:p>
            <a:pPr algn="just"/>
            <a:endParaRPr lang="en-US" dirty="0"/>
          </a:p>
          <a:p>
            <a:pPr algn="just"/>
            <a:r>
              <a:rPr lang="en-US" b="1" dirty="0"/>
              <a:t>6.Can additional requirements be added during project execution?</a:t>
            </a:r>
          </a:p>
          <a:p>
            <a:pPr algn="just"/>
            <a:r>
              <a:rPr lang="en-US" dirty="0"/>
              <a:t>	Yes. Additional requirements can be incorporated through a variation order process, subject to feasibility, revised pricing, and timeline adjustments.</a:t>
            </a:r>
          </a:p>
          <a:p>
            <a:pPr algn="just"/>
            <a:endParaRPr lang="en-US" dirty="0"/>
          </a:p>
          <a:p>
            <a:pPr algn="just"/>
            <a:r>
              <a:rPr lang="en-US" b="1" dirty="0"/>
              <a:t>7.What materials, brands, and finishes will be used for my project?</a:t>
            </a:r>
          </a:p>
          <a:p>
            <a:pPr algn="just"/>
            <a:r>
              <a:rPr lang="en-US" dirty="0"/>
              <a:t>	All materials, brands, and finishes will be selected in accordance with the approved specifications and material schedule provided during the design stage.</a:t>
            </a:r>
          </a:p>
          <a:p>
            <a:pPr algn="just"/>
            <a:endParaRPr lang="en-US" dirty="0"/>
          </a:p>
          <a:p>
            <a:pPr algn="just"/>
            <a:r>
              <a:rPr lang="en-US" b="1" dirty="0"/>
              <a:t>8.Will I receive material samples before production begins?</a:t>
            </a:r>
          </a:p>
          <a:p>
            <a:pPr algn="just"/>
            <a:r>
              <a:rPr lang="en-US" dirty="0"/>
              <a:t>	Yes. Material samples, finish swatches, or references will be shared for approval wherever applicable before production commences.</a:t>
            </a:r>
          </a:p>
          <a:p>
            <a:pPr algn="just"/>
            <a:endParaRPr lang="en-US" dirty="0"/>
          </a:p>
        </p:txBody>
      </p:sp>
    </p:spTree>
    <p:extLst>
      <p:ext uri="{BB962C8B-B14F-4D97-AF65-F5344CB8AC3E}">
        <p14:creationId xmlns:p14="http://schemas.microsoft.com/office/powerpoint/2010/main" val="30969861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BCEC20-54F1-4C26-B262-F231CD305DAE}"/>
              </a:ext>
            </a:extLst>
          </p:cNvPr>
          <p:cNvSpPr/>
          <p:nvPr/>
        </p:nvSpPr>
        <p:spPr>
          <a:xfrm>
            <a:off x="679450" y="1215350"/>
            <a:ext cx="8686800" cy="10618291"/>
          </a:xfrm>
          <a:prstGeom prst="rect">
            <a:avLst/>
          </a:prstGeom>
        </p:spPr>
        <p:txBody>
          <a:bodyPr wrap="square">
            <a:spAutoFit/>
          </a:bodyPr>
          <a:lstStyle/>
          <a:p>
            <a:pPr algn="just"/>
            <a:endParaRPr lang="en-US" b="1" dirty="0"/>
          </a:p>
          <a:p>
            <a:pPr algn="just"/>
            <a:r>
              <a:rPr lang="en-US" b="1" dirty="0"/>
              <a:t>9.Can materials or finishes be upgraded after project confirmation?</a:t>
            </a:r>
          </a:p>
          <a:p>
            <a:pPr algn="just"/>
            <a:r>
              <a:rPr lang="en-US" dirty="0"/>
              <a:t>	Yes. Material or finishes can be upgraded during the loading stage. However , Once the order has been released for production no further changes can be accommodated. </a:t>
            </a:r>
          </a:p>
          <a:p>
            <a:pPr algn="just"/>
            <a:endParaRPr lang="en-US" dirty="0"/>
          </a:p>
          <a:p>
            <a:pPr algn="just"/>
            <a:r>
              <a:rPr lang="en-US" b="1" dirty="0"/>
              <a:t>10.Is GST included in the quoted amount?</a:t>
            </a:r>
          </a:p>
          <a:p>
            <a:pPr algn="just"/>
            <a:r>
              <a:rPr lang="en-US" dirty="0"/>
              <a:t>	</a:t>
            </a:r>
            <a:r>
              <a:rPr lang="en-US" b="1" dirty="0"/>
              <a:t>GST is applicable</a:t>
            </a:r>
            <a:r>
              <a:rPr lang="en-US" dirty="0"/>
              <a:t> as per prevailing government regulations. The quotation will clearly specify whether GST is included in the quoted amount or charged separately.</a:t>
            </a:r>
          </a:p>
          <a:p>
            <a:pPr algn="just"/>
            <a:endParaRPr lang="en-US" dirty="0"/>
          </a:p>
          <a:p>
            <a:pPr algn="just"/>
            <a:r>
              <a:rPr lang="en-US" b="1" dirty="0"/>
              <a:t>11.What is the estimated project completion timeline?</a:t>
            </a:r>
          </a:p>
          <a:p>
            <a:pPr algn="just"/>
            <a:r>
              <a:rPr lang="en-US" dirty="0"/>
              <a:t>	The estimated project timeline will be communicated based on project scope, design complexity, material availability, and site readiness.</a:t>
            </a:r>
          </a:p>
          <a:p>
            <a:pPr algn="just"/>
            <a:endParaRPr lang="en-US" dirty="0"/>
          </a:p>
          <a:p>
            <a:pPr algn="just"/>
            <a:r>
              <a:rPr lang="en-US" b="1" dirty="0"/>
              <a:t>12.When does the project timeline officially begin?</a:t>
            </a:r>
          </a:p>
          <a:p>
            <a:pPr algn="just"/>
            <a:r>
              <a:rPr lang="en-US" dirty="0"/>
              <a:t>	The project timeline officially begins upon receipt of the advance payment, final design approval, and confirmation of site readiness.</a:t>
            </a:r>
          </a:p>
          <a:p>
            <a:pPr algn="just"/>
            <a:endParaRPr lang="en-US" dirty="0"/>
          </a:p>
          <a:p>
            <a:pPr algn="just"/>
            <a:r>
              <a:rPr lang="en-US" b="1" dirty="0"/>
              <a:t>13.What factors could delay the project completion?</a:t>
            </a:r>
          </a:p>
          <a:p>
            <a:pPr algn="just"/>
            <a:r>
              <a:rPr lang="en-US" dirty="0"/>
              <a:t>	Project delays may occur due to design changes, delayed approvals, site readiness issues, material shortages, unforeseen site conditions, or other external factors beyond our control.</a:t>
            </a:r>
          </a:p>
          <a:p>
            <a:pPr algn="just"/>
            <a:endParaRPr lang="en-US" dirty="0"/>
          </a:p>
          <a:p>
            <a:pPr algn="just"/>
            <a:r>
              <a:rPr lang="en-US" b="1" dirty="0"/>
              <a:t>14.What is the payment schedule and payment structure?</a:t>
            </a:r>
          </a:p>
          <a:p>
            <a:pPr algn="just"/>
            <a:r>
              <a:rPr lang="en-US" dirty="0"/>
              <a:t>	</a:t>
            </a:r>
            <a:r>
              <a:rPr lang="en-US" b="1" dirty="0"/>
              <a:t>Payments are generally structured in stages</a:t>
            </a:r>
            <a:r>
              <a:rPr lang="en-US" dirty="0"/>
              <a:t>, including advance payment, production milestone payments, and final payment before handover. The detailed schedule will be specified in the quotation. </a:t>
            </a:r>
          </a:p>
          <a:p>
            <a:pPr algn="just"/>
            <a:endParaRPr lang="en-US" dirty="0"/>
          </a:p>
          <a:p>
            <a:pPr algn="just"/>
            <a:r>
              <a:rPr lang="en-US" b="1" dirty="0"/>
              <a:t>15.Are transportation and installation charges included in the quotation?</a:t>
            </a:r>
          </a:p>
          <a:p>
            <a:pPr algn="just"/>
            <a:r>
              <a:rPr lang="en-US" dirty="0"/>
              <a:t>	</a:t>
            </a:r>
            <a:r>
              <a:rPr lang="en-US" b="1" dirty="0">
                <a:solidFill>
                  <a:srgbClr val="000000"/>
                </a:solidFill>
                <a:latin typeface="Calibri" panose="020F0502020204030204" pitchFamily="34" charset="0"/>
              </a:rPr>
              <a:t>Transportation and installation charges are included</a:t>
            </a:r>
            <a:r>
              <a:rPr lang="en-US" dirty="0">
                <a:solidFill>
                  <a:srgbClr val="000000"/>
                </a:solidFill>
                <a:latin typeface="Calibri" panose="020F0502020204030204" pitchFamily="34" charset="0"/>
              </a:rPr>
              <a:t> for orders above 3 lakhs. Onsite Partitioning, Assembly of Space-saving furniture and Removal of existing units during renovation projects additional charges may be applied separately with the client’s approval. </a:t>
            </a:r>
          </a:p>
          <a:p>
            <a:pPr algn="just"/>
            <a:endParaRPr lang="en-US" dirty="0">
              <a:solidFill>
                <a:srgbClr val="000000"/>
              </a:solidFill>
              <a:latin typeface="Calibri" panose="020F0502020204030204" pitchFamily="34" charset="0"/>
            </a:endParaRPr>
          </a:p>
          <a:p>
            <a:pPr algn="just"/>
            <a:r>
              <a:rPr lang="en-US" b="1" dirty="0"/>
              <a:t>16. Is Annual Maintenance Service Chargeable?</a:t>
            </a:r>
          </a:p>
          <a:p>
            <a:pPr algn="just"/>
            <a:r>
              <a:rPr lang="en-US" dirty="0"/>
              <a:t>	No, Annual maintenance service is provided free of charge for the first 10 years from the date of installation, subject to the terms and conditions specified in the guarantee services will be chargeable on a call-out basis.</a:t>
            </a:r>
          </a:p>
        </p:txBody>
      </p:sp>
      <p:sp>
        <p:nvSpPr>
          <p:cNvPr id="4" name="Slide Number Placeholder 3">
            <a:extLst>
              <a:ext uri="{FF2B5EF4-FFF2-40B4-BE49-F238E27FC236}">
                <a16:creationId xmlns:a16="http://schemas.microsoft.com/office/drawing/2014/main" id="{AD4CDFED-AAA7-4857-B324-81D1998B52D7}"/>
              </a:ext>
            </a:extLst>
          </p:cNvPr>
          <p:cNvSpPr>
            <a:spLocks noGrp="1"/>
          </p:cNvSpPr>
          <p:nvPr>
            <p:ph type="sldNum" sz="quarter" idx="12"/>
          </p:nvPr>
        </p:nvSpPr>
        <p:spPr/>
        <p:txBody>
          <a:bodyPr/>
          <a:lstStyle/>
          <a:p>
            <a:fld id="{B6F15528-21DE-4FAA-801E-634DDDAF4B2B}" type="slidenum">
              <a:rPr lang="en-US" smtClean="0"/>
              <a:pPr/>
              <a:t>28</a:t>
            </a:fld>
            <a:endParaRPr lang="en-US"/>
          </a:p>
        </p:txBody>
      </p:sp>
      <p:sp>
        <p:nvSpPr>
          <p:cNvPr id="5" name="Footer Placeholder 4">
            <a:extLst>
              <a:ext uri="{FF2B5EF4-FFF2-40B4-BE49-F238E27FC236}">
                <a16:creationId xmlns:a16="http://schemas.microsoft.com/office/drawing/2014/main" id="{E388C17C-11FC-4373-AC20-BB7EA4325772}"/>
              </a:ext>
            </a:extLst>
          </p:cNvPr>
          <p:cNvSpPr>
            <a:spLocks noGrp="1"/>
          </p:cNvSpPr>
          <p:nvPr>
            <p:ph type="ftr" sz="quarter" idx="11"/>
          </p:nvPr>
        </p:nvSpPr>
        <p:spPr/>
        <p:txBody>
          <a:bodyPr/>
          <a:lstStyle/>
          <a:p>
            <a:r>
              <a:rPr lang="en-US"/>
              <a:t>Mr. Aravindan | Individual Villa Adyar | 7418414780</a:t>
            </a:r>
          </a:p>
        </p:txBody>
      </p:sp>
    </p:spTree>
    <p:extLst>
      <p:ext uri="{BB962C8B-B14F-4D97-AF65-F5344CB8AC3E}">
        <p14:creationId xmlns:p14="http://schemas.microsoft.com/office/powerpoint/2010/main" val="23589711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A751325-B928-4F87-B2E2-4F5C39956663}"/>
              </a:ext>
            </a:extLst>
          </p:cNvPr>
          <p:cNvSpPr>
            <a:spLocks noGrp="1"/>
          </p:cNvSpPr>
          <p:nvPr>
            <p:ph type="sldNum" sz="quarter" idx="12"/>
          </p:nvPr>
        </p:nvSpPr>
        <p:spPr/>
        <p:txBody>
          <a:bodyPr/>
          <a:lstStyle/>
          <a:p>
            <a:fld id="{B6F15528-21DE-4FAA-801E-634DDDAF4B2B}" type="slidenum">
              <a:rPr lang="en-US" smtClean="0"/>
              <a:pPr/>
              <a:t>29</a:t>
            </a:fld>
            <a:endParaRPr lang="en-US"/>
          </a:p>
        </p:txBody>
      </p:sp>
      <p:sp>
        <p:nvSpPr>
          <p:cNvPr id="6" name="Footer Placeholder 5">
            <a:extLst>
              <a:ext uri="{FF2B5EF4-FFF2-40B4-BE49-F238E27FC236}">
                <a16:creationId xmlns:a16="http://schemas.microsoft.com/office/drawing/2014/main" id="{EF803507-2515-4327-867A-D30DD144DA17}"/>
              </a:ext>
            </a:extLst>
          </p:cNvPr>
          <p:cNvSpPr>
            <a:spLocks noGrp="1"/>
          </p:cNvSpPr>
          <p:nvPr>
            <p:ph type="ftr" sz="quarter" idx="11"/>
          </p:nvPr>
        </p:nvSpPr>
        <p:spPr/>
        <p:txBody>
          <a:bodyPr/>
          <a:lstStyle/>
          <a:p>
            <a:r>
              <a:rPr lang="en-US"/>
              <a:t>Mr. Aravindan | Individual Villa Adyar | 7418414780</a:t>
            </a:r>
          </a:p>
        </p:txBody>
      </p:sp>
      <p:pic>
        <p:nvPicPr>
          <p:cNvPr id="3" name="Picture 2">
            <a:extLst>
              <a:ext uri="{FF2B5EF4-FFF2-40B4-BE49-F238E27FC236}">
                <a16:creationId xmlns:a16="http://schemas.microsoft.com/office/drawing/2014/main" id="{C5932418-DA51-4B85-8506-157ED843A48D}"/>
              </a:ext>
            </a:extLst>
          </p:cNvPr>
          <p:cNvPicPr>
            <a:picLocks noChangeAspect="1"/>
          </p:cNvPicPr>
          <p:nvPr/>
        </p:nvPicPr>
        <p:blipFill>
          <a:blip r:embed="rId2"/>
          <a:stretch>
            <a:fillRect/>
          </a:stretch>
        </p:blipFill>
        <p:spPr>
          <a:xfrm>
            <a:off x="0" y="656"/>
            <a:ext cx="10045700" cy="14197288"/>
          </a:xfrm>
          <a:prstGeom prst="rect">
            <a:avLst/>
          </a:prstGeom>
        </p:spPr>
      </p:pic>
    </p:spTree>
    <p:extLst>
      <p:ext uri="{BB962C8B-B14F-4D97-AF65-F5344CB8AC3E}">
        <p14:creationId xmlns:p14="http://schemas.microsoft.com/office/powerpoint/2010/main" val="17156471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1080</TotalTime>
  <Words>3487</Words>
  <Application>Microsoft Office PowerPoint</Application>
  <PresentationFormat>Custom</PresentationFormat>
  <Paragraphs>606</Paragraphs>
  <Slides>29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Baskerville Display PT</vt:lpstr>
      <vt:lpstr>Inter</vt:lpstr>
      <vt:lpstr>Caudex Bold</vt:lpstr>
      <vt:lpstr>Arial</vt:lpstr>
      <vt:lpstr>Segoe UI Semibold</vt:lpstr>
      <vt:lpstr>Klein</vt:lpstr>
      <vt:lpstr>Calibri</vt:lpstr>
      <vt:lpstr>Times New Roman</vt:lpstr>
      <vt:lpstr>Moontime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Aravind-Techie</dc:creator>
  <cp:lastModifiedBy>Aravind-Techie</cp:lastModifiedBy>
  <cp:revision>69</cp:revision>
  <cp:lastPrinted>2026-10-09T10:58:13Z</cp:lastPrinted>
  <dcterms:created xsi:type="dcterms:W3CDTF">2006-08-16T00:00:00Z</dcterms:created>
  <dcterms:modified xsi:type="dcterms:W3CDTF">2026-10-10T07:23:40Z</dcterms:modified>
  <dc:identifier>DAHXT23Z2MQ</dc:identifier>
</cp:coreProperties>
</file>
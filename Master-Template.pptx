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256" r:id="rId3"/>
    <p:sldId id="257" r:id="rId4"/>
    <p:sldId id="258" r:id="rId5"/>
    <p:sldId id="261" r:id="rId6"/>
    <p:sldId id="262" r:id="rId7"/>
    <p:sldId id="263" r:id="rId8"/>
    <p:sldId id="291" r:id="rId9"/>
    <p:sldId id="277" r:id="rId10"/>
    <p:sldId id="281" r:id="rId11"/>
    <p:sldId id="270" r:id="rId12"/>
    <p:sldId id="268" r:id="rId13"/>
    <p:sldId id="269" r:id="rId14"/>
    <p:sldId id="267" r:id="rId15"/>
    <p:sldId id="271" r:id="rId16"/>
    <p:sldId id="272" r:id="rId17"/>
    <p:sldId id="273" r:id="rId18"/>
    <p:sldId id="274" r:id="rId19"/>
    <p:sldId id="275" r:id="rId20"/>
    <p:sldId id="276" r:id="rId21"/>
    <p:sldId id="278" r:id="rId22"/>
    <p:sldId id="279" r:id="rId23"/>
    <p:sldId id="282" r:id="rId24"/>
    <p:sldId id="284" r:id="rId25"/>
    <p:sldId id="285" r:id="rId26"/>
    <p:sldId id="286" r:id="rId27"/>
    <p:sldId id="287" r:id="rId28"/>
    <p:sldId id="290" r:id="rId29"/>
    <p:sldId id="288" r:id="rId30"/>
    <p:sldId id="289" r:id="rId31"/>
  </p:sldIdLst>
  <p:sldSz cx="10045700" cy="14198600"/>
  <p:notesSz cx="7103745" cy="10234295"/>
  <p:embeddedFontLst>
    <p:embeddedFont>
      <p:font typeface="Baskerville Display PT" panose="02030602080406020203"/>
      <p:regular r:id="rId36"/>
    </p:embeddedFont>
    <p:embeddedFont>
      <p:font typeface="Inter" panose="020B0502030000000004"/>
      <p:regular r:id="rId37"/>
    </p:embeddedFont>
    <p:embeddedFont>
      <p:font typeface="Caudex Bold" panose="02040502050505030304"/>
      <p:bold r:id="rId38"/>
    </p:embeddedFont>
    <p:embeddedFont>
      <p:font typeface="Baskerville Display PT" panose="02030602080406020203" charset="0"/>
      <p:regular r:id="rId39"/>
    </p:embeddedFont>
    <p:embeddedFont>
      <p:font typeface="Calibri" panose="020F0502020204030204" pitchFamily="34" charset="0"/>
      <p:regular r:id="rId40"/>
      <p:bold r:id="rId41"/>
      <p:italic r:id="rId42"/>
      <p:boldItalic r:id="rId43"/>
    </p:embeddedFont>
    <p:embeddedFont>
      <p:font typeface="Segoe UI Semibold" panose="020B0702040204020203" pitchFamily="34" charset="0"/>
      <p:bold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7ED"/>
    <a:srgbClr val="0E0E0D"/>
    <a:srgbClr val="FAF0F1"/>
    <a:srgbClr val="F4EDE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59" autoAdjust="0"/>
    <p:restoredTop sz="95514" autoAdjust="0"/>
  </p:normalViewPr>
  <p:slideViewPr>
    <p:cSldViewPr showGuides="1">
      <p:cViewPr>
        <p:scale>
          <a:sx n="200" d="100"/>
          <a:sy n="200" d="100"/>
        </p:scale>
        <p:origin x="-1554" y="-111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4" Type="http://schemas.openxmlformats.org/officeDocument/2006/relationships/font" Target="fonts/font9.fntdata"/><Relationship Id="rId43" Type="http://schemas.openxmlformats.org/officeDocument/2006/relationships/font" Target="fonts/font8.fntdata"/><Relationship Id="rId42" Type="http://schemas.openxmlformats.org/officeDocument/2006/relationships/font" Target="fonts/font7.fntdata"/><Relationship Id="rId41" Type="http://schemas.openxmlformats.org/officeDocument/2006/relationships/font" Target="fonts/font6.fntdata"/><Relationship Id="rId40" Type="http://schemas.openxmlformats.org/officeDocument/2006/relationships/font" Target="fonts/font5.fntdata"/><Relationship Id="rId4" Type="http://schemas.openxmlformats.org/officeDocument/2006/relationships/slide" Target="slides/slide2.xml"/><Relationship Id="rId39" Type="http://schemas.openxmlformats.org/officeDocument/2006/relationships/font" Target="fonts/font4.fntdata"/><Relationship Id="rId38" Type="http://schemas.openxmlformats.org/officeDocument/2006/relationships/font" Target="fonts/font3.fntdata"/><Relationship Id="rId37" Type="http://schemas.openxmlformats.org/officeDocument/2006/relationships/font" Target="fonts/font2.fntdata"/><Relationship Id="rId36" Type="http://schemas.openxmlformats.org/officeDocument/2006/relationships/font" Target="fonts/font1.fntdata"/><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notesMaster" Target="notesMasters/notesMaster1.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en-IN"/>
          </a:p>
        </p:txBody>
      </p:sp>
      <p:sp>
        <p:nvSpPr>
          <p:cNvPr id="3" name="Date Placeholder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2E0BE41C-301B-4B98-B991-CEF3C26D0AAD}" type="datetimeFigureOut">
              <a:rPr lang="en-IN" smtClean="0"/>
            </a:fld>
            <a:endParaRPr lang="en-IN"/>
          </a:p>
        </p:txBody>
      </p:sp>
      <p:sp>
        <p:nvSpPr>
          <p:cNvPr id="4" name="Slide Image Placeholder 3"/>
          <p:cNvSpPr>
            <a:spLocks noGrp="1" noRot="1" noChangeAspect="1"/>
          </p:cNvSpPr>
          <p:nvPr>
            <p:ph type="sldImg" idx="2"/>
          </p:nvPr>
        </p:nvSpPr>
        <p:spPr>
          <a:xfrm>
            <a:off x="2330450" y="1279525"/>
            <a:ext cx="2443163" cy="3454400"/>
          </a:xfrm>
          <a:prstGeom prst="rect">
            <a:avLst/>
          </a:prstGeom>
          <a:noFill/>
          <a:ln w="12700">
            <a:solidFill>
              <a:prstClr val="black"/>
            </a:solidFill>
          </a:ln>
        </p:spPr>
        <p:txBody>
          <a:bodyPr vert="horz" lIns="99075" tIns="49538" rIns="99075" bIns="49538" rtlCol="0" anchor="ctr"/>
          <a:lstStyle/>
          <a:p>
            <a:endParaRPr lang="en-IN"/>
          </a:p>
        </p:txBody>
      </p:sp>
      <p:sp>
        <p:nvSpPr>
          <p:cNvPr id="5" name="Notes Placeholde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IN"/>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9B7A2D13-6AA5-4808-B0E5-C6DA3ED4F745}"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a:xfrm>
            <a:off x="457200" y="13631408"/>
            <a:ext cx="2133600" cy="365125"/>
          </a:xfrm>
          <a:prstGeom prst="rect">
            <a:avLst/>
          </a:prstGeom>
        </p:spPr>
        <p:txBody>
          <a:bodyPr/>
          <a:lstStyle/>
          <a:p>
            <a:endParaRPr lang="en-US"/>
          </a:p>
        </p:txBody>
      </p:sp>
      <p:sp>
        <p:nvSpPr>
          <p:cNvPr id="8" name="Footer Placeholder 7"/>
          <p:cNvSpPr>
            <a:spLocks noGrp="1"/>
          </p:cNvSpPr>
          <p:nvPr>
            <p:ph type="ftr" sz="quarter" idx="11"/>
          </p:nvPr>
        </p:nvSpPr>
        <p:spPr/>
        <p:txBody>
          <a:bodyPr/>
          <a:lstStyle/>
          <a:p>
            <a:r>
              <a:rPr lang="en-US"/>
              <a:t>Mr. Aravindan | Individual Villa Adyar | 7418414780</a:t>
            </a:r>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a:xfrm>
            <a:off x="457200" y="13631408"/>
            <a:ext cx="2133600" cy="365125"/>
          </a:xfrm>
          <a:prstGeom prst="rect">
            <a:avLst/>
          </a:prstGeom>
        </p:spPr>
        <p:txBody>
          <a:bodyPr/>
          <a:lstStyle/>
          <a:p>
            <a:endParaRPr lang="en-US"/>
          </a:p>
        </p:txBody>
      </p:sp>
      <p:sp>
        <p:nvSpPr>
          <p:cNvPr id="4" name="Footer Placeholder 3"/>
          <p:cNvSpPr>
            <a:spLocks noGrp="1"/>
          </p:cNvSpPr>
          <p:nvPr>
            <p:ph type="ftr" sz="quarter" idx="11"/>
          </p:nvPr>
        </p:nvSpPr>
        <p:spPr/>
        <p:txBody>
          <a:bodyPr/>
          <a:lstStyle/>
          <a:p>
            <a:r>
              <a:rPr lang="en-US"/>
              <a:t>Mr. Aravindan | Individual Villa Adyar | 7418414780</a:t>
            </a:r>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13631408"/>
            <a:ext cx="2133600" cy="365125"/>
          </a:xfrm>
          <a:prstGeom prst="rect">
            <a:avLst/>
          </a:prstGeom>
        </p:spPr>
        <p:txBody>
          <a:bodyPr/>
          <a:lstStyle/>
          <a:p>
            <a:endParaRPr lang="en-US"/>
          </a:p>
        </p:txBody>
      </p:sp>
      <p:sp>
        <p:nvSpPr>
          <p:cNvPr id="3" name="Footer Placeholder 2"/>
          <p:cNvSpPr>
            <a:spLocks noGrp="1"/>
          </p:cNvSpPr>
          <p:nvPr>
            <p:ph type="ftr" sz="quarter" idx="11"/>
          </p:nvPr>
        </p:nvSpPr>
        <p:spPr/>
        <p:txBody>
          <a:bodyPr/>
          <a:lstStyle/>
          <a:p>
            <a:r>
              <a:rPr lang="en-US"/>
              <a:t>Mr. Aravindan | Individual Villa Adyar | 7418414780</a:t>
            </a:r>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ED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Footer Placeholder 4"/>
          <p:cNvSpPr>
            <a:spLocks noGrp="1"/>
          </p:cNvSpPr>
          <p:nvPr>
            <p:ph type="ftr" sz="quarter" idx="3"/>
          </p:nvPr>
        </p:nvSpPr>
        <p:spPr>
          <a:xfrm>
            <a:off x="1704975" y="13592175"/>
            <a:ext cx="6635750" cy="365125"/>
          </a:xfrm>
          <a:prstGeom prst="rect">
            <a:avLst/>
          </a:prstGeom>
        </p:spPr>
        <p:txBody>
          <a:bodyPr vert="horz" lIns="91440" tIns="45720" rIns="91440" bIns="45720" rtlCol="0" anchor="ctr"/>
          <a:lstStyle>
            <a:lvl1pPr algn="ctr">
              <a:defRPr sz="2000" b="1">
                <a:solidFill>
                  <a:schemeClr val="accent2">
                    <a:lumMod val="50000"/>
                  </a:schemeClr>
                </a:solidFill>
              </a:defRPr>
            </a:lvl1pPr>
          </a:lstStyle>
          <a:p>
            <a:r>
              <a:rPr lang="en-US" dirty="0"/>
              <a:t>Mr. Aravindan | Individual Villa Adyar | 7418414780</a:t>
            </a:r>
            <a:endParaRPr lang="en-US" dirty="0"/>
          </a:p>
        </p:txBody>
      </p:sp>
      <p:sp>
        <p:nvSpPr>
          <p:cNvPr id="6" name="Slide Number Placeholder 5"/>
          <p:cNvSpPr>
            <a:spLocks noGrp="1"/>
          </p:cNvSpPr>
          <p:nvPr>
            <p:ph type="sldNum" sz="quarter" idx="4"/>
          </p:nvPr>
        </p:nvSpPr>
        <p:spPr>
          <a:xfrm>
            <a:off x="7600450" y="13741398"/>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pic>
        <p:nvPicPr>
          <p:cNvPr id="8" name="Picture 7"/>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6242050" y="274638"/>
            <a:ext cx="3493554" cy="655042"/>
          </a:xfrm>
          <a:prstGeom prst="rect">
            <a:avLst/>
          </a:prstGeom>
        </p:spPr>
      </p:pic>
      <p:cxnSp>
        <p:nvCxnSpPr>
          <p:cNvPr id="10" name="Straight Connector 9"/>
          <p:cNvCxnSpPr/>
          <p:nvPr userDrawn="1"/>
        </p:nvCxnSpPr>
        <p:spPr>
          <a:xfrm flipH="1">
            <a:off x="6242050" y="1003300"/>
            <a:ext cx="3492000"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10.png"/><Relationship Id="rId8" Type="http://schemas.openxmlformats.org/officeDocument/2006/relationships/image" Target="../media/image9.png"/><Relationship Id="rId7" Type="http://schemas.openxmlformats.org/officeDocument/2006/relationships/image" Target="../media/image8.png"/><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30" Type="http://schemas.openxmlformats.org/officeDocument/2006/relationships/slideLayout" Target="../slideLayouts/slideLayout7.xml"/><Relationship Id="rId3" Type="http://schemas.openxmlformats.org/officeDocument/2006/relationships/image" Target="../media/image4.png"/><Relationship Id="rId29" Type="http://schemas.openxmlformats.org/officeDocument/2006/relationships/image" Target="../media/image30.png"/><Relationship Id="rId28" Type="http://schemas.openxmlformats.org/officeDocument/2006/relationships/image" Target="../media/image29.png"/><Relationship Id="rId27" Type="http://schemas.openxmlformats.org/officeDocument/2006/relationships/image" Target="../media/image28.png"/><Relationship Id="rId26" Type="http://schemas.openxmlformats.org/officeDocument/2006/relationships/image" Target="../media/image27.png"/><Relationship Id="rId25" Type="http://schemas.openxmlformats.org/officeDocument/2006/relationships/image" Target="../media/image26.png"/><Relationship Id="rId24" Type="http://schemas.openxmlformats.org/officeDocument/2006/relationships/image" Target="../media/image25.png"/><Relationship Id="rId23" Type="http://schemas.openxmlformats.org/officeDocument/2006/relationships/image" Target="../media/image24.png"/><Relationship Id="rId22" Type="http://schemas.openxmlformats.org/officeDocument/2006/relationships/image" Target="../media/image23.png"/><Relationship Id="rId21" Type="http://schemas.openxmlformats.org/officeDocument/2006/relationships/image" Target="../media/image22.png"/><Relationship Id="rId20" Type="http://schemas.openxmlformats.org/officeDocument/2006/relationships/image" Target="../media/image21.png"/><Relationship Id="rId2" Type="http://schemas.openxmlformats.org/officeDocument/2006/relationships/image" Target="../media/image3.png"/><Relationship Id="rId19" Type="http://schemas.openxmlformats.org/officeDocument/2006/relationships/image" Target="../media/image20.png"/><Relationship Id="rId18" Type="http://schemas.openxmlformats.org/officeDocument/2006/relationships/image" Target="../media/image19.png"/><Relationship Id="rId17" Type="http://schemas.openxmlformats.org/officeDocument/2006/relationships/image" Target="../media/image18.png"/><Relationship Id="rId16" Type="http://schemas.openxmlformats.org/officeDocument/2006/relationships/image" Target="../media/image17.png"/><Relationship Id="rId15" Type="http://schemas.openxmlformats.org/officeDocument/2006/relationships/image" Target="../media/image16.png"/><Relationship Id="rId14" Type="http://schemas.openxmlformats.org/officeDocument/2006/relationships/image" Target="../media/image15.png"/><Relationship Id="rId13" Type="http://schemas.openxmlformats.org/officeDocument/2006/relationships/image" Target="../media/image14.png"/><Relationship Id="rId12"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11.png"/><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4.jpeg"/><Relationship Id="rId1" Type="http://schemas.openxmlformats.org/officeDocument/2006/relationships/image" Target="../media/image33.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2.jpeg"/><Relationship Id="rId5" Type="http://schemas.openxmlformats.org/officeDocument/2006/relationships/image" Target="../media/image41.png"/><Relationship Id="rId4" Type="http://schemas.openxmlformats.org/officeDocument/2006/relationships/image" Target="../media/image40.jpeg"/><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image" Target="../media/image37.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5.png"/><Relationship Id="rId2" Type="http://schemas.openxmlformats.org/officeDocument/2006/relationships/image" Target="../media/image44.jpeg"/><Relationship Id="rId1" Type="http://schemas.openxmlformats.org/officeDocument/2006/relationships/image" Target="../media/image4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50.png"/><Relationship Id="rId2" Type="http://schemas.openxmlformats.org/officeDocument/2006/relationships/image" Target="../media/image49.jpeg"/><Relationship Id="rId1" Type="http://schemas.openxmlformats.org/officeDocument/2006/relationships/image" Target="../media/image4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53.png"/><Relationship Id="rId2" Type="http://schemas.openxmlformats.org/officeDocument/2006/relationships/image" Target="../media/image52.jpeg"/><Relationship Id="rId1" Type="http://schemas.openxmlformats.org/officeDocument/2006/relationships/image" Target="../media/image5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a:picLocks noChangeAspect="1"/>
          </p:cNvPicPr>
          <p:nvPr/>
        </p:nvPicPr>
        <p:blipFill rotWithShape="1">
          <a:blip r:embed="rId1"/>
          <a:srcRect l="26425" t="-47" r="17419" b="47"/>
          <a:stretch>
            <a:fillRect/>
          </a:stretch>
        </p:blipFill>
        <p:spPr>
          <a:xfrm flipH="1">
            <a:off x="3822320" y="1717"/>
            <a:ext cx="6241300" cy="8080035"/>
          </a:xfrm>
          <a:prstGeom prst="flowChartDelay">
            <a:avLst/>
          </a:prstGeom>
        </p:spPr>
      </p:pic>
      <p:sp>
        <p:nvSpPr>
          <p:cNvPr id="8" name="Freeform 8"/>
          <p:cNvSpPr/>
          <p:nvPr/>
        </p:nvSpPr>
        <p:spPr>
          <a:xfrm>
            <a:off x="190500" y="7629525"/>
            <a:ext cx="6191250" cy="2484978"/>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2">
              <a:duotone>
                <a:prstClr val="black"/>
                <a:srgbClr val="D9C3A5">
                  <a:tint val="50000"/>
                  <a:satMod val="180000"/>
                </a:srgbClr>
              </a:duotone>
            </a:blip>
            <a:stretch>
              <a:fillRect/>
            </a:stretch>
          </a:blipFill>
        </p:spPr>
        <p:txBody>
          <a:bodyPr/>
          <a:lstStyle/>
          <a:p>
            <a:endParaRPr lang="en-IN" dirty="0"/>
          </a:p>
        </p:txBody>
      </p:sp>
      <p:sp>
        <p:nvSpPr>
          <p:cNvPr id="81" name="Freeform 8"/>
          <p:cNvSpPr/>
          <p:nvPr/>
        </p:nvSpPr>
        <p:spPr>
          <a:xfrm>
            <a:off x="3976987" y="10133269"/>
            <a:ext cx="5229225" cy="1944432"/>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2">
              <a:duotone>
                <a:prstClr val="black"/>
                <a:srgbClr val="D9C3A5">
                  <a:tint val="50000"/>
                  <a:satMod val="180000"/>
                </a:srgbClr>
              </a:duotone>
            </a:blip>
            <a:stretch>
              <a:fillRect/>
            </a:stretch>
          </a:blipFill>
        </p:spPr>
        <p:txBody>
          <a:bodyPr/>
          <a:lstStyle/>
          <a:p>
            <a:endParaRPr lang="en-IN" dirty="0"/>
          </a:p>
        </p:txBody>
      </p:sp>
      <p:sp>
        <p:nvSpPr>
          <p:cNvPr id="3" name="Freeform 3"/>
          <p:cNvSpPr/>
          <p:nvPr/>
        </p:nvSpPr>
        <p:spPr>
          <a:xfrm>
            <a:off x="0" y="0"/>
            <a:ext cx="1162050" cy="1781175"/>
          </a:xfrm>
          <a:custGeom>
            <a:avLst/>
            <a:gdLst/>
            <a:ahLst/>
            <a:cxnLst/>
            <a:rect l="l" t="t" r="r" b="b"/>
            <a:pathLst>
              <a:path w="1162050" h="1781175">
                <a:moveTo>
                  <a:pt x="0" y="0"/>
                </a:moveTo>
                <a:lnTo>
                  <a:pt x="1162050" y="0"/>
                </a:lnTo>
                <a:lnTo>
                  <a:pt x="1162050" y="1781175"/>
                </a:lnTo>
                <a:lnTo>
                  <a:pt x="0" y="1781175"/>
                </a:lnTo>
                <a:lnTo>
                  <a:pt x="0" y="0"/>
                </a:lnTo>
                <a:close/>
              </a:path>
            </a:pathLst>
          </a:custGeom>
          <a:blipFill>
            <a:blip r:embed="rId3"/>
            <a:stretch>
              <a:fillRect/>
            </a:stretch>
          </a:blipFill>
        </p:spPr>
      </p:sp>
      <p:sp>
        <p:nvSpPr>
          <p:cNvPr id="7" name="Freeform 7"/>
          <p:cNvSpPr/>
          <p:nvPr/>
        </p:nvSpPr>
        <p:spPr>
          <a:xfrm>
            <a:off x="0" y="5308034"/>
            <a:ext cx="3088307" cy="405598"/>
          </a:xfrm>
          <a:custGeom>
            <a:avLst/>
            <a:gdLst/>
            <a:ahLst/>
            <a:cxnLst/>
            <a:rect l="l" t="t" r="r" b="b"/>
            <a:pathLst>
              <a:path w="781050" h="180975">
                <a:moveTo>
                  <a:pt x="0" y="0"/>
                </a:moveTo>
                <a:lnTo>
                  <a:pt x="781050" y="0"/>
                </a:lnTo>
                <a:lnTo>
                  <a:pt x="781050" y="180975"/>
                </a:lnTo>
                <a:lnTo>
                  <a:pt x="0" y="180975"/>
                </a:lnTo>
                <a:lnTo>
                  <a:pt x="0" y="0"/>
                </a:lnTo>
                <a:close/>
              </a:path>
            </a:pathLst>
          </a:custGeom>
          <a:blipFill>
            <a:blip r:embed="rId4"/>
            <a:stretch>
              <a:fillRect/>
            </a:stretch>
          </a:blipFill>
        </p:spPr>
      </p:sp>
      <p:sp>
        <p:nvSpPr>
          <p:cNvPr id="9" name="Freeform 9"/>
          <p:cNvSpPr/>
          <p:nvPr/>
        </p:nvSpPr>
        <p:spPr>
          <a:xfrm>
            <a:off x="381000" y="7448550"/>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5">
              <a:duotone>
                <a:prstClr val="black"/>
                <a:schemeClr val="accent2">
                  <a:tint val="45000"/>
                  <a:satMod val="400000"/>
                </a:schemeClr>
              </a:duotone>
            </a:blip>
            <a:stretch>
              <a:fillRect/>
            </a:stretch>
          </a:blipFill>
        </p:spPr>
      </p:sp>
      <p:sp>
        <p:nvSpPr>
          <p:cNvPr id="10" name="Freeform 10"/>
          <p:cNvSpPr/>
          <p:nvPr/>
        </p:nvSpPr>
        <p:spPr>
          <a:xfrm>
            <a:off x="571500" y="8162925"/>
            <a:ext cx="400050" cy="361950"/>
          </a:xfrm>
          <a:custGeom>
            <a:avLst/>
            <a:gdLst/>
            <a:ahLst/>
            <a:cxnLst/>
            <a:rect l="l" t="t" r="r" b="b"/>
            <a:pathLst>
              <a:path w="400050" h="361950">
                <a:moveTo>
                  <a:pt x="0" y="0"/>
                </a:moveTo>
                <a:lnTo>
                  <a:pt x="400050" y="0"/>
                </a:lnTo>
                <a:lnTo>
                  <a:pt x="400050" y="361950"/>
                </a:lnTo>
                <a:lnTo>
                  <a:pt x="0" y="361950"/>
                </a:lnTo>
                <a:lnTo>
                  <a:pt x="0" y="0"/>
                </a:lnTo>
                <a:close/>
              </a:path>
            </a:pathLst>
          </a:custGeom>
          <a:blipFill>
            <a:blip r:embed="rId6"/>
            <a:stretch>
              <a:fillRect/>
            </a:stretch>
          </a:blipFill>
        </p:spPr>
      </p:sp>
      <p:sp>
        <p:nvSpPr>
          <p:cNvPr id="12" name="Freeform 12"/>
          <p:cNvSpPr/>
          <p:nvPr/>
        </p:nvSpPr>
        <p:spPr>
          <a:xfrm>
            <a:off x="571500" y="8515350"/>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7"/>
            <a:stretch>
              <a:fillRect/>
            </a:stretch>
          </a:blipFill>
        </p:spPr>
      </p:sp>
      <p:sp>
        <p:nvSpPr>
          <p:cNvPr id="16" name="Freeform 16"/>
          <p:cNvSpPr/>
          <p:nvPr/>
        </p:nvSpPr>
        <p:spPr>
          <a:xfrm>
            <a:off x="571500" y="9070975"/>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8"/>
            <a:stretch>
              <a:fillRect/>
            </a:stretch>
          </a:blipFill>
        </p:spPr>
      </p:sp>
      <p:sp>
        <p:nvSpPr>
          <p:cNvPr id="19" name="Freeform 19"/>
          <p:cNvSpPr/>
          <p:nvPr/>
        </p:nvSpPr>
        <p:spPr>
          <a:xfrm>
            <a:off x="400350" y="94615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9"/>
            <a:stretch>
              <a:fillRect/>
            </a:stretch>
          </a:blipFill>
        </p:spPr>
        <p:txBody>
          <a:bodyPr/>
          <a:lstStyle/>
          <a:p>
            <a:endParaRPr lang="en-IN" dirty="0"/>
          </a:p>
        </p:txBody>
      </p:sp>
      <p:sp>
        <p:nvSpPr>
          <p:cNvPr id="22" name="Freeform 22"/>
          <p:cNvSpPr/>
          <p:nvPr/>
        </p:nvSpPr>
        <p:spPr>
          <a:xfrm>
            <a:off x="4246742" y="9943561"/>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10">
              <a:duotone>
                <a:prstClr val="black"/>
                <a:schemeClr val="accent2">
                  <a:tint val="45000"/>
                  <a:satMod val="400000"/>
                </a:schemeClr>
              </a:duotone>
            </a:blip>
            <a:stretch>
              <a:fillRect/>
            </a:stretch>
          </a:blipFill>
        </p:spPr>
      </p:sp>
      <p:sp>
        <p:nvSpPr>
          <p:cNvPr id="23" name="Freeform 23"/>
          <p:cNvSpPr/>
          <p:nvPr/>
        </p:nvSpPr>
        <p:spPr>
          <a:xfrm>
            <a:off x="4248150" y="10566940"/>
            <a:ext cx="590550" cy="371475"/>
          </a:xfrm>
          <a:custGeom>
            <a:avLst/>
            <a:gdLst/>
            <a:ahLst/>
            <a:cxnLst/>
            <a:rect l="l" t="t" r="r" b="b"/>
            <a:pathLst>
              <a:path w="590550" h="371475">
                <a:moveTo>
                  <a:pt x="0" y="0"/>
                </a:moveTo>
                <a:lnTo>
                  <a:pt x="590550" y="0"/>
                </a:lnTo>
                <a:lnTo>
                  <a:pt x="590550" y="371475"/>
                </a:lnTo>
                <a:lnTo>
                  <a:pt x="0" y="371475"/>
                </a:lnTo>
                <a:lnTo>
                  <a:pt x="0" y="0"/>
                </a:lnTo>
                <a:close/>
              </a:path>
            </a:pathLst>
          </a:custGeom>
          <a:blipFill>
            <a:blip r:embed="rId11"/>
            <a:stretch>
              <a:fillRect/>
            </a:stretch>
          </a:blipFill>
        </p:spPr>
      </p:sp>
      <p:sp>
        <p:nvSpPr>
          <p:cNvPr id="25" name="Freeform 25"/>
          <p:cNvSpPr/>
          <p:nvPr/>
        </p:nvSpPr>
        <p:spPr>
          <a:xfrm>
            <a:off x="4248150" y="11004494"/>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2"/>
            <a:stretch>
              <a:fillRect/>
            </a:stretch>
          </a:blipFill>
        </p:spPr>
      </p:sp>
      <p:sp>
        <p:nvSpPr>
          <p:cNvPr id="27" name="Freeform 27"/>
          <p:cNvSpPr/>
          <p:nvPr/>
        </p:nvSpPr>
        <p:spPr>
          <a:xfrm>
            <a:off x="4248150" y="11456931"/>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3"/>
            <a:stretch>
              <a:fillRect/>
            </a:stretch>
          </a:blipFill>
        </p:spPr>
      </p:sp>
      <p:sp>
        <p:nvSpPr>
          <p:cNvPr id="29" name="Freeform 29"/>
          <p:cNvSpPr/>
          <p:nvPr/>
        </p:nvSpPr>
        <p:spPr>
          <a:xfrm>
            <a:off x="0" y="12773025"/>
            <a:ext cx="2324100" cy="1428750"/>
          </a:xfrm>
          <a:custGeom>
            <a:avLst/>
            <a:gdLst/>
            <a:ahLst/>
            <a:cxnLst/>
            <a:rect l="l" t="t" r="r" b="b"/>
            <a:pathLst>
              <a:path w="2324100" h="1428750">
                <a:moveTo>
                  <a:pt x="0" y="0"/>
                </a:moveTo>
                <a:lnTo>
                  <a:pt x="2324100" y="0"/>
                </a:lnTo>
                <a:lnTo>
                  <a:pt x="2324100" y="1428750"/>
                </a:lnTo>
                <a:lnTo>
                  <a:pt x="0" y="1428750"/>
                </a:lnTo>
                <a:lnTo>
                  <a:pt x="0" y="0"/>
                </a:lnTo>
                <a:close/>
              </a:path>
            </a:pathLst>
          </a:custGeom>
          <a:blipFill>
            <a:blip r:embed="rId14"/>
            <a:stretch>
              <a:fillRect/>
            </a:stretch>
          </a:blipFill>
        </p:spPr>
      </p:sp>
      <p:sp>
        <p:nvSpPr>
          <p:cNvPr id="30" name="Freeform 30"/>
          <p:cNvSpPr/>
          <p:nvPr/>
        </p:nvSpPr>
        <p:spPr>
          <a:xfrm>
            <a:off x="19240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15"/>
            <a:stretch>
              <a:fillRect/>
            </a:stretch>
          </a:blipFill>
        </p:spPr>
      </p:sp>
      <p:sp>
        <p:nvSpPr>
          <p:cNvPr id="31" name="Freeform 31"/>
          <p:cNvSpPr/>
          <p:nvPr/>
        </p:nvSpPr>
        <p:spPr>
          <a:xfrm>
            <a:off x="212407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6"/>
            <a:stretch>
              <a:fillRect/>
            </a:stretch>
          </a:blipFill>
        </p:spPr>
      </p:sp>
      <p:sp>
        <p:nvSpPr>
          <p:cNvPr id="32" name="TextBox 32"/>
          <p:cNvSpPr txBox="1"/>
          <p:nvPr/>
        </p:nvSpPr>
        <p:spPr>
          <a:xfrm>
            <a:off x="1867456" y="13115374"/>
            <a:ext cx="1138301"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PERSONALIZED DESIGN</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33" name="Freeform 33"/>
          <p:cNvSpPr/>
          <p:nvPr/>
        </p:nvSpPr>
        <p:spPr>
          <a:xfrm>
            <a:off x="3276600" y="12239625"/>
            <a:ext cx="209550" cy="1438275"/>
          </a:xfrm>
          <a:custGeom>
            <a:avLst/>
            <a:gdLst/>
            <a:ahLst/>
            <a:cxnLst/>
            <a:rect l="l" t="t" r="r" b="b"/>
            <a:pathLst>
              <a:path w="209550" h="1438275">
                <a:moveTo>
                  <a:pt x="0" y="0"/>
                </a:moveTo>
                <a:lnTo>
                  <a:pt x="209550" y="0"/>
                </a:lnTo>
                <a:lnTo>
                  <a:pt x="209550" y="1438275"/>
                </a:lnTo>
                <a:lnTo>
                  <a:pt x="0" y="1438275"/>
                </a:lnTo>
                <a:lnTo>
                  <a:pt x="0" y="0"/>
                </a:lnTo>
                <a:close/>
              </a:path>
            </a:pathLst>
          </a:custGeom>
          <a:blipFill>
            <a:blip r:embed="rId17"/>
            <a:stretch>
              <a:fillRect/>
            </a:stretch>
          </a:blipFill>
        </p:spPr>
      </p:sp>
      <p:sp>
        <p:nvSpPr>
          <p:cNvPr id="34" name="Freeform 34"/>
          <p:cNvSpPr/>
          <p:nvPr/>
        </p:nvSpPr>
        <p:spPr>
          <a:xfrm>
            <a:off x="3667125"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18"/>
            <a:stretch>
              <a:fillRect/>
            </a:stretch>
          </a:blipFill>
        </p:spPr>
      </p:sp>
      <p:sp>
        <p:nvSpPr>
          <p:cNvPr id="35" name="Freeform 35"/>
          <p:cNvSpPr/>
          <p:nvPr/>
        </p:nvSpPr>
        <p:spPr>
          <a:xfrm>
            <a:off x="385762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9"/>
            <a:stretch>
              <a:fillRect/>
            </a:stretch>
          </a:blipFill>
        </p:spPr>
      </p:sp>
      <p:sp>
        <p:nvSpPr>
          <p:cNvPr id="36" name="Freeform 36"/>
          <p:cNvSpPr/>
          <p:nvPr/>
        </p:nvSpPr>
        <p:spPr>
          <a:xfrm>
            <a:off x="5019675"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0"/>
            <a:stretch>
              <a:fillRect/>
            </a:stretch>
          </a:blipFill>
        </p:spPr>
      </p:sp>
      <p:sp>
        <p:nvSpPr>
          <p:cNvPr id="37" name="Freeform 37"/>
          <p:cNvSpPr/>
          <p:nvPr/>
        </p:nvSpPr>
        <p:spPr>
          <a:xfrm>
            <a:off x="5410200"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21"/>
            <a:stretch>
              <a:fillRect/>
            </a:stretch>
          </a:blipFill>
        </p:spPr>
      </p:sp>
      <p:sp>
        <p:nvSpPr>
          <p:cNvPr id="38" name="Freeform 38"/>
          <p:cNvSpPr/>
          <p:nvPr/>
        </p:nvSpPr>
        <p:spPr>
          <a:xfrm>
            <a:off x="5610225" y="12450502"/>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2"/>
            <a:stretch>
              <a:fillRect/>
            </a:stretch>
          </a:blipFill>
        </p:spPr>
      </p:sp>
      <p:sp>
        <p:nvSpPr>
          <p:cNvPr id="39" name="Freeform 39"/>
          <p:cNvSpPr/>
          <p:nvPr/>
        </p:nvSpPr>
        <p:spPr>
          <a:xfrm>
            <a:off x="6762750"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3"/>
            <a:stretch>
              <a:fillRect/>
            </a:stretch>
          </a:blipFill>
        </p:spPr>
      </p:sp>
      <p:sp>
        <p:nvSpPr>
          <p:cNvPr id="40" name="Freeform 40"/>
          <p:cNvSpPr/>
          <p:nvPr/>
        </p:nvSpPr>
        <p:spPr>
          <a:xfrm>
            <a:off x="71437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24"/>
            <a:stretch>
              <a:fillRect/>
            </a:stretch>
          </a:blipFill>
        </p:spPr>
      </p:sp>
      <p:sp>
        <p:nvSpPr>
          <p:cNvPr id="41" name="Freeform 41"/>
          <p:cNvSpPr/>
          <p:nvPr/>
        </p:nvSpPr>
        <p:spPr>
          <a:xfrm>
            <a:off x="7334250"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5"/>
            <a:stretch>
              <a:fillRect/>
            </a:stretch>
          </a:blipFill>
        </p:spPr>
      </p:sp>
      <p:sp>
        <p:nvSpPr>
          <p:cNvPr id="42" name="Freeform 42"/>
          <p:cNvSpPr/>
          <p:nvPr/>
        </p:nvSpPr>
        <p:spPr>
          <a:xfrm>
            <a:off x="8686800" y="12420600"/>
            <a:ext cx="1362075" cy="1781175"/>
          </a:xfrm>
          <a:custGeom>
            <a:avLst/>
            <a:gdLst/>
            <a:ahLst/>
            <a:cxnLst/>
            <a:rect l="l" t="t" r="r" b="b"/>
            <a:pathLst>
              <a:path w="1362075" h="1781175">
                <a:moveTo>
                  <a:pt x="0" y="0"/>
                </a:moveTo>
                <a:lnTo>
                  <a:pt x="1362075" y="0"/>
                </a:lnTo>
                <a:lnTo>
                  <a:pt x="1362075" y="1781175"/>
                </a:lnTo>
                <a:lnTo>
                  <a:pt x="0" y="1781175"/>
                </a:lnTo>
                <a:lnTo>
                  <a:pt x="0" y="0"/>
                </a:lnTo>
                <a:close/>
              </a:path>
            </a:pathLst>
          </a:custGeom>
          <a:blipFill>
            <a:blip r:embed="rId26"/>
            <a:stretch>
              <a:fillRect/>
            </a:stretch>
          </a:blipFill>
        </p:spPr>
      </p:sp>
      <p:sp>
        <p:nvSpPr>
          <p:cNvPr id="43" name="Freeform 43"/>
          <p:cNvSpPr/>
          <p:nvPr/>
        </p:nvSpPr>
        <p:spPr>
          <a:xfrm>
            <a:off x="8886825" y="10467975"/>
            <a:ext cx="1162050" cy="2314575"/>
          </a:xfrm>
          <a:custGeom>
            <a:avLst/>
            <a:gdLst/>
            <a:ahLst/>
            <a:cxnLst/>
            <a:rect l="l" t="t" r="r" b="b"/>
            <a:pathLst>
              <a:path w="1162050" h="2314575">
                <a:moveTo>
                  <a:pt x="0" y="0"/>
                </a:moveTo>
                <a:lnTo>
                  <a:pt x="1162050" y="0"/>
                </a:lnTo>
                <a:lnTo>
                  <a:pt x="1162050" y="2314575"/>
                </a:lnTo>
                <a:lnTo>
                  <a:pt x="0" y="2314575"/>
                </a:lnTo>
                <a:lnTo>
                  <a:pt x="0" y="0"/>
                </a:lnTo>
                <a:close/>
              </a:path>
            </a:pathLst>
          </a:custGeom>
          <a:blipFill>
            <a:blip r:embed="rId27"/>
            <a:stretch>
              <a:fillRect/>
            </a:stretch>
          </a:blipFill>
        </p:spPr>
      </p:sp>
      <p:sp>
        <p:nvSpPr>
          <p:cNvPr id="44" name="Freeform 44"/>
          <p:cNvSpPr/>
          <p:nvPr/>
        </p:nvSpPr>
        <p:spPr>
          <a:xfrm>
            <a:off x="-25306" y="10899378"/>
            <a:ext cx="1933575" cy="3299221"/>
          </a:xfrm>
          <a:custGeom>
            <a:avLst/>
            <a:gdLst/>
            <a:ahLst/>
            <a:cxnLst/>
            <a:rect l="l" t="t" r="r" b="b"/>
            <a:pathLst>
              <a:path w="1933575" h="3552825">
                <a:moveTo>
                  <a:pt x="0" y="0"/>
                </a:moveTo>
                <a:lnTo>
                  <a:pt x="1933575" y="0"/>
                </a:lnTo>
                <a:lnTo>
                  <a:pt x="1933575" y="3552825"/>
                </a:lnTo>
                <a:lnTo>
                  <a:pt x="0" y="3552825"/>
                </a:lnTo>
                <a:lnTo>
                  <a:pt x="0" y="0"/>
                </a:lnTo>
                <a:close/>
              </a:path>
            </a:pathLst>
          </a:custGeom>
          <a:blipFill>
            <a:blip r:embed="rId28"/>
            <a:stretch>
              <a:fillRect/>
            </a:stretch>
          </a:blipFill>
        </p:spPr>
      </p:sp>
      <p:sp>
        <p:nvSpPr>
          <p:cNvPr id="46" name="Freeform 46"/>
          <p:cNvSpPr/>
          <p:nvPr/>
        </p:nvSpPr>
        <p:spPr>
          <a:xfrm>
            <a:off x="222251" y="774700"/>
            <a:ext cx="4049644" cy="714570"/>
          </a:xfrm>
          <a:custGeom>
            <a:avLst/>
            <a:gdLst/>
            <a:ahLst/>
            <a:cxnLst/>
            <a:rect l="l" t="t" r="r" b="b"/>
            <a:pathLst>
              <a:path w="5109939" h="958114">
                <a:moveTo>
                  <a:pt x="0" y="0"/>
                </a:moveTo>
                <a:lnTo>
                  <a:pt x="5109939" y="0"/>
                </a:lnTo>
                <a:lnTo>
                  <a:pt x="5109939" y="958113"/>
                </a:lnTo>
                <a:lnTo>
                  <a:pt x="0" y="958113"/>
                </a:lnTo>
                <a:lnTo>
                  <a:pt x="0" y="0"/>
                </a:lnTo>
                <a:close/>
              </a:path>
            </a:pathLst>
          </a:custGeom>
          <a:blipFill>
            <a:blip r:embed="rId29"/>
            <a:stretch>
              <a:fillRect/>
            </a:stretch>
          </a:blipFill>
        </p:spPr>
      </p:sp>
      <p:sp>
        <p:nvSpPr>
          <p:cNvPr id="47" name="TextBox 47"/>
          <p:cNvSpPr txBox="1"/>
          <p:nvPr/>
        </p:nvSpPr>
        <p:spPr>
          <a:xfrm rot="21093">
            <a:off x="379595" y="2609141"/>
            <a:ext cx="3611738" cy="1622880"/>
          </a:xfrm>
          <a:prstGeom prst="rect">
            <a:avLst/>
          </a:prstGeom>
        </p:spPr>
        <p:txBody>
          <a:bodyPr wrap="square" lIns="0" tIns="0" rIns="0" bIns="0" rtlCol="0" anchor="t">
            <a:spAutoFit/>
          </a:bodyPr>
          <a:lstStyle/>
          <a:p>
            <a:pPr algn="l">
              <a:lnSpc>
                <a:spcPts val="6105"/>
              </a:lnSpc>
            </a:pPr>
            <a:r>
              <a:rPr lang="en-US" sz="4800" spc="-337"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rPr>
              <a:t>Designing Spaces for a</a:t>
            </a:r>
            <a:endParaRPr lang="en-US" sz="4800" spc="-337"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endParaRPr>
          </a:p>
        </p:txBody>
      </p:sp>
      <p:sp>
        <p:nvSpPr>
          <p:cNvPr id="50" name="TextBox 50"/>
          <p:cNvSpPr txBox="1"/>
          <p:nvPr/>
        </p:nvSpPr>
        <p:spPr>
          <a:xfrm>
            <a:off x="355404" y="5753355"/>
            <a:ext cx="3760224" cy="519229"/>
          </a:xfrm>
          <a:prstGeom prst="rect">
            <a:avLst/>
          </a:prstGeom>
        </p:spPr>
        <p:txBody>
          <a:bodyPr lIns="0" tIns="0" rIns="0" bIns="0" rtlCol="0" anchor="t">
            <a:spAutoFit/>
          </a:bodyPr>
          <a:lstStyle/>
          <a:p>
            <a:pPr algn="l">
              <a:lnSpc>
                <a:spcPts val="2170"/>
              </a:lnSpc>
            </a:pPr>
            <a:r>
              <a:rPr lang="en-US" sz="1445" dirty="0">
                <a:solidFill>
                  <a:srgbClr val="808080"/>
                </a:solidFill>
                <a:latin typeface="Klein" panose="02000503060000020004"/>
                <a:ea typeface="Klein" panose="02000503060000020004"/>
                <a:cs typeface="Klein" panose="02000503060000020004"/>
                <a:sym typeface="Klein" panose="02000503060000020004"/>
              </a:rPr>
              <a:t>Thoughtful Design  |  Premium Materials</a:t>
            </a:r>
            <a:endParaRPr lang="en-US" sz="1445" dirty="0">
              <a:solidFill>
                <a:srgbClr val="808080"/>
              </a:solidFill>
              <a:latin typeface="Klein" panose="02000503060000020004"/>
              <a:ea typeface="Klein" panose="02000503060000020004"/>
              <a:cs typeface="Klein" panose="02000503060000020004"/>
              <a:sym typeface="Klein" panose="02000503060000020004"/>
            </a:endParaRPr>
          </a:p>
          <a:p>
            <a:pPr algn="l">
              <a:lnSpc>
                <a:spcPts val="2170"/>
              </a:lnSpc>
            </a:pPr>
            <a:r>
              <a:rPr lang="en-US" sz="1445" dirty="0">
                <a:solidFill>
                  <a:srgbClr val="808080"/>
                </a:solidFill>
                <a:latin typeface="Klein" panose="02000503060000020004"/>
                <a:ea typeface="Klein" panose="02000503060000020004"/>
                <a:cs typeface="Klein" panose="02000503060000020004"/>
                <a:sym typeface="Klein" panose="02000503060000020004"/>
              </a:rPr>
              <a:t>Quality Execution  |  Homes That Last</a:t>
            </a:r>
            <a:endParaRPr lang="en-US" sz="1445" dirty="0">
              <a:solidFill>
                <a:srgbClr val="808080"/>
              </a:solidFill>
              <a:latin typeface="Klein" panose="02000503060000020004"/>
              <a:ea typeface="Klein" panose="02000503060000020004"/>
              <a:cs typeface="Klein" panose="02000503060000020004"/>
              <a:sym typeface="Klein" panose="02000503060000020004"/>
            </a:endParaRPr>
          </a:p>
        </p:txBody>
      </p:sp>
      <p:sp>
        <p:nvSpPr>
          <p:cNvPr id="51" name="TextBox 51"/>
          <p:cNvSpPr txBox="1"/>
          <p:nvPr/>
        </p:nvSpPr>
        <p:spPr>
          <a:xfrm>
            <a:off x="1140000" y="8667320"/>
            <a:ext cx="667328"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Phone No</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52" name="TextBox 52"/>
          <p:cNvSpPr txBox="1"/>
          <p:nvPr/>
        </p:nvSpPr>
        <p:spPr>
          <a:xfrm>
            <a:off x="4552256" y="10075796"/>
            <a:ext cx="2019879" cy="335092"/>
          </a:xfrm>
          <a:prstGeom prst="rect">
            <a:avLst/>
          </a:prstGeom>
        </p:spPr>
        <p:txBody>
          <a:bodyPr lIns="0" tIns="0" rIns="0" bIns="0" rtlCol="0" anchor="t">
            <a:spAutoFit/>
          </a:bodyPr>
          <a:lstStyle/>
          <a:p>
            <a:pPr algn="l">
              <a:lnSpc>
                <a:spcPts val="2795"/>
              </a:lnSpc>
            </a:pPr>
            <a:r>
              <a:rPr lang="en-US" sz="1860" b="1" spc="92" dirty="0">
                <a:solidFill>
                  <a:srgbClr val="08231B"/>
                </a:solidFill>
                <a:latin typeface="Caudex Bold" panose="02040502050505030304"/>
                <a:ea typeface="Caudex Bold" panose="02040502050505030304"/>
                <a:cs typeface="Caudex Bold" panose="02040502050505030304"/>
                <a:sym typeface="Caudex Bold" panose="02040502050505030304"/>
              </a:rPr>
              <a:t>Architect Details</a:t>
            </a:r>
            <a:endParaRPr lang="en-US" sz="1860" b="1" spc="92" dirty="0">
              <a:solidFill>
                <a:srgbClr val="08231B"/>
              </a:solidFill>
              <a:latin typeface="Caudex Bold" panose="02040502050505030304"/>
              <a:ea typeface="Caudex Bold" panose="02040502050505030304"/>
              <a:cs typeface="Caudex Bold" panose="02040502050505030304"/>
              <a:sym typeface="Caudex Bold" panose="02040502050505030304"/>
            </a:endParaRPr>
          </a:p>
        </p:txBody>
      </p:sp>
      <p:sp>
        <p:nvSpPr>
          <p:cNvPr id="53" name="TextBox 53"/>
          <p:cNvSpPr txBox="1"/>
          <p:nvPr/>
        </p:nvSpPr>
        <p:spPr>
          <a:xfrm>
            <a:off x="4850877" y="11605675"/>
            <a:ext cx="53446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Email ID</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54" name="TextBox 54"/>
          <p:cNvSpPr txBox="1"/>
          <p:nvPr/>
        </p:nvSpPr>
        <p:spPr>
          <a:xfrm>
            <a:off x="3738807" y="13115374"/>
            <a:ext cx="856869"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PREMIUM MATERIALS</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55" name="TextBox 55"/>
          <p:cNvSpPr txBox="1"/>
          <p:nvPr/>
        </p:nvSpPr>
        <p:spPr>
          <a:xfrm>
            <a:off x="5327650" y="13119100"/>
            <a:ext cx="1244420" cy="403637"/>
          </a:xfrm>
          <a:prstGeom prst="rect">
            <a:avLst/>
          </a:prstGeom>
        </p:spPr>
        <p:txBody>
          <a:bodyPr wrap="square" lIns="0" tIns="0" rIns="0" bIns="0" rtlCol="0" anchor="t">
            <a:spAutoFit/>
          </a:bodyPr>
          <a:lstStyle/>
          <a:p>
            <a:pPr algn="ctr">
              <a:lnSpc>
                <a:spcPts val="1625"/>
              </a:lnSpc>
            </a:pPr>
            <a:r>
              <a:rPr lang="en-US" sz="1160" spc="23" dirty="0">
                <a:solidFill>
                  <a:srgbClr val="08231B"/>
                </a:solidFill>
                <a:latin typeface="Klein" panose="02000503060000020004"/>
                <a:ea typeface="Klein" panose="02000503060000020004"/>
                <a:cs typeface="Klein" panose="02000503060000020004"/>
                <a:sym typeface="Klein" panose="02000503060000020004"/>
              </a:rPr>
              <a:t>QUALITY WORKMANSHIP</a:t>
            </a:r>
            <a:endParaRPr lang="en-US" sz="1160" spc="23" dirty="0">
              <a:solidFill>
                <a:srgbClr val="08231B"/>
              </a:solidFill>
              <a:latin typeface="Klein" panose="02000503060000020004"/>
              <a:ea typeface="Klein" panose="02000503060000020004"/>
              <a:cs typeface="Klein" panose="02000503060000020004"/>
              <a:sym typeface="Klein" panose="02000503060000020004"/>
            </a:endParaRPr>
          </a:p>
        </p:txBody>
      </p:sp>
      <p:sp>
        <p:nvSpPr>
          <p:cNvPr id="56" name="TextBox 56"/>
          <p:cNvSpPr txBox="1"/>
          <p:nvPr/>
        </p:nvSpPr>
        <p:spPr>
          <a:xfrm>
            <a:off x="7283637" y="13115374"/>
            <a:ext cx="816042" cy="387216"/>
          </a:xfrm>
          <a:prstGeom prst="rect">
            <a:avLst/>
          </a:prstGeom>
        </p:spPr>
        <p:txBody>
          <a:bodyPr lIns="0" tIns="0" rIns="0" bIns="0" rtlCol="0" anchor="t">
            <a:spAutoFit/>
          </a:bodyPr>
          <a:lstStyle/>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HOMES</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a:p>
            <a:pPr algn="ctr">
              <a:lnSpc>
                <a:spcPts val="1625"/>
              </a:lnSpc>
            </a:pPr>
            <a:r>
              <a:rPr lang="en-US" sz="1160" spc="23">
                <a:solidFill>
                  <a:srgbClr val="08231B"/>
                </a:solidFill>
                <a:latin typeface="Klein" panose="02000503060000020004"/>
                <a:ea typeface="Klein" panose="02000503060000020004"/>
                <a:cs typeface="Klein" panose="02000503060000020004"/>
                <a:sym typeface="Klein" panose="02000503060000020004"/>
              </a:rPr>
              <a:t>THAT LAST</a:t>
            </a:r>
            <a:endParaRPr lang="en-US" sz="1160" spc="23">
              <a:solidFill>
                <a:srgbClr val="08231B"/>
              </a:solidFill>
              <a:latin typeface="Klein" panose="02000503060000020004"/>
              <a:ea typeface="Klein" panose="02000503060000020004"/>
              <a:cs typeface="Klein" panose="02000503060000020004"/>
              <a:sym typeface="Klein" panose="02000503060000020004"/>
            </a:endParaRPr>
          </a:p>
        </p:txBody>
      </p:sp>
      <p:sp>
        <p:nvSpPr>
          <p:cNvPr id="57" name="TextBox 57"/>
          <p:cNvSpPr txBox="1"/>
          <p:nvPr/>
        </p:nvSpPr>
        <p:spPr>
          <a:xfrm>
            <a:off x="271531" y="1729868"/>
            <a:ext cx="4878456" cy="230832"/>
          </a:xfrm>
          <a:prstGeom prst="rect">
            <a:avLst/>
          </a:prstGeom>
        </p:spPr>
        <p:txBody>
          <a:bodyPr wrap="square" lIns="0" tIns="0" rIns="0" bIns="0" rtlCol="0" anchor="t">
            <a:spAutoFit/>
          </a:bodyPr>
          <a:lstStyle/>
          <a:p>
            <a:pPr algn="l">
              <a:lnSpc>
                <a:spcPts val="1555"/>
              </a:lnSpc>
            </a:pPr>
            <a:r>
              <a:rPr lang="en-US" spc="414" dirty="0">
                <a:solidFill>
                  <a:srgbClr val="08231B"/>
                </a:solidFill>
                <a:latin typeface="Klein" panose="02000503060000020004"/>
                <a:ea typeface="Klein" panose="02000503060000020004"/>
                <a:cs typeface="Klein" panose="02000503060000020004"/>
                <a:sym typeface="Klein" panose="02000503060000020004"/>
              </a:rPr>
              <a:t>LIVE LIKE YOU MEAN IT</a:t>
            </a:r>
            <a:endParaRPr lang="en-US" spc="414" dirty="0">
              <a:solidFill>
                <a:srgbClr val="08231B"/>
              </a:solidFill>
              <a:latin typeface="Klein" panose="02000503060000020004"/>
              <a:ea typeface="Klein" panose="02000503060000020004"/>
              <a:cs typeface="Klein" panose="02000503060000020004"/>
              <a:sym typeface="Klein" panose="02000503060000020004"/>
            </a:endParaRPr>
          </a:p>
        </p:txBody>
      </p:sp>
      <p:sp>
        <p:nvSpPr>
          <p:cNvPr id="58" name="TextBox 58"/>
          <p:cNvSpPr txBox="1"/>
          <p:nvPr/>
        </p:nvSpPr>
        <p:spPr>
          <a:xfrm>
            <a:off x="660432" y="7544748"/>
            <a:ext cx="1668972" cy="323189"/>
          </a:xfrm>
          <a:prstGeom prst="rect">
            <a:avLst/>
          </a:prstGeom>
        </p:spPr>
        <p:txBody>
          <a:bodyPr lIns="0" tIns="0" rIns="0" bIns="0" rtlCol="0" anchor="t">
            <a:spAutoFit/>
          </a:bodyPr>
          <a:lstStyle/>
          <a:p>
            <a:pPr algn="l">
              <a:lnSpc>
                <a:spcPts val="2795"/>
              </a:lnSpc>
            </a:pPr>
            <a:r>
              <a:rPr lang="en-US" sz="1860" b="1" spc="92">
                <a:solidFill>
                  <a:srgbClr val="08231B"/>
                </a:solidFill>
                <a:latin typeface="Caudex Bold" panose="02040502050505030304"/>
                <a:ea typeface="Caudex Bold" panose="02040502050505030304"/>
                <a:cs typeface="Caudex Bold" panose="02040502050505030304"/>
                <a:sym typeface="Caudex Bold" panose="02040502050505030304"/>
              </a:rPr>
              <a:t>Client Details</a:t>
            </a:r>
            <a:endParaRPr lang="en-US" sz="1860" b="1" spc="92">
              <a:solidFill>
                <a:srgbClr val="08231B"/>
              </a:solidFill>
              <a:latin typeface="Caudex Bold" panose="02040502050505030304"/>
              <a:ea typeface="Caudex Bold" panose="02040502050505030304"/>
              <a:cs typeface="Caudex Bold" panose="02040502050505030304"/>
              <a:sym typeface="Caudex Bold" panose="02040502050505030304"/>
            </a:endParaRPr>
          </a:p>
        </p:txBody>
      </p:sp>
      <p:sp>
        <p:nvSpPr>
          <p:cNvPr id="59" name="TextBox 59"/>
          <p:cNvSpPr txBox="1"/>
          <p:nvPr/>
        </p:nvSpPr>
        <p:spPr>
          <a:xfrm>
            <a:off x="4850877" y="10693847"/>
            <a:ext cx="1044924" cy="209353"/>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Architect Name</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0" name="TextBox 60"/>
          <p:cNvSpPr txBox="1"/>
          <p:nvPr/>
        </p:nvSpPr>
        <p:spPr>
          <a:xfrm>
            <a:off x="1140000" y="8168341"/>
            <a:ext cx="823184"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Client Name</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1" name="TextBox 61"/>
          <p:cNvSpPr txBox="1"/>
          <p:nvPr/>
        </p:nvSpPr>
        <p:spPr>
          <a:xfrm>
            <a:off x="4850877" y="11182762"/>
            <a:ext cx="667328"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Phone No</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2" name="TextBox 62"/>
          <p:cNvSpPr txBox="1"/>
          <p:nvPr/>
        </p:nvSpPr>
        <p:spPr>
          <a:xfrm>
            <a:off x="1140000" y="9156700"/>
            <a:ext cx="57499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Location</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4" name="TextBox 64"/>
          <p:cNvSpPr txBox="1"/>
          <p:nvPr/>
        </p:nvSpPr>
        <p:spPr>
          <a:xfrm>
            <a:off x="1140000" y="9613900"/>
            <a:ext cx="314611"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Date</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65" name="TextBox 65"/>
          <p:cNvSpPr txBox="1"/>
          <p:nvPr/>
        </p:nvSpPr>
        <p:spPr>
          <a:xfrm>
            <a:off x="2266527" y="8168341"/>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6" name="TextBox 66"/>
          <p:cNvSpPr txBox="1"/>
          <p:nvPr/>
        </p:nvSpPr>
        <p:spPr>
          <a:xfrm>
            <a:off x="2266527" y="866732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8" name="TextBox 68"/>
          <p:cNvSpPr txBox="1"/>
          <p:nvPr/>
        </p:nvSpPr>
        <p:spPr>
          <a:xfrm>
            <a:off x="2266527" y="961390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panose="020B0502030000000004"/>
                <a:ea typeface="Inter" panose="020B0502030000000004"/>
                <a:cs typeface="Inter" panose="020B0502030000000004"/>
                <a:sym typeface="Inter" panose="020B0502030000000004"/>
              </a:rPr>
              <a:t>:</a:t>
            </a:r>
            <a:endParaRPr lang="en-US" sz="1200" spc="-59">
              <a:solidFill>
                <a:srgbClr val="08231B"/>
              </a:solidFill>
              <a:latin typeface="Inter" panose="020B0502030000000004"/>
              <a:ea typeface="Inter" panose="020B0502030000000004"/>
              <a:cs typeface="Inter" panose="020B0502030000000004"/>
              <a:sym typeface="Inter" panose="020B0502030000000004"/>
            </a:endParaRPr>
          </a:p>
        </p:txBody>
      </p:sp>
      <p:sp>
        <p:nvSpPr>
          <p:cNvPr id="69" name="TextBox 69"/>
          <p:cNvSpPr txBox="1"/>
          <p:nvPr/>
        </p:nvSpPr>
        <p:spPr>
          <a:xfrm>
            <a:off x="2266527" y="9156700"/>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0" name="TextBox 70"/>
          <p:cNvSpPr txBox="1"/>
          <p:nvPr/>
        </p:nvSpPr>
        <p:spPr>
          <a:xfrm>
            <a:off x="6150000" y="11182762"/>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1" name="TextBox 71"/>
          <p:cNvSpPr txBox="1"/>
          <p:nvPr/>
        </p:nvSpPr>
        <p:spPr>
          <a:xfrm>
            <a:off x="6150000" y="10693847"/>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2" name="TextBox 72"/>
          <p:cNvSpPr txBox="1"/>
          <p:nvPr/>
        </p:nvSpPr>
        <p:spPr>
          <a:xfrm>
            <a:off x="6150000" y="11605675"/>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panose="020B0502030000000004"/>
                <a:ea typeface="Inter" panose="020B0502030000000004"/>
                <a:cs typeface="Inter" panose="020B0502030000000004"/>
                <a:sym typeface="Inter" panose="020B0502030000000004"/>
              </a:rPr>
              <a:t>:</a:t>
            </a:r>
            <a:endParaRPr lang="en-US" sz="1200" spc="-59" dirty="0">
              <a:solidFill>
                <a:srgbClr val="08231B"/>
              </a:solidFill>
              <a:latin typeface="Inter" panose="020B0502030000000004"/>
              <a:ea typeface="Inter" panose="020B0502030000000004"/>
              <a:cs typeface="Inter" panose="020B0502030000000004"/>
              <a:sym typeface="Inter" panose="020B0502030000000004"/>
            </a:endParaRPr>
          </a:p>
        </p:txBody>
      </p:sp>
      <p:sp>
        <p:nvSpPr>
          <p:cNvPr id="73" name="TextBox 72"/>
          <p:cNvSpPr txBox="1"/>
          <p:nvPr/>
        </p:nvSpPr>
        <p:spPr>
          <a:xfrm>
            <a:off x="2420000" y="8095502"/>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Mr. Aravindan</a:t>
            </a:r>
            <a:endParaRPr lang="en-IN" dirty="0">
              <a:latin typeface="Baskerville Display PT" panose="02030602080406020203" charset="0"/>
              <a:ea typeface="Baskerville Display PT" panose="02030602080406020203" charset="0"/>
            </a:endParaRPr>
          </a:p>
        </p:txBody>
      </p:sp>
      <p:sp>
        <p:nvSpPr>
          <p:cNvPr id="74" name="TextBox 73"/>
          <p:cNvSpPr txBox="1"/>
          <p:nvPr/>
        </p:nvSpPr>
        <p:spPr>
          <a:xfrm>
            <a:off x="2420000" y="859448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7418414780</a:t>
            </a:r>
            <a:endParaRPr lang="en-IN" dirty="0">
              <a:latin typeface="Baskerville Display PT" panose="02030602080406020203" charset="0"/>
              <a:ea typeface="Baskerville Display PT" panose="02030602080406020203" charset="0"/>
            </a:endParaRPr>
          </a:p>
        </p:txBody>
      </p:sp>
      <p:sp>
        <p:nvSpPr>
          <p:cNvPr id="76" name="TextBox 75"/>
          <p:cNvSpPr txBox="1"/>
          <p:nvPr/>
        </p:nvSpPr>
        <p:spPr>
          <a:xfrm>
            <a:off x="2420000" y="908386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Individual Villa Adyar</a:t>
            </a:r>
            <a:endParaRPr lang="en-IN" dirty="0">
              <a:latin typeface="Baskerville Display PT" panose="02030602080406020203" charset="0"/>
              <a:ea typeface="Baskerville Display PT" panose="02030602080406020203" charset="0"/>
            </a:endParaRPr>
          </a:p>
        </p:txBody>
      </p:sp>
      <p:sp>
        <p:nvSpPr>
          <p:cNvPr id="77" name="TextBox 76"/>
          <p:cNvSpPr txBox="1"/>
          <p:nvPr/>
        </p:nvSpPr>
        <p:spPr>
          <a:xfrm>
            <a:off x="2420000" y="9541061"/>
            <a:ext cx="3600000" cy="369332"/>
          </a:xfrm>
          <a:prstGeom prst="rect">
            <a:avLst/>
          </a:prstGeom>
          <a:noFill/>
        </p:spPr>
        <p:txBody>
          <a:bodyPr wrap="none" rtlCol="0">
            <a:spAutoFit/>
          </a:bodyPr>
          <a:lstStyle/>
          <a:p>
            <a:r>
              <a:rPr lang="en-US" dirty="0">
                <a:latin typeface="Baskerville Display PT" panose="02030602080406020203" charset="0"/>
                <a:ea typeface="Baskerville Display PT" panose="02030602080406020203" charset="0"/>
              </a:rPr>
              <a:t>10/10/2026</a:t>
            </a:r>
            <a:endParaRPr lang="en-IN" dirty="0">
              <a:latin typeface="Baskerville Display PT" panose="02030602080406020203" charset="0"/>
              <a:ea typeface="Baskerville Display PT" panose="02030602080406020203" charset="0"/>
            </a:endParaRPr>
          </a:p>
        </p:txBody>
      </p:sp>
      <p:sp>
        <p:nvSpPr>
          <p:cNvPr id="78" name="TextBox 77"/>
          <p:cNvSpPr txBox="1"/>
          <p:nvPr/>
        </p:nvSpPr>
        <p:spPr>
          <a:xfrm>
            <a:off x="6300000" y="11596600"/>
            <a:ext cx="2750000" cy="307777"/>
          </a:xfrm>
          <a:prstGeom prst="rect">
            <a:avLst/>
          </a:prstGeom>
          <a:noFill/>
        </p:spPr>
        <p:txBody>
          <a:bodyPr wrap="square" rtlCol="0">
            <a:spAutoFit/>
          </a:bodyPr>
          <a:lstStyle/>
          <a:p>
            <a:r>
              <a:rPr lang="en-US" sz="1400" dirty="0"/>
              <a:t>designs.cookscape@gmail.com</a:t>
            </a:r>
            <a:endParaRPr lang="en-IN" sz="1400" dirty="0"/>
          </a:p>
        </p:txBody>
      </p:sp>
      <p:sp>
        <p:nvSpPr>
          <p:cNvPr id="79" name="TextBox 78"/>
          <p:cNvSpPr txBox="1"/>
          <p:nvPr/>
        </p:nvSpPr>
        <p:spPr>
          <a:xfrm>
            <a:off x="6300000" y="11173687"/>
            <a:ext cx="2750000" cy="307777"/>
          </a:xfrm>
          <a:prstGeom prst="rect">
            <a:avLst/>
          </a:prstGeom>
          <a:noFill/>
        </p:spPr>
        <p:txBody>
          <a:bodyPr wrap="square" rtlCol="0">
            <a:spAutoFit/>
          </a:bodyPr>
          <a:lstStyle/>
          <a:p>
            <a:r>
              <a:rPr lang="en-US" sz="1400" dirty="0">
                <a:latin typeface="Baskerville Display PT" panose="02030602080406020203" charset="0"/>
                <a:ea typeface="Baskerville Display PT" panose="02030602080406020203" charset="0"/>
              </a:rPr>
              <a:t>93611 84787</a:t>
            </a:r>
            <a:endParaRPr lang="en-IN" sz="1400" dirty="0">
              <a:latin typeface="Baskerville Display PT" panose="02030602080406020203" charset="0"/>
              <a:ea typeface="Baskerville Display PT" panose="02030602080406020203" charset="0"/>
            </a:endParaRPr>
          </a:p>
        </p:txBody>
      </p:sp>
      <p:sp>
        <p:nvSpPr>
          <p:cNvPr id="80" name="TextBox 79"/>
          <p:cNvSpPr txBox="1"/>
          <p:nvPr/>
        </p:nvSpPr>
        <p:spPr>
          <a:xfrm>
            <a:off x="6300000" y="10684772"/>
            <a:ext cx="2750000" cy="307777"/>
          </a:xfrm>
          <a:prstGeom prst="rect">
            <a:avLst/>
          </a:prstGeom>
          <a:noFill/>
        </p:spPr>
        <p:txBody>
          <a:bodyPr wrap="none" rtlCol="0">
            <a:spAutoFit/>
          </a:bodyPr>
          <a:lstStyle/>
          <a:p>
            <a:r>
              <a:rPr lang="en-US" sz="1400" dirty="0">
                <a:latin typeface="Baskerville Display PT" panose="02030602080406020203" charset="0"/>
                <a:ea typeface="Baskerville Display PT" panose="02030602080406020203" charset="0"/>
              </a:rPr>
              <a:t>Mr. Abishek</a:t>
            </a:r>
            <a:endParaRPr lang="en-IN" sz="1400" dirty="0">
              <a:latin typeface="Baskerville Display PT" panose="02030602080406020203" charset="0"/>
              <a:ea typeface="Baskerville Display PT" panose="02030602080406020203" charset="0"/>
            </a:endParaRPr>
          </a:p>
        </p:txBody>
      </p:sp>
      <p:sp>
        <p:nvSpPr>
          <p:cNvPr id="49" name="TextBox 49"/>
          <p:cNvSpPr txBox="1"/>
          <p:nvPr/>
        </p:nvSpPr>
        <p:spPr>
          <a:xfrm rot="21093">
            <a:off x="1062854" y="4672025"/>
            <a:ext cx="3628649" cy="794448"/>
          </a:xfrm>
          <a:prstGeom prst="rect">
            <a:avLst/>
          </a:prstGeom>
        </p:spPr>
        <p:txBody>
          <a:bodyPr lIns="0" tIns="0" rIns="0" bIns="0" rtlCol="0" anchor="t">
            <a:spAutoFit/>
          </a:bodyPr>
          <a:lstStyle/>
          <a:p>
            <a:pPr algn="l">
              <a:lnSpc>
                <a:spcPts val="6050"/>
              </a:lnSpc>
            </a:pPr>
            <a:r>
              <a:rPr lang="en-US" sz="5400" spc="-334"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rPr>
              <a:t>Tomorrow</a:t>
            </a:r>
            <a:endParaRPr lang="en-US" sz="5400" spc="-334" dirty="0">
              <a:solidFill>
                <a:srgbClr val="08231B"/>
              </a:solidFill>
              <a:latin typeface="Baskerville Display PT" panose="02030602080406020203"/>
              <a:ea typeface="Baskerville Display PT" panose="02030602080406020203"/>
              <a:cs typeface="Baskerville Display PT" panose="02030602080406020203"/>
              <a:sym typeface="Baskerville Display PT" panose="02030602080406020203"/>
            </a:endParaRPr>
          </a:p>
        </p:txBody>
      </p:sp>
      <p:sp>
        <p:nvSpPr>
          <p:cNvPr id="48" name="TextBox 48"/>
          <p:cNvSpPr txBox="1"/>
          <p:nvPr/>
        </p:nvSpPr>
        <p:spPr>
          <a:xfrm rot="21093">
            <a:off x="712407" y="3770920"/>
            <a:ext cx="3038662" cy="1183016"/>
          </a:xfrm>
          <a:prstGeom prst="rect">
            <a:avLst/>
          </a:prstGeom>
        </p:spPr>
        <p:txBody>
          <a:bodyPr lIns="0" tIns="0" rIns="0" bIns="0" rtlCol="0" anchor="t">
            <a:spAutoFit/>
          </a:bodyPr>
          <a:lstStyle/>
          <a:p>
            <a:pPr algn="l">
              <a:lnSpc>
                <a:spcPts val="9140"/>
              </a:lnSpc>
            </a:pPr>
            <a:r>
              <a:rPr lang="en-US" sz="7200" dirty="0">
                <a:solidFill>
                  <a:srgbClr val="822510"/>
                </a:solidFill>
                <a:latin typeface="Moontime"/>
                <a:ea typeface="Moontime"/>
                <a:cs typeface="Moontime"/>
                <a:sym typeface="Moontime"/>
              </a:rPr>
              <a:t>Brighter</a:t>
            </a:r>
            <a:endParaRPr lang="en-US" sz="7200" dirty="0">
              <a:solidFill>
                <a:srgbClr val="822510"/>
              </a:solidFill>
              <a:latin typeface="Moontime"/>
              <a:ea typeface="Moontime"/>
              <a:cs typeface="Moontime"/>
              <a:sym typeface="Moontime"/>
            </a:endParaRPr>
          </a:p>
        </p:txBody>
      </p:sp>
      <p:sp>
        <p:nvSpPr>
          <p:cNvPr id="28" name="Slide Number Placeholder 27"/>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stretch>
            <a:fillRect/>
          </a:stretch>
        </p:blipFill>
        <p:spPr>
          <a:xfrm>
            <a:off x="0" y="656"/>
            <a:ext cx="10045700" cy="14197288"/>
          </a:xfrm>
          <a:prstGeom prst="rect">
            <a:avLst/>
          </a:prstGeom>
        </p:spPr>
      </p:pic>
      <p:sp>
        <p:nvSpPr>
          <p:cNvPr id="9" name="Rectangle 8"/>
          <p:cNvSpPr/>
          <p:nvPr/>
        </p:nvSpPr>
        <p:spPr>
          <a:xfrm>
            <a:off x="1593850" y="165100"/>
            <a:ext cx="2133600" cy="714375"/>
          </a:xfrm>
          <a:prstGeom prst="rect">
            <a:avLst/>
          </a:prstGeom>
          <a:solidFill>
            <a:srgbClr val="FDF7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2250" y="317500"/>
            <a:ext cx="3810000" cy="71437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lide Number Placeholder 173"/>
          <p:cNvSpPr>
            <a:spLocks noGrp="1"/>
          </p:cNvSpPr>
          <p:nvPr>
            <p:ph type="sldNum" sz="quarter" idx="12"/>
          </p:nvPr>
        </p:nvSpPr>
        <p:spPr/>
        <p:txBody>
          <a:bodyPr/>
          <a:lstStyle/>
          <a:p>
            <a:fld id="{B6F15528-21DE-4FAA-801E-634DDDAF4B2B}" type="slidenum">
              <a:rPr lang="en-US" smtClean="0"/>
            </a:fld>
            <a:endParaRPr lang="en-US"/>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pic>
        <p:nvPicPr>
          <p:cNvPr id="12" name="Picture 11"/>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450850" y="281932"/>
            <a:ext cx="3768726" cy="706636"/>
          </a:xfrm>
          <a:prstGeom prst="rect">
            <a:avLst/>
          </a:prstGeom>
        </p:spPr>
      </p:pic>
      <p:pic>
        <p:nvPicPr>
          <p:cNvPr id="14" name="Picture 13"/>
          <p:cNvPicPr>
            <a:picLocks noChangeAspect="1"/>
          </p:cNvPicPr>
          <p:nvPr/>
        </p:nvPicPr>
        <p:blipFill rotWithShape="1">
          <a:blip r:embed="rId2">
            <a:extLst>
              <a:ext uri="{28A0092B-C50C-407E-A947-70E740481C1C}">
                <a14:useLocalDpi xmlns:a14="http://schemas.microsoft.com/office/drawing/2010/main" val="0"/>
              </a:ext>
            </a:extLst>
          </a:blip>
          <a:srcRect l="58345" t="11904" r="26150" b="81126"/>
          <a:stretch>
            <a:fillRect/>
          </a:stretch>
        </p:blipFill>
        <p:spPr>
          <a:xfrm>
            <a:off x="5632450" y="152400"/>
            <a:ext cx="4413250" cy="1003300"/>
          </a:xfrm>
          <a:prstGeom prst="rect">
            <a:avLst/>
          </a:prstGeom>
        </p:spPr>
      </p:pic>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13" name="Picture 12"/>
          <p:cNvPicPr>
            <a:picLocks noChangeAspect="1"/>
          </p:cNvPicPr>
          <p:nvPr/>
        </p:nvPicPr>
        <p:blipFill rotWithShape="1">
          <a:blip r:embed="rId3"/>
          <a:srcRect l="51970" t="11881" r="30210" b="84762"/>
          <a:stretch>
            <a:fillRect/>
          </a:stretch>
        </p:blipFill>
        <p:spPr>
          <a:xfrm>
            <a:off x="720724" y="0"/>
            <a:ext cx="3768726" cy="1003300"/>
          </a:xfrm>
          <a:prstGeom prst="rect">
            <a:avLst/>
          </a:prstGeom>
        </p:spPr>
      </p:pic>
      <p:pic>
        <p:nvPicPr>
          <p:cNvPr id="11" name="Picture 1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38210" y="212129"/>
            <a:ext cx="4219576" cy="791171"/>
          </a:xfrm>
          <a:prstGeom prst="rect">
            <a:avLst/>
          </a:prstGeom>
        </p:spPr>
      </p:pic>
      <p:pic>
        <p:nvPicPr>
          <p:cNvPr id="16" name="Picture 15"/>
          <p:cNvPicPr>
            <a:picLocks noChangeAspect="1"/>
          </p:cNvPicPr>
          <p:nvPr/>
        </p:nvPicPr>
        <p:blipFill>
          <a:blip r:embed="rId5"/>
          <a:stretch>
            <a:fillRect/>
          </a:stretch>
        </p:blipFill>
        <p:spPr>
          <a:xfrm>
            <a:off x="0" y="0"/>
            <a:ext cx="10045699" cy="14198600"/>
          </a:xfrm>
          <a:prstGeom prst="rect">
            <a:avLst/>
          </a:prstGeom>
        </p:spPr>
      </p:pic>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52412" y="241300"/>
            <a:ext cx="4064001" cy="76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03501" y="1318280"/>
            <a:ext cx="3438698"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SURABHI - LL ELITE</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679449" y="2218690"/>
          <a:ext cx="8686800" cy="4046220"/>
        </p:xfrm>
        <a:graphic>
          <a:graphicData uri="http://schemas.openxmlformats.org/drawingml/2006/table">
            <a:tbl>
              <a:tblPr firstRow="1" firstCol="1" bandRow="1">
                <a:tableStyleId>{D27102A9-8310-4765-A935-A1911B00CA55}</a:tableStyleId>
              </a:tblPr>
              <a:tblGrid>
                <a:gridCol w="2474787"/>
                <a:gridCol w="6212013"/>
              </a:tblGrid>
              <a:tr h="400050">
                <a:tc>
                  <a:txBody>
                    <a:bodyPr/>
                    <a:lstStyle/>
                    <a:p>
                      <a:pPr algn="l">
                        <a:lnSpc>
                          <a:spcPct val="115000"/>
                        </a:lnSpc>
                        <a:spcAft>
                          <a:spcPts val="0"/>
                        </a:spcAft>
                      </a:pPr>
                      <a:r>
                        <a:rPr lang="en-IN" sz="2000" kern="0" dirty="0">
                          <a:effectLst/>
                        </a:rPr>
                        <a:t>Kitchen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Marine Ply , BSL -BWR</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Hydroguard</a:t>
                      </a:r>
                      <a:r>
                        <a:rPr lang="en-IN" dirty="0">
                          <a:effectLst/>
                        </a:rPr>
                        <a:t> Plus HDF, </a:t>
                      </a:r>
                      <a:r>
                        <a:rPr lang="en-IN" dirty="0" err="1">
                          <a:effectLst/>
                        </a:rPr>
                        <a:t>Prelam</a:t>
                      </a:r>
                      <a:r>
                        <a:rPr lang="en-IN" dirty="0">
                          <a:effectLst/>
                        </a:rPr>
                        <a:t> Aqua Shield-MDF-</a:t>
                      </a:r>
                      <a:r>
                        <a:rPr lang="en-IN" dirty="0" err="1">
                          <a:effectLst/>
                        </a:rPr>
                        <a:t>Clr</a:t>
                      </a:r>
                      <a:r>
                        <a:rPr lang="en-IN" dirty="0">
                          <a:effectLst/>
                        </a:rPr>
                        <a:t>-BSL, Commercial Ply, Aqua Shield-MDF-R, MDF</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graphicFrame>
        <p:nvGraphicFramePr>
          <p:cNvPr id="7" name="Table 6"/>
          <p:cNvGraphicFramePr>
            <a:graphicFrameLocks noGrp="1"/>
          </p:cNvGraphicFramePr>
          <p:nvPr/>
        </p:nvGraphicFramePr>
        <p:xfrm>
          <a:off x="603250" y="7167880"/>
          <a:ext cx="8686800" cy="3897630"/>
        </p:xfrm>
        <a:graphic>
          <a:graphicData uri="http://schemas.openxmlformats.org/drawingml/2006/table">
            <a:tbl>
              <a:tblPr firstRow="1" firstCol="1" bandRow="1">
                <a:tableStyleId>{D27102A9-8310-4765-A935-A1911B00CA55}</a:tableStyleId>
              </a:tblPr>
              <a:tblGrid>
                <a:gridCol w="2667000"/>
                <a:gridCol w="6019800"/>
              </a:tblGrid>
              <a:tr h="400050">
                <a:tc>
                  <a:txBody>
                    <a:bodyPr/>
                    <a:lstStyle/>
                    <a:p>
                      <a:pPr algn="l">
                        <a:lnSpc>
                          <a:spcPct val="115000"/>
                        </a:lnSpc>
                        <a:spcAft>
                          <a:spcPts val="0"/>
                        </a:spcAft>
                      </a:pPr>
                      <a:r>
                        <a:rPr lang="en-IN" sz="2000" kern="0" dirty="0">
                          <a:effectLst/>
                        </a:rPr>
                        <a:t>Wardrobe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Prelam</a:t>
                      </a:r>
                      <a:r>
                        <a:rPr lang="en-IN" dirty="0">
                          <a:effectLst/>
                        </a:rPr>
                        <a:t> Aqua Shield MDF-R, PLHMR - BSL -HYH</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Solid laminate colours, </a:t>
                      </a:r>
                      <a:r>
                        <a:rPr lang="en-IN" dirty="0" err="1">
                          <a:effectLst/>
                        </a:rPr>
                        <a:t>Prelam</a:t>
                      </a:r>
                      <a:r>
                        <a:rPr lang="en-IN" dirty="0">
                          <a:effectLst/>
                        </a:rPr>
                        <a:t> Aqua Shield-MDF-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a:effectLst/>
                        </a:rPr>
                        <a:t>Hydroguard Plus HDF, Prelam Aqua Shield-MDF-Clr-BSL, Commercial Ply, Aqua Shield-MDF-R, MDF</a:t>
                      </a:r>
                      <a:endParaRPr lang="en-IN" b="0">
                        <a:effectLst/>
                        <a:latin typeface="Calibri" panose="020F0502020204030204" pitchFamily="34" charset="0"/>
                      </a:endParaRPr>
                    </a:p>
                  </a:txBody>
                  <a:tcPr marL="28575" marR="28575" marT="0" marB="0" anchor="ctr"/>
                </a:tc>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03501" y="1344593"/>
            <a:ext cx="3438698"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SURABHI - LL ELITE</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dirty="0"/>
              <a:t>Mr. Aravindan | Individual Villa Adyar | 7418414780</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sp>
        <p:nvSpPr>
          <p:cNvPr id="4" name="AutoShape 2" descr="Generated image 12"/>
          <p:cNvSpPr>
            <a:spLocks noChangeAspect="1" noChangeArrowheads="1"/>
          </p:cNvSpPr>
          <p:nvPr/>
        </p:nvSpPr>
        <p:spPr bwMode="auto">
          <a:xfrm>
            <a:off x="4870450" y="6946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pic>
        <p:nvPicPr>
          <p:cNvPr id="11" name="Picture 10"/>
          <p:cNvPicPr>
            <a:picLocks noChangeAspect="1"/>
          </p:cNvPicPr>
          <p:nvPr/>
        </p:nvPicPr>
        <p:blipFill>
          <a:blip r:embed="rId1"/>
          <a:stretch>
            <a:fillRect/>
          </a:stretch>
        </p:blipFill>
        <p:spPr>
          <a:xfrm>
            <a:off x="7661" y="0"/>
            <a:ext cx="10030378" cy="14198600"/>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5650" y="241300"/>
            <a:ext cx="3751943" cy="703490"/>
          </a:xfrm>
          <a:prstGeom prst="rect">
            <a:avLst/>
          </a:prstGeom>
        </p:spPr>
      </p:pic>
      <p:pic>
        <p:nvPicPr>
          <p:cNvPr id="8" name="Picture 7"/>
          <p:cNvPicPr>
            <a:picLocks noChangeAspect="1"/>
          </p:cNvPicPr>
          <p:nvPr/>
        </p:nvPicPr>
        <p:blipFill rotWithShape="1">
          <a:blip r:embed="rId3"/>
          <a:srcRect l="41656" t="4293" r="33312" b="94097"/>
          <a:stretch>
            <a:fillRect/>
          </a:stretch>
        </p:blipFill>
        <p:spPr>
          <a:xfrm>
            <a:off x="831850" y="927100"/>
            <a:ext cx="3657600" cy="228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089680"/>
            <a:ext cx="3655296" cy="523220"/>
          </a:xfrm>
          <a:prstGeom prst="rect">
            <a:avLst/>
          </a:prstGeom>
        </p:spPr>
        <p:txBody>
          <a:bodyPr wrap="none">
            <a:spAutoFit/>
          </a:bodyPr>
          <a:lstStyle/>
          <a:p>
            <a:r>
              <a:rPr lang="en-IN" sz="2800" dirty="0">
                <a:latin typeface="Baskerville Display PT" panose="02030602080406020203" charset="0"/>
                <a:ea typeface="Baskerville Display PT" panose="02030602080406020203" charset="0"/>
              </a:rPr>
              <a:t>CAPRICOAST MATTE</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565150" y="1533652"/>
          <a:ext cx="8915400" cy="11536373"/>
        </p:xfrm>
        <a:graphic>
          <a:graphicData uri="http://schemas.openxmlformats.org/drawingml/2006/table">
            <a:tbl>
              <a:tblPr firstRow="1" firstCol="1" bandRow="1">
                <a:tableStyleId>{D27102A9-8310-4765-A935-A1911B00CA55}</a:tableStyleId>
              </a:tblPr>
              <a:tblGrid>
                <a:gridCol w="2933700"/>
                <a:gridCol w="5981700"/>
              </a:tblGrid>
              <a:tr h="379799">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dirty="0">
                          <a:effectLst/>
                        </a:rPr>
                        <a:t>Details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Matte Finish Laminate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(HDHMR) / 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a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BLUM (15 KGS)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HP Screws / Self threading Type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4mm Saint Gobain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Installation and Transportation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Adhesives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a:t>
                      </a:r>
                      <a:r>
                        <a:rPr lang="en-IN" sz="2000" kern="0" dirty="0">
                          <a:effectLst/>
                        </a:rPr>
                        <a:t>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6021">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79799">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268393"/>
            <a:ext cx="3655296"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CAPRICOAST MATTE</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pic>
        <p:nvPicPr>
          <p:cNvPr id="10" name="Picture 9"/>
          <p:cNvPicPr>
            <a:picLocks noChangeAspect="1"/>
          </p:cNvPicPr>
          <p:nvPr/>
        </p:nvPicPr>
        <p:blipFill rotWithShape="1">
          <a:blip r:embed="rId1"/>
          <a:srcRect l="41656" t="4293" r="33312" b="94097"/>
          <a:stretch>
            <a:fillRect/>
          </a:stretch>
        </p:blipFill>
        <p:spPr>
          <a:xfrm>
            <a:off x="527050" y="845947"/>
            <a:ext cx="3657600" cy="228600"/>
          </a:xfrm>
          <a:prstGeom prst="rect">
            <a:avLst/>
          </a:prstGeom>
        </p:spPr>
      </p:pic>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8" name="Picture 7"/>
          <p:cNvPicPr>
            <a:picLocks noChangeAspect="1"/>
          </p:cNvPicPr>
          <p:nvPr/>
        </p:nvPicPr>
        <p:blipFill rotWithShape="1">
          <a:blip r:embed="rId2"/>
          <a:srcRect t="-984"/>
          <a:stretch>
            <a:fillRect/>
          </a:stretch>
        </p:blipFill>
        <p:spPr>
          <a:xfrm>
            <a:off x="0" y="-139700"/>
            <a:ext cx="10045700" cy="14338299"/>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4650" y="186086"/>
            <a:ext cx="4229101" cy="79295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95202" y="1089680"/>
            <a:ext cx="3655296"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CAPRICOST GLOSSY</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793750" y="1536700"/>
          <a:ext cx="8496300" cy="11646572"/>
        </p:xfrm>
        <a:graphic>
          <a:graphicData uri="http://schemas.openxmlformats.org/drawingml/2006/table">
            <a:tbl>
              <a:tblPr firstRow="1" firstCol="1" bandRow="1">
                <a:tableStyleId>{D27102A9-8310-4765-A935-A1911B00CA55}</a:tableStyleId>
              </a:tblPr>
              <a:tblGrid>
                <a:gridCol w="2322826"/>
                <a:gridCol w="6173474"/>
              </a:tblGrid>
              <a:tr h="343808">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GLOSSY Finish Laminate (HGL)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High Density High Moisture Resistant Boards (HDHMR)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Primary Hinges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 (12 kg)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Two Way sliding system</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BLUM / HETTICH 15 Kgs Load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HP Screws / Self threading Type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4mm Saint </a:t>
                      </a:r>
                      <a:r>
                        <a:rPr lang="en-IN" sz="2000" kern="0" dirty="0" err="1">
                          <a:effectLst/>
                        </a:rPr>
                        <a:t>Gobain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Installation and Transportation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Hot melt Glue Machine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Adhesives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FevicolSR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err="1">
                          <a:effectLst/>
                        </a:rPr>
                        <a:t>Pidilite</a:t>
                      </a:r>
                      <a:r>
                        <a:rPr lang="en-IN" sz="2000" kern="0" dirty="0">
                          <a:effectLst/>
                        </a:rPr>
                        <a:t> /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31672">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 (12 kg) / All Regular Hinges only</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4380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dirty="0"/>
              <a:t>Mr. Aravindan | Individual Villa Adyar | 7418414780</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226685" y="1192193"/>
            <a:ext cx="3592329"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CAPRICOST GLOSSY</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4" name="Picture 3"/>
          <p:cNvPicPr>
            <a:picLocks noChangeAspect="1"/>
          </p:cNvPicPr>
          <p:nvPr/>
        </p:nvPicPr>
        <p:blipFill>
          <a:blip r:embed="rId1"/>
          <a:stretch>
            <a:fillRect/>
          </a:stretch>
        </p:blipFill>
        <p:spPr>
          <a:xfrm>
            <a:off x="0" y="656"/>
            <a:ext cx="10045700" cy="14197288"/>
          </a:xfrm>
          <a:prstGeom prst="rect">
            <a:avLst/>
          </a:prstGeom>
        </p:spPr>
      </p:pic>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74650" y="260350"/>
            <a:ext cx="3962400" cy="742950"/>
          </a:xfrm>
          <a:prstGeom prst="rect">
            <a:avLst/>
          </a:prstGeom>
        </p:spPr>
      </p:pic>
      <p:pic>
        <p:nvPicPr>
          <p:cNvPr id="9" name="Picture 8"/>
          <p:cNvPicPr>
            <a:picLocks noChangeAspect="1"/>
          </p:cNvPicPr>
          <p:nvPr/>
        </p:nvPicPr>
        <p:blipFill rotWithShape="1">
          <a:blip r:embed="rId3"/>
          <a:srcRect l="28761" t="7558" r="34830" b="91324"/>
          <a:stretch>
            <a:fillRect/>
          </a:stretch>
        </p:blipFill>
        <p:spPr>
          <a:xfrm>
            <a:off x="527050" y="996950"/>
            <a:ext cx="3657600" cy="1587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24500" y="1165880"/>
            <a:ext cx="3396699"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ELEGANT SURABHI</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755650" y="1612901"/>
          <a:ext cx="8534400" cy="11764927"/>
        </p:xfrm>
        <a:graphic>
          <a:graphicData uri="http://schemas.openxmlformats.org/drawingml/2006/table">
            <a:tbl>
              <a:tblPr firstRow="1" firstCol="1" bandRow="1">
                <a:tableStyleId>{D27102A9-8310-4765-A935-A1911B00CA55}</a:tableStyleId>
              </a:tblPr>
              <a:tblGrid>
                <a:gridCol w="2431370"/>
                <a:gridCol w="6103030"/>
              </a:tblGrid>
              <a:tr h="28526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 with both side Laminate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SUPER Matte Finish Laminate – 1mm (Branded)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 EBCO (12 kg) </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Multi Profile Hanger HD Rods -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Sliding Track</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CNR Brand with Two-Way slide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Self-Drilling Screws with Screw caps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dirty="0">
                          <a:effectLst/>
                        </a:rPr>
                        <a:t>Inclusive in Cost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Transportation includes Packing &amp; Unloading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Through 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dirty="0">
                          <a:effectLst/>
                        </a:rPr>
                        <a:t>Edge Banding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 / Rehau</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28526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SYNTHETIC ADHESIVE Grade: LK453</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53750">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GREENPLY HDHMR OSR For Glossy / SF Matte laminates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07832">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LAM SF, RH Series / New Mica</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8351">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 Auto &amp; Soft close for Wardrobes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475659">
                <a:tc>
                  <a:txBody>
                    <a:bodyPr/>
                    <a:lstStyle/>
                    <a:p>
                      <a:pPr>
                        <a:lnSpc>
                          <a:spcPct val="115000"/>
                        </a:lnSpc>
                        <a:spcAft>
                          <a:spcPts val="0"/>
                        </a:spcAft>
                      </a:pPr>
                      <a:r>
                        <a:rPr lang="en-IN" sz="1800" kern="0" dirty="0">
                          <a:effectLst/>
                        </a:rPr>
                        <a:t>Kitchen Accessories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HAFELE, EBCO as per the client preference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64281">
                <a:tc>
                  <a:txBody>
                    <a:bodyPr/>
                    <a:lstStyle/>
                    <a:p>
                      <a:pPr>
                        <a:lnSpc>
                          <a:spcPct val="115000"/>
                        </a:lnSpc>
                        <a:spcAft>
                          <a:spcPts val="0"/>
                        </a:spcAft>
                      </a:pPr>
                      <a:r>
                        <a:rPr lang="en-IN" sz="1800" kern="0" dirty="0">
                          <a:effectLst/>
                        </a:rPr>
                        <a:t>Production Timeline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45 Days from Physical Sign Off On The Colour Drawing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324500" y="1268393"/>
            <a:ext cx="3396699"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ELEGANT SURABHI</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6F15528-21DE-4FAA-801E-634DDDAF4B2B}" type="slidenum">
              <a:rPr lang="en-US" smtClean="0"/>
            </a:fld>
            <a:endParaRPr lang="en-US"/>
          </a:p>
        </p:txBody>
      </p:sp>
      <p:sp>
        <p:nvSpPr>
          <p:cNvPr id="2" name="Footer Placeholder 1"/>
          <p:cNvSpPr>
            <a:spLocks noGrp="1"/>
          </p:cNvSpPr>
          <p:nvPr>
            <p:ph type="ftr" sz="quarter" idx="11"/>
          </p:nvPr>
        </p:nvSpPr>
        <p:spPr/>
        <p:txBody>
          <a:bodyPr/>
          <a:lstStyle/>
          <a:p>
            <a:r>
              <a:rPr lang="en-US"/>
              <a:t>Mr. Aravindan | Individual Villa Adyar | 7418414780</a:t>
            </a:r>
            <a:endParaRPr lang="en-US"/>
          </a:p>
        </p:txBody>
      </p:sp>
      <p:pic>
        <p:nvPicPr>
          <p:cNvPr id="11" name="Picture 10"/>
          <p:cNvPicPr>
            <a:picLocks noChangeAspect="1"/>
          </p:cNvPicPr>
          <p:nvPr/>
        </p:nvPicPr>
        <p:blipFill>
          <a:blip r:embed="rId1"/>
          <a:stretch>
            <a:fillRect/>
          </a:stretch>
        </p:blipFill>
        <p:spPr>
          <a:xfrm>
            <a:off x="0" y="656"/>
            <a:ext cx="10045700" cy="14197288"/>
          </a:xfrm>
          <a:prstGeom prst="rect">
            <a:avLst/>
          </a:prstGeom>
        </p:spPr>
      </p:pic>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450" y="165100"/>
            <a:ext cx="4343400" cy="814388"/>
          </a:xfrm>
          <a:prstGeom prst="rect">
            <a:avLst/>
          </a:prstGeom>
        </p:spPr>
      </p:pic>
      <p:pic>
        <p:nvPicPr>
          <p:cNvPr id="9" name="Picture 8"/>
          <p:cNvPicPr>
            <a:picLocks noChangeAspect="1"/>
          </p:cNvPicPr>
          <p:nvPr/>
        </p:nvPicPr>
        <p:blipFill rotWithShape="1">
          <a:blip r:embed="rId3"/>
          <a:srcRect l="21865" t="19320" r="31864" b="80132"/>
          <a:stretch>
            <a:fillRect/>
          </a:stretch>
        </p:blipFill>
        <p:spPr>
          <a:xfrm>
            <a:off x="146050" y="975517"/>
            <a:ext cx="4648200" cy="7778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49686" y="1089680"/>
            <a:ext cx="2746328" cy="523220"/>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4X TUFF GLOSS</a:t>
            </a:r>
            <a:endParaRPr lang="en-IN" sz="2800" dirty="0">
              <a:latin typeface="Baskerville Display PT" panose="02030602080406020203" charset="0"/>
              <a:ea typeface="Baskerville Display PT" panose="02030602080406020203" charset="0"/>
            </a:endParaRPr>
          </a:p>
        </p:txBody>
      </p:sp>
      <p:graphicFrame>
        <p:nvGraphicFramePr>
          <p:cNvPr id="4" name="Table 3"/>
          <p:cNvGraphicFramePr>
            <a:graphicFrameLocks noGrp="1"/>
          </p:cNvGraphicFramePr>
          <p:nvPr/>
        </p:nvGraphicFramePr>
        <p:xfrm>
          <a:off x="679449" y="1645412"/>
          <a:ext cx="8686800" cy="11413142"/>
        </p:xfrm>
        <a:graphic>
          <a:graphicData uri="http://schemas.openxmlformats.org/drawingml/2006/table">
            <a:tbl>
              <a:tblPr firstRow="1" firstCol="1" bandRow="1">
                <a:tableStyleId>{D27102A9-8310-4765-A935-A1911B00CA55}</a:tableStyleId>
              </a:tblPr>
              <a:tblGrid>
                <a:gridCol w="2362201"/>
                <a:gridCol w="6324599"/>
              </a:tblGrid>
              <a:tr h="36568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GLOSSY - SCRATCH &amp; STAIN PROOF</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dirty="0">
                          <a:effectLst/>
                        </a:rPr>
                        <a:t>Primary Hinges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EBCO (12 kg)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Multi Profile Hanger HD Rods - EBCO</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dirty="0">
                          <a:effectLst/>
                        </a:rPr>
                        <a:t>Sliding Track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CNR Brand with Two Way sliding system</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Self-Drilling Screws with Screw caps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Inclusive in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and Transportation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2874">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582874">
                <a:tc>
                  <a:txBody>
                    <a:bodyPr/>
                    <a:lstStyle/>
                    <a:p>
                      <a:pPr>
                        <a:lnSpc>
                          <a:spcPct val="115000"/>
                        </a:lnSpc>
                        <a:spcAft>
                          <a:spcPts val="0"/>
                        </a:spcAft>
                      </a:pPr>
                      <a:r>
                        <a:rPr lang="en-IN" sz="1800" kern="0">
                          <a:effectLst/>
                        </a:rPr>
                        <a:t>Throughfeed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SYNTHETIC ADHESIVE Grade: LK453</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647665">
                <a:tc>
                  <a:txBody>
                    <a:bodyPr/>
                    <a:lstStyle/>
                    <a:p>
                      <a:pPr>
                        <a:lnSpc>
                          <a:spcPct val="115000"/>
                        </a:lnSpc>
                        <a:spcAft>
                          <a:spcPts val="0"/>
                        </a:spcAft>
                      </a:pPr>
                      <a:r>
                        <a:rPr lang="en-IN" sz="2000" kern="0" dirty="0">
                          <a:effectLst/>
                        </a:rPr>
                        <a:t>Customization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Available for Inner Partition is available at an additional cost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HDHMR OSR For Glossy / SF Matte laminates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MR+ / Royal Touche GLOSS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&amp; Auto close for Wardrobes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1800" kern="0">
                          <a:effectLst/>
                        </a:rPr>
                        <a:t>Kitchen Accessories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Brand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r h="36568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45 Days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48122" y="1420793"/>
            <a:ext cx="2746328" cy="954107"/>
          </a:xfrm>
          <a:prstGeom prst="rect">
            <a:avLst/>
          </a:prstGeom>
        </p:spPr>
        <p:txBody>
          <a:bodyPr wrap="none">
            <a:spAutoFit/>
          </a:bodyPr>
          <a:lstStyle/>
          <a:p>
            <a:pPr algn="ctr"/>
            <a:r>
              <a:rPr lang="en-IN" sz="2800" dirty="0">
                <a:latin typeface="Baskerville Display PT" panose="02030602080406020203" charset="0"/>
                <a:ea typeface="Baskerville Display PT" panose="02030602080406020203" charset="0"/>
              </a:rPr>
              <a:t>4X TUFF GLOSS</a:t>
            </a:r>
            <a:br>
              <a:rPr lang="en-IN" sz="2800" dirty="0">
                <a:latin typeface="Baskerville Display PT" panose="02030602080406020203" charset="0"/>
                <a:ea typeface="Baskerville Display PT" panose="02030602080406020203" charset="0"/>
              </a:rPr>
            </a:br>
            <a:r>
              <a:rPr lang="en-IN" sz="2800" dirty="0">
                <a:latin typeface="Baskerville Display PT" panose="02030602080406020203" charset="0"/>
                <a:ea typeface="Baskerville Display PT" panose="02030602080406020203" charset="0"/>
              </a:rPr>
              <a:t>Quotation</a:t>
            </a:r>
            <a:endParaRPr lang="en-IN" sz="2800" dirty="0">
              <a:latin typeface="Baskerville Display PT" panose="02030602080406020203" charset="0"/>
              <a:ea typeface="Baskerville Display PT" panose="02030602080406020203" charset="0"/>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13411"/>
            <a:ext cx="8686800" cy="10987623"/>
          </a:xfrm>
          <a:prstGeom prst="rect">
            <a:avLst/>
          </a:prstGeom>
        </p:spPr>
        <p:txBody>
          <a:bodyPr wrap="square">
            <a:spAutoFit/>
          </a:bodyPr>
          <a:lstStyle/>
          <a:p>
            <a:pPr algn="just"/>
            <a:r>
              <a:rPr lang="en-US" sz="2400" b="1" dirty="0">
                <a:solidFill>
                  <a:srgbClr val="C00000"/>
                </a:solidFill>
              </a:rPr>
              <a:t>DESIGN PROCESS AND TIMELINES</a:t>
            </a:r>
            <a:endParaRPr lang="en-US" sz="2400" b="1" dirty="0">
              <a:solidFill>
                <a:srgbClr val="C00000"/>
              </a:solidFill>
            </a:endParaRPr>
          </a:p>
          <a:p>
            <a:pPr algn="just"/>
            <a:endParaRPr lang="en-US" b="1" dirty="0">
              <a:solidFill>
                <a:srgbClr val="C00000"/>
              </a:solidFill>
            </a:endParaRPr>
          </a:p>
          <a:p>
            <a:pPr algn="just"/>
            <a:r>
              <a:rPr lang="en-US" dirty="0"/>
              <a:t>A structured design journey covering concept development, material selection, 3D visualization, and final approvals. Each stage is planned with a clear timeline to ensure smooth execution and timely project delivery.</a:t>
            </a:r>
            <a:endParaRPr lang="en-US" dirty="0"/>
          </a:p>
          <a:p>
            <a:pPr algn="just"/>
            <a:endParaRPr lang="en-US" dirty="0"/>
          </a:p>
          <a:p>
            <a:pPr algn="just"/>
            <a:r>
              <a:rPr lang="en-US" b="1" dirty="0"/>
              <a:t>1.Project Onboarding &amp; Design Initiation</a:t>
            </a:r>
            <a:endParaRPr lang="en-US" dirty="0"/>
          </a:p>
          <a:p>
            <a:pPr algn="just"/>
            <a:r>
              <a:rPr lang="en-US" dirty="0"/>
              <a:t>The design phase commences upon receipt of the initial 10% advance payment. A dedicated Design Lead will be assigned to manage project coordination, design discussions, and approvals throughout the process.</a:t>
            </a:r>
            <a:endParaRPr lang="en-US" dirty="0"/>
          </a:p>
          <a:p>
            <a:pPr algn="just"/>
            <a:endParaRPr lang="en-US" dirty="0"/>
          </a:p>
          <a:p>
            <a:pPr algn="just"/>
            <a:r>
              <a:rPr lang="en-US" b="1" dirty="0"/>
              <a:t>2.Design Stages &amp; Review Meetings</a:t>
            </a:r>
            <a:endParaRPr lang="en-US" dirty="0"/>
          </a:p>
          <a:p>
            <a:pPr algn="just"/>
            <a:r>
              <a:rPr lang="en-US" dirty="0"/>
              <a:t>Our design process is structured into two key phases to ensure clarity, collaboration, and timely decision-making throughout your project.</a:t>
            </a:r>
            <a:endParaRPr lang="en-US" dirty="0"/>
          </a:p>
          <a:p>
            <a:pPr algn="just"/>
            <a:r>
              <a:rPr lang="en-US" dirty="0"/>
              <a:t>		</a:t>
            </a:r>
            <a:r>
              <a:rPr lang="en-US" b="1" dirty="0"/>
              <a:t>Stage 1 – Design Development &amp; Approval</a:t>
            </a:r>
            <a:endParaRPr lang="en-US" b="1" dirty="0"/>
          </a:p>
          <a:p>
            <a:pPr algn="just"/>
            <a:r>
              <a:rPr lang="en-US" dirty="0"/>
              <a:t>During this phase, our design team will collaborate with you to finalize layouts, material selections, finishes, colours, and overall design concepts. The proposed designs will be reviewed through scheduled discussions, and upon approval, the project will proceed to the next stage.</a:t>
            </a:r>
            <a:endParaRPr lang="en-US" dirty="0"/>
          </a:p>
          <a:p>
            <a:pPr algn="just"/>
            <a:r>
              <a:rPr lang="en-US" dirty="0"/>
              <a:t>		</a:t>
            </a:r>
            <a:r>
              <a:rPr lang="en-US" b="1" dirty="0"/>
              <a:t>Stage 2 – Technical Drawings &amp; Design Sign-Off</a:t>
            </a:r>
            <a:endParaRPr lang="en-US" b="1" dirty="0"/>
          </a:p>
          <a:p>
            <a:pPr algn="just"/>
            <a:r>
              <a:rPr lang="en-US" dirty="0"/>
              <a:t>Detailed production drawings and execution documents will be prepared following design approval. The final project scope, specifications, and project value will be confirmed during this stage. A 35% payment and formal Design Sign-Off are required before the project is released for production and execution.</a:t>
            </a:r>
            <a:endParaRPr lang="en-US" dirty="0"/>
          </a:p>
          <a:p>
            <a:pPr algn="just"/>
            <a:endParaRPr lang="en-US" dirty="0"/>
          </a:p>
          <a:p>
            <a:pPr algn="just"/>
            <a:r>
              <a:rPr lang="en-US" b="1" dirty="0"/>
              <a:t>3.Design Timelines</a:t>
            </a:r>
            <a:endParaRPr lang="en-US" dirty="0"/>
          </a:p>
          <a:p>
            <a:pPr algn="just"/>
            <a:r>
              <a:rPr lang="en-US" dirty="0"/>
              <a:t>The estimated design timeline may vary based on project complexity, design revisions, and the availability of clients for review meetings and approvals.</a:t>
            </a:r>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r>
              <a:rPr lang="en-US" dirty="0"/>
              <a:t>Timelines are subject to timely client feedback, approval schedules, and availability for design discussions. Delays in approvals or revisions may impact the overall design schedule.</a:t>
            </a:r>
            <a:endParaRPr lang="en-US" dirty="0"/>
          </a:p>
        </p:txBody>
      </p:sp>
      <p:graphicFrame>
        <p:nvGraphicFramePr>
          <p:cNvPr id="3" name="Table 2"/>
          <p:cNvGraphicFramePr>
            <a:graphicFrameLocks noGrp="1"/>
          </p:cNvGraphicFramePr>
          <p:nvPr/>
        </p:nvGraphicFramePr>
        <p:xfrm>
          <a:off x="1098550" y="9537700"/>
          <a:ext cx="7848600" cy="1828800"/>
        </p:xfrm>
        <a:graphic>
          <a:graphicData uri="http://schemas.openxmlformats.org/drawingml/2006/table">
            <a:tbl>
              <a:tblPr firstRow="1" bandRow="1">
                <a:tableStyleId>{D27102A9-8310-4765-A935-A1911B00CA55}</a:tableStyleId>
              </a:tblPr>
              <a:tblGrid>
                <a:gridCol w="3924300"/>
                <a:gridCol w="3924300"/>
              </a:tblGrid>
              <a:tr h="350203">
                <a:tc>
                  <a:txBody>
                    <a:bodyPr/>
                    <a:lstStyle/>
                    <a:p>
                      <a:r>
                        <a:rPr lang="en-US" dirty="0"/>
                        <a:t>Project Type	</a:t>
                      </a:r>
                      <a:endParaRPr lang="en-IN" dirty="0"/>
                    </a:p>
                  </a:txBody>
                  <a:tcPr/>
                </a:tc>
                <a:tc>
                  <a:txBody>
                    <a:bodyPr/>
                    <a:lstStyle/>
                    <a:p>
                      <a:pPr algn="r"/>
                      <a:r>
                        <a:rPr lang="en-US" dirty="0"/>
                        <a:t>Estimated Timeline</a:t>
                      </a:r>
                      <a:endParaRPr lang="en-US" dirty="0"/>
                    </a:p>
                  </a:txBody>
                  <a:tcPr/>
                </a:tc>
              </a:tr>
              <a:tr h="350203">
                <a:tc>
                  <a:txBody>
                    <a:bodyPr/>
                    <a:lstStyle/>
                    <a:p>
                      <a:r>
                        <a:rPr lang="en-US" dirty="0"/>
                        <a:t>2 BHK	</a:t>
                      </a:r>
                      <a:endParaRPr lang="en-US" dirty="0"/>
                    </a:p>
                  </a:txBody>
                  <a:tcPr/>
                </a:tc>
                <a:tc>
                  <a:txBody>
                    <a:bodyPr/>
                    <a:lstStyle/>
                    <a:p>
                      <a:pPr algn="r"/>
                      <a:r>
                        <a:rPr lang="en-US" dirty="0"/>
                        <a:t>5-7 days</a:t>
                      </a:r>
                      <a:endParaRPr lang="en-IN" dirty="0"/>
                    </a:p>
                  </a:txBody>
                  <a:tcPr/>
                </a:tc>
              </a:tr>
              <a:tr h="350203">
                <a:tc>
                  <a:txBody>
                    <a:bodyPr/>
                    <a:lstStyle/>
                    <a:p>
                      <a:r>
                        <a:rPr lang="en-US" dirty="0"/>
                        <a:t>3 BHK	</a:t>
                      </a:r>
                      <a:endParaRPr lang="en-US" dirty="0"/>
                    </a:p>
                  </a:txBody>
                  <a:tcPr/>
                </a:tc>
                <a:tc>
                  <a:txBody>
                    <a:bodyPr/>
                    <a:lstStyle/>
                    <a:p>
                      <a:pPr algn="r"/>
                      <a:r>
                        <a:rPr lang="en-US" dirty="0"/>
                        <a:t>7-10 days</a:t>
                      </a:r>
                      <a:endParaRPr lang="en-IN" dirty="0"/>
                    </a:p>
                  </a:txBody>
                  <a:tcPr/>
                </a:tc>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dirty="0"/>
                        <a:t>4 BHK	</a:t>
                      </a:r>
                      <a:endParaRPr lang="en-US" dirty="0"/>
                    </a:p>
                  </a:txBody>
                  <a:tcPr/>
                </a:tc>
                <a:tc>
                  <a:txBody>
                    <a:bodyPr/>
                    <a:lstStyle/>
                    <a:p>
                      <a:pPr algn="r"/>
                      <a:r>
                        <a:rPr lang="en-US" dirty="0"/>
                        <a:t>10-20 days</a:t>
                      </a:r>
                      <a:endParaRPr lang="en-IN" dirty="0"/>
                    </a:p>
                  </a:txBody>
                  <a:tcPr/>
                </a:tc>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dirty="0"/>
                        <a:t>LUXURY VILLA &amp; HIGH END DESIGN</a:t>
                      </a:r>
                      <a:endParaRPr lang="en-US" dirty="0"/>
                    </a:p>
                  </a:txBody>
                  <a:tcPr/>
                </a:tc>
                <a:tc>
                  <a:txBody>
                    <a:bodyPr/>
                    <a:lstStyle/>
                    <a:p>
                      <a:pPr algn="r"/>
                      <a:r>
                        <a:rPr lang="en-US" dirty="0"/>
                        <a:t>30 days</a:t>
                      </a:r>
                      <a:endParaRPr lang="en-IN" dirty="0"/>
                    </a:p>
                  </a:txBody>
                  <a:tcP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231900"/>
            <a:ext cx="8686800" cy="12095619"/>
          </a:xfrm>
          <a:prstGeom prst="rect">
            <a:avLst/>
          </a:prstGeom>
        </p:spPr>
        <p:txBody>
          <a:bodyPr wrap="square">
            <a:spAutoFit/>
          </a:bodyPr>
          <a:lstStyle/>
          <a:p>
            <a:r>
              <a:rPr lang="en-US" sz="2400" b="1" dirty="0">
                <a:solidFill>
                  <a:srgbClr val="C00000"/>
                </a:solidFill>
              </a:rPr>
              <a:t>EXECUTION PROCESS AND TIMELINES</a:t>
            </a:r>
            <a:endParaRPr lang="en-US" sz="2400" b="1" dirty="0">
              <a:solidFill>
                <a:srgbClr val="C00000"/>
              </a:solidFill>
            </a:endParaRPr>
          </a:p>
          <a:p>
            <a:endParaRPr lang="en-US" b="1" dirty="0">
              <a:solidFill>
                <a:srgbClr val="C00000"/>
              </a:solidFill>
            </a:endParaRPr>
          </a:p>
          <a:p>
            <a:pPr algn="just"/>
            <a:r>
              <a:rPr lang="en-US" dirty="0"/>
              <a:t>A structured design journey covering concept development, material selection, 3D visualization, and final approvals. Each stage is planned with clear timelines ensuring smooth execution and timely project delivery.</a:t>
            </a:r>
            <a:endParaRPr lang="en-US" dirty="0"/>
          </a:p>
          <a:p>
            <a:pPr algn="just"/>
            <a:endParaRPr lang="en-US" dirty="0"/>
          </a:p>
          <a:p>
            <a:pPr algn="just"/>
            <a:r>
              <a:rPr lang="en-US" b="1" dirty="0"/>
              <a:t>1.Commencement of Execution</a:t>
            </a:r>
            <a:endParaRPr lang="en-US" b="1" dirty="0"/>
          </a:p>
          <a:p>
            <a:pPr algn="just"/>
            <a:r>
              <a:rPr lang="en-US" dirty="0"/>
              <a:t>Following Design Sign-Off, the approved drawings and specifications will be released for production. As all design selections and project requirements are finalized at this stage, no further changes will be permitted once manufacturing begins. Any exceptional requests may be subject to additional costs and timeline revisions.</a:t>
            </a:r>
            <a:endParaRPr lang="en-US" dirty="0"/>
          </a:p>
          <a:p>
            <a:pPr algn="just"/>
            <a:endParaRPr lang="en-US" dirty="0"/>
          </a:p>
          <a:p>
            <a:pPr algn="just"/>
            <a:r>
              <a:rPr lang="en-US" b="1" dirty="0"/>
              <a:t>2.Production &amp; Quality Checking Process</a:t>
            </a:r>
            <a:endParaRPr lang="en-US" b="1" dirty="0"/>
          </a:p>
          <a:p>
            <a:pPr algn="just"/>
            <a:r>
              <a:rPr lang="en-US" dirty="0"/>
              <a:t>The production phase is scheduled for 45 working days, Which will be followed by a detailed Quality Control (QC) inspection. If any rework is required to meet approved quality standards, an additional 7 working days may be necessary for rectification and final approval.</a:t>
            </a:r>
            <a:endParaRPr lang="en-US" dirty="0"/>
          </a:p>
          <a:p>
            <a:pPr algn="just"/>
            <a:r>
              <a:rPr lang="en-US" dirty="0"/>
              <a:t>A 40% payment is due upon QC clearance and before material dispatch to the project site.</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algn="just"/>
            <a:r>
              <a:rPr lang="en-US" b="1" dirty="0"/>
              <a:t>3.Installation Timelines</a:t>
            </a:r>
            <a:endParaRPr lang="en-US" b="1" dirty="0"/>
          </a:p>
          <a:p>
            <a:pPr algn="just"/>
            <a:r>
              <a:rPr lang="en-US" dirty="0"/>
              <a:t>Installation begins upon successful delivery of materials to the project site and may vary based on project scope and site readiness. Timelines are subject to uninterrupted site access, civil readiness, utility availability, and timely client approvals.</a:t>
            </a:r>
            <a:endParaRPr lang="en-US" dirty="0"/>
          </a:p>
          <a:p>
            <a:pPr algn="just"/>
            <a:endParaRPr lang="en-US" dirty="0"/>
          </a:p>
          <a:p>
            <a:pPr algn="just"/>
            <a:r>
              <a:rPr lang="en-US" b="1" dirty="0"/>
              <a:t>4.Project Monitoring, Walkthrough &amp; Quality Inspection</a:t>
            </a:r>
            <a:endParaRPr lang="en-US" b="1" dirty="0"/>
          </a:p>
          <a:p>
            <a:pPr algn="just"/>
            <a:r>
              <a:rPr lang="en-US" dirty="0"/>
              <a:t>A dedicated Application Engineer (AE) will be assigned to oversee the execution and installation process.</a:t>
            </a:r>
            <a:endParaRPr lang="en-US" dirty="0"/>
          </a:p>
          <a:p>
            <a:pPr algn="just"/>
            <a:endParaRPr lang="en-US" dirty="0"/>
          </a:p>
          <a:p>
            <a:pPr algn="just"/>
            <a:r>
              <a:rPr lang="en-US" dirty="0"/>
              <a:t>The Application Engineer (AE) will be responsible for:</a:t>
            </a:r>
            <a:endParaRPr lang="en-US" dirty="0"/>
          </a:p>
          <a:p>
            <a:pPr algn="just"/>
            <a:r>
              <a:rPr lang="en-US" dirty="0"/>
              <a:t>	I. Regular Site </a:t>
            </a:r>
            <a:r>
              <a:rPr lang="en-US" b="1" dirty="0"/>
              <a:t>Inspections</a:t>
            </a:r>
            <a:r>
              <a:rPr lang="en-US" dirty="0"/>
              <a:t> &amp; Monitoring</a:t>
            </a:r>
            <a:endParaRPr lang="en-US" dirty="0"/>
          </a:p>
          <a:p>
            <a:pPr algn="just"/>
            <a:r>
              <a:rPr lang="en-US" dirty="0"/>
              <a:t>	II. Daily Site </a:t>
            </a:r>
            <a:r>
              <a:rPr lang="en-US" b="1" dirty="0"/>
              <a:t>Updates</a:t>
            </a:r>
            <a:r>
              <a:rPr lang="en-US" dirty="0"/>
              <a:t> &amp; Coordination</a:t>
            </a:r>
            <a:endParaRPr lang="en-US" dirty="0"/>
          </a:p>
          <a:p>
            <a:pPr algn="just"/>
            <a:r>
              <a:rPr lang="en-US" dirty="0"/>
              <a:t>	III. Weekly </a:t>
            </a:r>
            <a:r>
              <a:rPr lang="en-US" b="1" dirty="0"/>
              <a:t>Progress</a:t>
            </a:r>
            <a:r>
              <a:rPr lang="en-US" dirty="0"/>
              <a:t> Reports</a:t>
            </a:r>
            <a:endParaRPr lang="en-US" dirty="0"/>
          </a:p>
          <a:p>
            <a:pPr algn="just"/>
            <a:r>
              <a:rPr lang="en-US" dirty="0"/>
              <a:t>	IV. </a:t>
            </a:r>
            <a:r>
              <a:rPr lang="en-US" b="1" dirty="0"/>
              <a:t>Quality</a:t>
            </a:r>
            <a:r>
              <a:rPr lang="en-US" dirty="0"/>
              <a:t> Checks During Execution</a:t>
            </a:r>
            <a:endParaRPr lang="en-US" dirty="0"/>
          </a:p>
          <a:p>
            <a:pPr algn="just"/>
            <a:r>
              <a:rPr lang="en-US" dirty="0"/>
              <a:t>	V. Final Project Inspection, </a:t>
            </a:r>
            <a:r>
              <a:rPr lang="en-US" b="1" dirty="0"/>
              <a:t>Snag List </a:t>
            </a:r>
            <a:r>
              <a:rPr lang="en-US" dirty="0"/>
              <a:t> &amp; Walkthrough</a:t>
            </a:r>
            <a:endParaRPr lang="en-US" dirty="0"/>
          </a:p>
          <a:p>
            <a:pPr algn="just"/>
            <a:r>
              <a:rPr lang="en-US" dirty="0"/>
              <a:t>	VI. Completion Report &amp; </a:t>
            </a:r>
            <a:r>
              <a:rPr lang="en-US" b="1" dirty="0"/>
              <a:t>Handover</a:t>
            </a:r>
            <a:r>
              <a:rPr lang="en-US" dirty="0"/>
              <a:t> Documentation</a:t>
            </a:r>
            <a:endParaRPr lang="en-US" dirty="0"/>
          </a:p>
        </p:txBody>
      </p:sp>
      <p:graphicFrame>
        <p:nvGraphicFramePr>
          <p:cNvPr id="3" name="Table 2"/>
          <p:cNvGraphicFramePr>
            <a:graphicFrameLocks noGrp="1"/>
          </p:cNvGraphicFramePr>
          <p:nvPr/>
        </p:nvGraphicFramePr>
        <p:xfrm>
          <a:off x="946150" y="6565900"/>
          <a:ext cx="8153400" cy="1828800"/>
        </p:xfrm>
        <a:graphic>
          <a:graphicData uri="http://schemas.openxmlformats.org/drawingml/2006/table">
            <a:tbl>
              <a:tblPr firstRow="1" bandRow="1">
                <a:tableStyleId>{D27102A9-8310-4765-A935-A1911B00CA55}</a:tableStyleId>
              </a:tblPr>
              <a:tblGrid>
                <a:gridCol w="4076700"/>
                <a:gridCol w="4076700"/>
              </a:tblGrid>
              <a:tr h="304800">
                <a:tc>
                  <a:txBody>
                    <a:bodyPr/>
                    <a:lstStyle/>
                    <a:p>
                      <a:r>
                        <a:rPr lang="en-US" sz="1800" dirty="0"/>
                        <a:t>VARIANTS</a:t>
                      </a:r>
                      <a:endParaRPr lang="en-IN" sz="1800" dirty="0"/>
                    </a:p>
                  </a:txBody>
                  <a:tcPr/>
                </a:tc>
                <a:tc>
                  <a:txBody>
                    <a:bodyPr/>
                    <a:lstStyle/>
                    <a:p>
                      <a:pPr algn="r"/>
                      <a:r>
                        <a:rPr lang="en-US" sz="1800" dirty="0"/>
                        <a:t>Estimated Timeline</a:t>
                      </a:r>
                      <a:endParaRPr lang="en-US" sz="1800" dirty="0"/>
                    </a:p>
                  </a:txBody>
                  <a:tcPr/>
                </a:tc>
              </a:tr>
              <a:tr h="304800">
                <a:tc>
                  <a:txBody>
                    <a:bodyPr/>
                    <a:lstStyle/>
                    <a:p>
                      <a:r>
                        <a:rPr lang="en-US" sz="1800" dirty="0"/>
                        <a:t>SURABHI LL ELITE</a:t>
                      </a:r>
                      <a:endParaRPr lang="en-US" sz="1800" dirty="0"/>
                    </a:p>
                  </a:txBody>
                  <a:tcPr/>
                </a:tc>
                <a:tc>
                  <a:txBody>
                    <a:bodyPr/>
                    <a:lstStyle/>
                    <a:p>
                      <a:pPr algn="r"/>
                      <a:r>
                        <a:rPr lang="en-US" sz="1800" dirty="0"/>
                        <a:t>15 Working Days</a:t>
                      </a:r>
                      <a:endParaRPr lang="en-IN" sz="1800" dirty="0"/>
                    </a:p>
                  </a:txBody>
                  <a:tcPr/>
                </a:tc>
              </a:tr>
              <a:tr h="304800">
                <a:tc>
                  <a:txBody>
                    <a:bodyPr/>
                    <a:lstStyle/>
                    <a:p>
                      <a:r>
                        <a:rPr lang="en-US" sz="1800" dirty="0"/>
                        <a:t>CAPRICOAST VARIANTS</a:t>
                      </a:r>
                      <a:endParaRPr lang="en-US" sz="1800" dirty="0"/>
                    </a:p>
                  </a:txBody>
                  <a:tcPr/>
                </a:tc>
                <a:tc>
                  <a:txBody>
                    <a:bodyPr/>
                    <a:lstStyle/>
                    <a:p>
                      <a:pPr algn="r"/>
                      <a:r>
                        <a:rPr lang="en-US" sz="1800" dirty="0"/>
                        <a:t>30 Working Days</a:t>
                      </a:r>
                      <a:endParaRPr lang="en-IN" sz="1800" dirty="0"/>
                    </a:p>
                  </a:txBody>
                  <a:tcPr/>
                </a:tc>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1800" dirty="0"/>
                        <a:t>SURABHI / MR+ &amp;VENEER</a:t>
                      </a:r>
                      <a:endParaRPr lang="en-US" sz="1800" dirty="0"/>
                    </a:p>
                  </a:txBody>
                  <a:tcPr/>
                </a:tc>
                <a:tc>
                  <a:txBody>
                    <a:bodyPr/>
                    <a:lstStyle/>
                    <a:p>
                      <a:pPr algn="r"/>
                      <a:r>
                        <a:rPr lang="en-US" sz="1800" dirty="0"/>
                        <a:t>45 Working Days</a:t>
                      </a:r>
                      <a:endParaRPr lang="en-US" sz="1800" dirty="0"/>
                    </a:p>
                  </a:txBody>
                  <a:tcPr/>
                </a:tc>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sz="1800" dirty="0"/>
                        <a:t>TRADITIONAL / VANITY / IRIS</a:t>
                      </a:r>
                      <a:endParaRPr lang="en-US" sz="1800" dirty="0"/>
                    </a:p>
                  </a:txBody>
                  <a:tcPr/>
                </a:tc>
                <a:tc>
                  <a:txBody>
                    <a:bodyPr/>
                    <a:lstStyle/>
                    <a:p>
                      <a:pPr algn="r"/>
                      <a:r>
                        <a:rPr lang="en-US" sz="1800" dirty="0"/>
                        <a:t>60 Working Days</a:t>
                      </a:r>
                      <a:endParaRPr lang="en-US" sz="1800" dirty="0"/>
                    </a:p>
                  </a:txBody>
                  <a:tcPr/>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09600" y="950976"/>
            <a:ext cx="5029200" cy="461665"/>
          </a:xfrm>
          <a:prstGeom prst="rect">
            <a:avLst/>
          </a:prstGeom>
        </p:spPr>
        <p:txBody>
          <a:bodyPr wrap="square">
            <a:spAutoFit/>
          </a:bodyPr>
          <a:lstStyle/>
          <a:p>
            <a:r>
              <a:rPr lang="en-US" sz="2400" b="1" dirty="0">
                <a:solidFill>
                  <a:srgbClr val="C00000"/>
                </a:solidFill>
              </a:rPr>
              <a:t>INCLUSION &amp; EXCLUSION POLICY</a:t>
            </a:r>
            <a:endParaRPr lang="en-US" sz="2400" b="1" dirty="0">
              <a:solidFill>
                <a:srgbClr val="C00000"/>
              </a:solidFill>
            </a:endParaRPr>
          </a:p>
        </p:txBody>
      </p:sp>
      <p:graphicFrame>
        <p:nvGraphicFramePr>
          <p:cNvPr id="5" name="Table 4"/>
          <p:cNvGraphicFramePr>
            <a:graphicFrameLocks noGrp="1"/>
          </p:cNvGraphicFramePr>
          <p:nvPr/>
        </p:nvGraphicFramePr>
        <p:xfrm>
          <a:off x="679450" y="1536700"/>
          <a:ext cx="8839200" cy="11277602"/>
        </p:xfrm>
        <a:graphic>
          <a:graphicData uri="http://schemas.openxmlformats.org/drawingml/2006/table">
            <a:tbl>
              <a:tblPr firstRow="1" firstCol="1" bandRow="1">
                <a:tableStyleId>{D27102A9-8310-4765-A935-A1911B00CA55}</a:tableStyleId>
              </a:tblPr>
              <a:tblGrid>
                <a:gridCol w="4109453"/>
                <a:gridCol w="4729747"/>
              </a:tblGrid>
              <a:tr h="571960">
                <a:tc>
                  <a:txBody>
                    <a:bodyPr/>
                    <a:lstStyle/>
                    <a:p>
                      <a:pPr algn="just">
                        <a:lnSpc>
                          <a:spcPct val="115000"/>
                        </a:lnSpc>
                        <a:spcAft>
                          <a:spcPts val="0"/>
                        </a:spcAft>
                      </a:pPr>
                      <a:r>
                        <a:rPr lang="en-IN" sz="2000" kern="100" dirty="0">
                          <a:effectLst/>
                        </a:rPr>
                        <a:t>INCLUDED IN SCOPE	</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EXCLUDED / CHARGED EXTRA</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r>
              <a:tr h="889353">
                <a:tc>
                  <a:txBody>
                    <a:bodyPr/>
                    <a:lstStyle/>
                    <a:p>
                      <a:pPr marL="76200" algn="l">
                        <a:lnSpc>
                          <a:spcPts val="2280"/>
                        </a:lnSpc>
                        <a:spcBef>
                          <a:spcPts val="20"/>
                        </a:spcBef>
                        <a:spcAft>
                          <a:spcPts val="0"/>
                        </a:spcAft>
                      </a:pPr>
                      <a:r>
                        <a:rPr lang="en-US" sz="2000" b="0" kern="100" dirty="0">
                          <a:effectLst/>
                        </a:rPr>
                        <a:t>Mirrors,</a:t>
                      </a:r>
                      <a:r>
                        <a:rPr lang="en-US" sz="2000" b="0" kern="100" spc="-60" dirty="0">
                          <a:effectLst/>
                        </a:rPr>
                        <a:t> </a:t>
                      </a:r>
                      <a:r>
                        <a:rPr lang="en-US" sz="2000" b="0" kern="100" dirty="0">
                          <a:effectLst/>
                        </a:rPr>
                        <a:t>handles,</a:t>
                      </a:r>
                      <a:r>
                        <a:rPr lang="en-US" sz="2000" b="0" kern="100" spc="-15" dirty="0">
                          <a:effectLst/>
                        </a:rPr>
                        <a:t> </a:t>
                      </a:r>
                      <a:r>
                        <a:rPr lang="en-US" sz="2000" b="0" kern="100" dirty="0">
                          <a:effectLst/>
                        </a:rPr>
                        <a:t>drawers,</a:t>
                      </a:r>
                      <a:r>
                        <a:rPr lang="en-US" sz="2000" b="0" kern="100" spc="-20" dirty="0">
                          <a:effectLst/>
                        </a:rPr>
                        <a:t> </a:t>
                      </a:r>
                      <a:r>
                        <a:rPr lang="en-US" sz="2000" b="0" kern="100" spc="-10" dirty="0">
                          <a:effectLst/>
                        </a:rPr>
                        <a:t>wardrobe </a:t>
                      </a:r>
                      <a:r>
                        <a:rPr lang="en-US" sz="2000" b="0" kern="100" dirty="0">
                          <a:effectLst/>
                        </a:rPr>
                        <a:t>locks,</a:t>
                      </a:r>
                      <a:r>
                        <a:rPr lang="en-US" sz="2000" b="0" kern="100" spc="-15" dirty="0">
                          <a:effectLst/>
                        </a:rPr>
                        <a:t> </a:t>
                      </a:r>
                      <a:r>
                        <a:rPr lang="en-US" sz="2000" b="0" kern="100" dirty="0">
                          <a:effectLst/>
                        </a:rPr>
                        <a:t>tower</a:t>
                      </a:r>
                      <a:r>
                        <a:rPr lang="en-US" sz="2000" b="0" kern="100" spc="-5" dirty="0">
                          <a:effectLst/>
                        </a:rPr>
                        <a:t> </a:t>
                      </a:r>
                      <a:r>
                        <a:rPr lang="en-US" sz="2000" b="0" kern="100" dirty="0">
                          <a:effectLst/>
                        </a:rPr>
                        <a:t>bolts,</a:t>
                      </a:r>
                      <a:r>
                        <a:rPr lang="en-US" sz="2000" b="0" kern="100" spc="-10" dirty="0">
                          <a:effectLst/>
                        </a:rPr>
                        <a:t> </a:t>
                      </a:r>
                      <a:r>
                        <a:rPr lang="en-US" sz="2000" b="0" kern="100" dirty="0">
                          <a:effectLst/>
                        </a:rPr>
                        <a:t>and</a:t>
                      </a:r>
                      <a:r>
                        <a:rPr lang="en-US" sz="2000" b="0" kern="100" spc="-10" dirty="0">
                          <a:effectLst/>
                        </a:rPr>
                        <a:t> skirting</a:t>
                      </a:r>
                      <a:endParaRPr lang="en-IN" sz="2000" b="0" kern="100" dirty="0">
                        <a:effectLst/>
                        <a:latin typeface="+mn-lt"/>
                        <a:ea typeface="Segoe UI Semibold" panose="020B0702040204020203" pitchFamily="34" charset="0"/>
                        <a:cs typeface="Times New Roman" panose="02020603050405020304" pitchFamily="18" charset="0"/>
                      </a:endParaRPr>
                    </a:p>
                  </a:txBody>
                  <a:tcPr marL="68580" marR="68580" marT="0" marB="0"/>
                </a:tc>
                <a:tc>
                  <a:txBody>
                    <a:bodyPr/>
                    <a:lstStyle/>
                    <a:p>
                      <a:pPr marL="76200" algn="r">
                        <a:lnSpc>
                          <a:spcPts val="2280"/>
                        </a:lnSpc>
                        <a:spcBef>
                          <a:spcPts val="20"/>
                        </a:spcBef>
                        <a:spcAft>
                          <a:spcPts val="0"/>
                        </a:spcAft>
                      </a:pPr>
                      <a:r>
                        <a:rPr lang="en-US" sz="2000" kern="100" dirty="0">
                          <a:effectLst/>
                        </a:rPr>
                        <a:t>Appliances,</a:t>
                      </a:r>
                      <a:r>
                        <a:rPr lang="en-US" sz="2000" kern="100" spc="-15" dirty="0">
                          <a:effectLst/>
                        </a:rPr>
                        <a:t> </a:t>
                      </a:r>
                      <a:r>
                        <a:rPr lang="en-US" sz="2000" kern="100" dirty="0">
                          <a:effectLst/>
                        </a:rPr>
                        <a:t>hob,</a:t>
                      </a:r>
                      <a:r>
                        <a:rPr lang="en-US" sz="2000" kern="100" spc="-10" dirty="0">
                          <a:effectLst/>
                        </a:rPr>
                        <a:t> </a:t>
                      </a:r>
                      <a:r>
                        <a:rPr lang="en-US" sz="2000" kern="100" dirty="0">
                          <a:effectLst/>
                        </a:rPr>
                        <a:t>chimney,</a:t>
                      </a:r>
                      <a:r>
                        <a:rPr lang="en-US" sz="2000" kern="100" spc="-10" dirty="0">
                          <a:effectLst/>
                        </a:rPr>
                        <a:t> </a:t>
                      </a:r>
                      <a:r>
                        <a:rPr lang="en-US" sz="2000" kern="100" dirty="0">
                          <a:effectLst/>
                        </a:rPr>
                        <a:t>sink,</a:t>
                      </a:r>
                      <a:r>
                        <a:rPr lang="en-US" sz="2000" kern="100" spc="-25" dirty="0">
                          <a:effectLst/>
                        </a:rPr>
                        <a:t> </a:t>
                      </a:r>
                      <a:r>
                        <a:rPr lang="en-US" sz="2000" kern="100" spc="-10" dirty="0">
                          <a:effectLst/>
                        </a:rPr>
                        <a:t>granite,</a:t>
                      </a:r>
                      <a:endParaRPr lang="en-IN" sz="2000" kern="100" dirty="0">
                        <a:effectLst/>
                      </a:endParaRPr>
                    </a:p>
                    <a:p>
                      <a:pPr algn="r">
                        <a:lnSpc>
                          <a:spcPct val="115000"/>
                        </a:lnSpc>
                        <a:spcAft>
                          <a:spcPts val="0"/>
                        </a:spcAft>
                      </a:pPr>
                      <a:r>
                        <a:rPr lang="en-IN" sz="2000" kern="100" dirty="0">
                          <a:effectLst/>
                        </a:rPr>
                        <a:t>dado </a:t>
                      </a:r>
                      <a:r>
                        <a:rPr lang="en-IN" sz="2000" kern="100" spc="-10" dirty="0">
                          <a:effectLst/>
                        </a:rPr>
                        <a:t>tiles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marL="76200" algn="l">
                        <a:lnSpc>
                          <a:spcPts val="2275"/>
                        </a:lnSpc>
                        <a:spcBef>
                          <a:spcPts val="120"/>
                        </a:spcBef>
                        <a:spcAft>
                          <a:spcPts val="0"/>
                        </a:spcAft>
                      </a:pPr>
                      <a:r>
                        <a:rPr lang="en-US" sz="2000" b="0" kern="100" dirty="0">
                          <a:effectLst/>
                        </a:rPr>
                        <a:t>Packing</a:t>
                      </a:r>
                      <a:r>
                        <a:rPr lang="en-US" sz="2000" b="0" kern="100" spc="-35" dirty="0">
                          <a:effectLst/>
                        </a:rPr>
                        <a:t> and Shipment </a:t>
                      </a:r>
                      <a:r>
                        <a:rPr lang="en-US" sz="2000" b="0" kern="100" dirty="0">
                          <a:effectLst/>
                        </a:rPr>
                        <a:t>charges are</a:t>
                      </a:r>
                      <a:r>
                        <a:rPr lang="en-US" sz="2000" b="0" kern="100" spc="-25" dirty="0">
                          <a:effectLst/>
                        </a:rPr>
                        <a:t> </a:t>
                      </a:r>
                      <a:r>
                        <a:rPr lang="en-US" sz="2000" b="0" kern="100" dirty="0">
                          <a:effectLst/>
                        </a:rPr>
                        <a:t>included</a:t>
                      </a:r>
                      <a:r>
                        <a:rPr lang="en-US" sz="2000" b="0" kern="100" spc="-15" dirty="0">
                          <a:effectLst/>
                        </a:rPr>
                        <a:t> </a:t>
                      </a:r>
                      <a:r>
                        <a:rPr lang="en-US" sz="2000" b="0" kern="100" dirty="0">
                          <a:effectLst/>
                        </a:rPr>
                        <a:t>Orders</a:t>
                      </a:r>
                      <a:r>
                        <a:rPr lang="en-US" sz="2000" b="0" kern="100" spc="-25" dirty="0">
                          <a:effectLst/>
                        </a:rPr>
                        <a:t> </a:t>
                      </a:r>
                      <a:r>
                        <a:rPr lang="en-US" sz="2000" b="0" kern="100" spc="-10" dirty="0">
                          <a:effectLst/>
                        </a:rPr>
                        <a:t>above </a:t>
                      </a:r>
                      <a:r>
                        <a:rPr lang="en-IN" sz="2000" b="0" kern="100" dirty="0">
                          <a:effectLst/>
                        </a:rPr>
                        <a:t>₹1.5</a:t>
                      </a:r>
                      <a:r>
                        <a:rPr lang="en-IN" sz="2000" b="0" kern="100" spc="-10" dirty="0">
                          <a:effectLst/>
                        </a:rPr>
                        <a:t> Lakh</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Demolition,</a:t>
                      </a:r>
                      <a:r>
                        <a:rPr lang="en-IN" sz="2000" kern="100" spc="-30" dirty="0">
                          <a:effectLst/>
                        </a:rPr>
                        <a:t> </a:t>
                      </a:r>
                      <a:r>
                        <a:rPr lang="en-IN" sz="2000" kern="100" dirty="0">
                          <a:effectLst/>
                        </a:rPr>
                        <a:t>civil</a:t>
                      </a:r>
                      <a:r>
                        <a:rPr lang="en-IN" sz="2000" kern="100" spc="-35" dirty="0">
                          <a:effectLst/>
                        </a:rPr>
                        <a:t> </a:t>
                      </a:r>
                      <a:r>
                        <a:rPr lang="en-IN" sz="2000" kern="100" dirty="0">
                          <a:effectLst/>
                        </a:rPr>
                        <a:t>works,</a:t>
                      </a:r>
                      <a:r>
                        <a:rPr lang="en-IN" sz="2000" kern="100" spc="-45" dirty="0">
                          <a:effectLst/>
                        </a:rPr>
                        <a:t> </a:t>
                      </a:r>
                      <a:r>
                        <a:rPr lang="en-IN" sz="2000" kern="100" dirty="0">
                          <a:effectLst/>
                        </a:rPr>
                        <a:t>electrical</a:t>
                      </a:r>
                      <a:r>
                        <a:rPr lang="en-IN" sz="2000" kern="100" spc="-35" dirty="0">
                          <a:effectLst/>
                        </a:rPr>
                        <a:t> </a:t>
                      </a:r>
                      <a:r>
                        <a:rPr lang="en-IN" sz="2000" kern="100" dirty="0">
                          <a:effectLst/>
                        </a:rPr>
                        <a:t>and plumbing works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Local</a:t>
                      </a:r>
                      <a:r>
                        <a:rPr lang="en-IN" sz="2000" b="0" kern="100" spc="-40" dirty="0">
                          <a:effectLst/>
                        </a:rPr>
                        <a:t> </a:t>
                      </a:r>
                      <a:r>
                        <a:rPr lang="en-IN" sz="2000" b="0" kern="100" dirty="0">
                          <a:effectLst/>
                        </a:rPr>
                        <a:t>transportation</a:t>
                      </a:r>
                      <a:r>
                        <a:rPr lang="en-IN" sz="2000" b="0" kern="100" spc="-50" dirty="0">
                          <a:effectLst/>
                        </a:rPr>
                        <a:t>, Loading and Unloading are </a:t>
                      </a:r>
                      <a:r>
                        <a:rPr lang="en-IN" sz="2000" b="0" kern="10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15" dirty="0">
                          <a:effectLst/>
                        </a:rPr>
                        <a:t> </a:t>
                      </a:r>
                      <a:r>
                        <a:rPr lang="en-IN" sz="2000" kern="100" dirty="0">
                          <a:effectLst/>
                        </a:rPr>
                        <a:t>transportation</a:t>
                      </a:r>
                      <a:r>
                        <a:rPr lang="en-IN" sz="2000" kern="100" spc="-30" dirty="0">
                          <a:effectLst/>
                        </a:rPr>
                        <a:t>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Installation</a:t>
                      </a:r>
                      <a:r>
                        <a:rPr lang="en-IN" sz="2000" b="0" kern="100" spc="-25" dirty="0">
                          <a:effectLst/>
                        </a:rPr>
                        <a:t>, Alignment, Woodwork and Thinner Cleaning are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85" dirty="0">
                          <a:effectLst/>
                        </a:rPr>
                        <a:t> </a:t>
                      </a:r>
                      <a:r>
                        <a:rPr lang="en-IN" sz="2000" kern="100" dirty="0">
                          <a:effectLst/>
                        </a:rPr>
                        <a:t>labour,</a:t>
                      </a:r>
                      <a:r>
                        <a:rPr lang="en-IN" sz="2000" kern="100" spc="-90" dirty="0">
                          <a:effectLst/>
                        </a:rPr>
                        <a:t> </a:t>
                      </a:r>
                      <a:r>
                        <a:rPr lang="en-IN" sz="2000" kern="100" dirty="0">
                          <a:effectLst/>
                        </a:rPr>
                        <a:t>boarding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Quality</a:t>
                      </a:r>
                      <a:r>
                        <a:rPr lang="en-IN" sz="2000" b="0" kern="100" spc="-10" dirty="0">
                          <a:effectLst/>
                        </a:rPr>
                        <a:t>  Control  and Inspection are 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Bathroom</a:t>
                      </a:r>
                      <a:r>
                        <a:rPr lang="en-IN" sz="2000" kern="100" spc="-45" dirty="0">
                          <a:effectLst/>
                        </a:rPr>
                        <a:t> </a:t>
                      </a:r>
                      <a:r>
                        <a:rPr lang="en-IN" sz="2000" kern="100" dirty="0">
                          <a:effectLst/>
                        </a:rPr>
                        <a:t>utilities</a:t>
                      </a:r>
                      <a:r>
                        <a:rPr lang="en-IN" sz="2000" kern="100" spc="10" dirty="0">
                          <a:effectLst/>
                        </a:rPr>
                        <a:t> </a:t>
                      </a:r>
                      <a:r>
                        <a:rPr lang="en-IN" sz="2000" kern="100" dirty="0">
                          <a:effectLst/>
                        </a:rPr>
                        <a:t>and</a:t>
                      </a:r>
                      <a:r>
                        <a:rPr lang="en-IN" sz="2000" kern="100" spc="-20" dirty="0">
                          <a:effectLst/>
                        </a:rPr>
                        <a:t> </a:t>
                      </a:r>
                      <a:r>
                        <a:rPr lang="en-IN" sz="2000" kern="100" spc="-10" dirty="0">
                          <a:effectLst/>
                        </a:rPr>
                        <a:t>fittings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571960">
                <a:tc>
                  <a:txBody>
                    <a:bodyPr/>
                    <a:lstStyle/>
                    <a:p>
                      <a:pPr algn="l">
                        <a:lnSpc>
                          <a:spcPct val="115000"/>
                        </a:lnSpc>
                        <a:spcAft>
                          <a:spcPts val="0"/>
                        </a:spcAft>
                      </a:pPr>
                      <a:r>
                        <a:rPr lang="en-IN" sz="2000" b="0" kern="100" dirty="0">
                          <a:effectLst/>
                        </a:rPr>
                        <a:t>Project</a:t>
                      </a:r>
                      <a:r>
                        <a:rPr lang="en-IN" sz="2000" b="0" kern="100" spc="-30" dirty="0">
                          <a:effectLst/>
                        </a:rPr>
                        <a:t> </a:t>
                      </a:r>
                      <a:r>
                        <a:rPr lang="en-IN" sz="2000" b="0" kern="100" dirty="0">
                          <a:effectLst/>
                        </a:rPr>
                        <a:t>certification</a:t>
                      </a:r>
                      <a:r>
                        <a:rPr lang="en-IN" sz="2000" b="0" kern="100" spc="20"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lvl="0" indent="0" algn="r" defTabSz="914400" rtl="0" eaLnBrk="1" fontAlgn="auto" latinLnBrk="0" hangingPunct="1">
                        <a:lnSpc>
                          <a:spcPct val="115000"/>
                        </a:lnSpc>
                        <a:spcBef>
                          <a:spcPts val="0"/>
                        </a:spcBef>
                        <a:spcAft>
                          <a:spcPts val="0"/>
                        </a:spcAft>
                        <a:buClrTx/>
                        <a:buSzTx/>
                        <a:buFontTx/>
                        <a:buNone/>
                        <a:defRPr/>
                      </a:pPr>
                      <a:r>
                        <a:rPr lang="en-IN" sz="2000" kern="100" dirty="0">
                          <a:effectLst/>
                        </a:rPr>
                        <a:t>GST</a:t>
                      </a:r>
                      <a:r>
                        <a:rPr lang="en-IN" sz="2000" kern="100" spc="-30" dirty="0">
                          <a:effectLst/>
                        </a:rPr>
                        <a:t> </a:t>
                      </a:r>
                      <a:r>
                        <a:rPr lang="en-IN" sz="2000" kern="100" dirty="0">
                          <a:effectLst/>
                        </a:rPr>
                        <a:t>as</a:t>
                      </a:r>
                      <a:r>
                        <a:rPr lang="en-IN" sz="2000" kern="100" spc="5" dirty="0">
                          <a:effectLst/>
                        </a:rPr>
                        <a:t> </a:t>
                      </a:r>
                      <a:r>
                        <a:rPr lang="en-IN" sz="2000" kern="100" spc="-10" dirty="0">
                          <a:effectLst/>
                        </a:rPr>
                        <a:t>applicable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No</a:t>
                      </a:r>
                      <a:r>
                        <a:rPr lang="en-IN" sz="2000" b="0" kern="100" spc="-65" dirty="0">
                          <a:effectLst/>
                        </a:rPr>
                        <a:t> </a:t>
                      </a:r>
                      <a:r>
                        <a:rPr lang="en-IN" sz="2000" b="0" kern="100" dirty="0">
                          <a:effectLst/>
                        </a:rPr>
                        <a:t>hidden</a:t>
                      </a:r>
                      <a:r>
                        <a:rPr lang="en-IN" sz="2000" b="0" kern="100" spc="-35" dirty="0">
                          <a:effectLst/>
                        </a:rPr>
                        <a:t> </a:t>
                      </a:r>
                      <a:r>
                        <a:rPr lang="en-IN" sz="2000" b="0" kern="100" dirty="0">
                          <a:effectLst/>
                        </a:rPr>
                        <a:t>charges</a:t>
                      </a:r>
                      <a:r>
                        <a:rPr lang="en-IN" sz="2000" b="0" kern="100" spc="-65" dirty="0">
                          <a:effectLst/>
                        </a:rPr>
                        <a:t> </a:t>
                      </a:r>
                      <a:r>
                        <a:rPr lang="en-IN" sz="2000" b="0" kern="100" dirty="0">
                          <a:effectLst/>
                        </a:rPr>
                        <a:t>within</a:t>
                      </a:r>
                      <a:r>
                        <a:rPr lang="en-IN" sz="2000" b="0" kern="100" spc="-30" dirty="0">
                          <a:effectLst/>
                        </a:rPr>
                        <a:t> </a:t>
                      </a:r>
                      <a:r>
                        <a:rPr lang="en-IN" sz="2000" b="0" kern="100" dirty="0">
                          <a:effectLst/>
                        </a:rPr>
                        <a:t>approved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Special</a:t>
                      </a:r>
                      <a:r>
                        <a:rPr lang="en-IN" sz="2000" kern="100" spc="-55" dirty="0">
                          <a:effectLst/>
                        </a:rPr>
                        <a:t> </a:t>
                      </a:r>
                      <a:r>
                        <a:rPr lang="en-IN" sz="2000" kern="100" dirty="0">
                          <a:effectLst/>
                        </a:rPr>
                        <a:t>handles</a:t>
                      </a:r>
                      <a:r>
                        <a:rPr lang="en-IN" sz="2000" kern="100" spc="-45" dirty="0">
                          <a:effectLst/>
                        </a:rPr>
                        <a:t> </a:t>
                      </a:r>
                      <a:r>
                        <a:rPr lang="en-IN" sz="2000" kern="100" dirty="0">
                          <a:effectLst/>
                        </a:rPr>
                        <a:t>and</a:t>
                      </a:r>
                      <a:r>
                        <a:rPr lang="en-IN" sz="2000" kern="100" spc="-60" dirty="0">
                          <a:effectLst/>
                        </a:rPr>
                        <a:t> </a:t>
                      </a:r>
                      <a:r>
                        <a:rPr lang="en-IN" sz="2000" kern="100" dirty="0">
                          <a:effectLst/>
                        </a:rPr>
                        <a:t>premium </a:t>
                      </a:r>
                      <a:r>
                        <a:rPr lang="en-IN" sz="2000" kern="100" spc="-10" dirty="0">
                          <a:effectLst/>
                        </a:rPr>
                        <a:t>accessories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Soft-close</a:t>
                      </a:r>
                      <a:r>
                        <a:rPr lang="en-IN" sz="2000" b="0" kern="100" spc="-60" dirty="0">
                          <a:effectLst/>
                        </a:rPr>
                        <a:t> </a:t>
                      </a:r>
                      <a:r>
                        <a:rPr lang="en-IN" sz="2000" b="0" kern="100" dirty="0">
                          <a:effectLst/>
                        </a:rPr>
                        <a:t>and</a:t>
                      </a:r>
                      <a:r>
                        <a:rPr lang="en-IN" sz="2000" b="0" kern="100" spc="-40" dirty="0">
                          <a:effectLst/>
                        </a:rPr>
                        <a:t> </a:t>
                      </a:r>
                      <a:r>
                        <a:rPr lang="en-IN" sz="2000" b="0" kern="100" dirty="0">
                          <a:effectLst/>
                        </a:rPr>
                        <a:t>auto-close</a:t>
                      </a:r>
                      <a:r>
                        <a:rPr lang="en-IN" sz="2000" b="0" kern="100" spc="-35" dirty="0">
                          <a:effectLst/>
                        </a:rPr>
                        <a:t> </a:t>
                      </a:r>
                      <a:r>
                        <a:rPr lang="en-IN" sz="2000" b="0" kern="100" dirty="0">
                          <a:effectLst/>
                        </a:rPr>
                        <a:t>hardware</a:t>
                      </a:r>
                      <a:r>
                        <a:rPr lang="en-IN" sz="2000" b="0" kern="100" spc="-50" dirty="0">
                          <a:effectLst/>
                        </a:rPr>
                        <a:t> </a:t>
                      </a:r>
                      <a:r>
                        <a:rPr lang="en-IN" sz="2000" b="0" kern="100" dirty="0">
                          <a:effectLst/>
                        </a:rPr>
                        <a:t>for eligible kitchen models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Additional</a:t>
                      </a:r>
                      <a:r>
                        <a:rPr lang="en-IN" sz="2000" kern="100" spc="-55" dirty="0">
                          <a:effectLst/>
                        </a:rPr>
                        <a:t> </a:t>
                      </a:r>
                      <a:r>
                        <a:rPr lang="en-IN" sz="2000" kern="100" dirty="0">
                          <a:effectLst/>
                        </a:rPr>
                        <a:t>shelves</a:t>
                      </a:r>
                      <a:r>
                        <a:rPr lang="en-IN" sz="2000" kern="100" spc="-70" dirty="0">
                          <a:effectLst/>
                        </a:rPr>
                        <a:t> </a:t>
                      </a:r>
                      <a:r>
                        <a:rPr lang="en-IN" sz="2000" kern="100" dirty="0">
                          <a:effectLst/>
                        </a:rPr>
                        <a:t>beyond</a:t>
                      </a:r>
                      <a:r>
                        <a:rPr lang="en-IN" sz="2000" kern="100" spc="-80" dirty="0">
                          <a:effectLst/>
                        </a:rPr>
                        <a:t> </a:t>
                      </a:r>
                      <a:r>
                        <a:rPr lang="en-IN" sz="2000" kern="100" dirty="0">
                          <a:effectLst/>
                        </a:rPr>
                        <a:t>approved </a:t>
                      </a:r>
                      <a:r>
                        <a:rPr lang="en-IN" sz="2000" kern="100" spc="-10" dirty="0">
                          <a:effectLst/>
                        </a:rPr>
                        <a:t>design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889353">
                <a:tc>
                  <a:txBody>
                    <a:bodyPr/>
                    <a:lstStyle/>
                    <a:p>
                      <a:pPr marL="76200" algn="l">
                        <a:lnSpc>
                          <a:spcPts val="2280"/>
                        </a:lnSpc>
                        <a:spcBef>
                          <a:spcPts val="125"/>
                        </a:spcBef>
                        <a:spcAft>
                          <a:spcPts val="0"/>
                        </a:spcAft>
                      </a:pPr>
                      <a:r>
                        <a:rPr lang="en-US" sz="2000" b="0" kern="100" dirty="0">
                          <a:effectLst/>
                        </a:rPr>
                        <a:t>Standard</a:t>
                      </a:r>
                      <a:r>
                        <a:rPr lang="en-US" sz="2000" b="0" kern="100" spc="-55" dirty="0">
                          <a:effectLst/>
                        </a:rPr>
                        <a:t> </a:t>
                      </a:r>
                      <a:r>
                        <a:rPr lang="en-US" sz="2000" b="0" kern="100" dirty="0">
                          <a:effectLst/>
                        </a:rPr>
                        <a:t>hinges</a:t>
                      </a:r>
                      <a:r>
                        <a:rPr lang="en-US" sz="2000" b="0" kern="100" spc="-40" dirty="0">
                          <a:effectLst/>
                        </a:rPr>
                        <a:t> </a:t>
                      </a:r>
                      <a:r>
                        <a:rPr lang="en-US" sz="2000" b="0" kern="100" dirty="0">
                          <a:effectLst/>
                        </a:rPr>
                        <a:t>for</a:t>
                      </a:r>
                      <a:r>
                        <a:rPr lang="en-US" sz="2000" b="0" kern="100" spc="-45" dirty="0">
                          <a:effectLst/>
                        </a:rPr>
                        <a:t> </a:t>
                      </a:r>
                      <a:r>
                        <a:rPr lang="en-US" sz="2000" b="0" kern="100" dirty="0">
                          <a:effectLst/>
                        </a:rPr>
                        <a:t>wardrobes</a:t>
                      </a:r>
                      <a:r>
                        <a:rPr lang="en-US" sz="2000" b="0" kern="100" spc="-40" dirty="0">
                          <a:effectLst/>
                        </a:rPr>
                        <a:t> </a:t>
                      </a:r>
                      <a:r>
                        <a:rPr lang="en-US" sz="2000" b="0" kern="100" spc="-25" dirty="0">
                          <a:effectLst/>
                        </a:rPr>
                        <a:t>and</a:t>
                      </a:r>
                      <a:endParaRPr lang="en-IN" sz="2000" b="0" kern="100" dirty="0">
                        <a:effectLst/>
                      </a:endParaRPr>
                    </a:p>
                    <a:p>
                      <a:pPr algn="l">
                        <a:lnSpc>
                          <a:spcPct val="115000"/>
                        </a:lnSpc>
                        <a:spcAft>
                          <a:spcPts val="0"/>
                        </a:spcAft>
                      </a:pPr>
                      <a:r>
                        <a:rPr lang="en-IN" sz="2000" b="0" kern="100" dirty="0">
                          <a:effectLst/>
                        </a:rPr>
                        <a:t>other</a:t>
                      </a:r>
                      <a:r>
                        <a:rPr lang="en-IN" sz="2000" b="0" kern="100" spc="-15" dirty="0">
                          <a:effectLst/>
                        </a:rPr>
                        <a:t> </a:t>
                      </a:r>
                      <a:r>
                        <a:rPr lang="en-IN" sz="2000" b="0" kern="100" spc="-10" dirty="0">
                          <a:effectLst/>
                        </a:rPr>
                        <a:t>units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Additional</a:t>
                      </a:r>
                      <a:r>
                        <a:rPr lang="en-US" sz="2000" kern="100" spc="-20" dirty="0">
                          <a:effectLst/>
                        </a:rPr>
                        <a:t> </a:t>
                      </a:r>
                      <a:r>
                        <a:rPr lang="en-US" sz="2000" kern="100" dirty="0">
                          <a:effectLst/>
                        </a:rPr>
                        <a:t>mirrors</a:t>
                      </a:r>
                      <a:r>
                        <a:rPr lang="en-US" sz="2000" kern="100" spc="-50" dirty="0">
                          <a:effectLst/>
                        </a:rPr>
                        <a:t> </a:t>
                      </a:r>
                      <a:r>
                        <a:rPr lang="en-US" sz="2000" kern="100" dirty="0">
                          <a:effectLst/>
                        </a:rPr>
                        <a:t>beyond</a:t>
                      </a:r>
                      <a:r>
                        <a:rPr lang="en-US" sz="2000" kern="100" spc="-25" dirty="0">
                          <a:effectLst/>
                        </a:rPr>
                        <a:t> </a:t>
                      </a:r>
                      <a:r>
                        <a:rPr lang="en-US" sz="2000" kern="100" spc="-10" dirty="0">
                          <a:effectLst/>
                        </a:rPr>
                        <a:t>approved</a:t>
                      </a:r>
                      <a:endParaRPr lang="en-IN" sz="2000" kern="100" dirty="0">
                        <a:effectLst/>
                      </a:endParaRPr>
                    </a:p>
                    <a:p>
                      <a:pPr algn="r">
                        <a:lnSpc>
                          <a:spcPct val="115000"/>
                        </a:lnSpc>
                        <a:spcAft>
                          <a:spcPts val="0"/>
                        </a:spcAft>
                      </a:pPr>
                      <a:r>
                        <a:rPr lang="en-IN" sz="200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571960">
                <a:tc>
                  <a:txBody>
                    <a:bodyPr/>
                    <a:lstStyle/>
                    <a:p>
                      <a:pPr algn="l">
                        <a:lnSpc>
                          <a:spcPct val="115000"/>
                        </a:lnSpc>
                        <a:spcAft>
                          <a:spcPts val="0"/>
                        </a:spcAft>
                      </a:pPr>
                      <a:r>
                        <a:rPr lang="en-IN" sz="2000" b="0" kern="100" dirty="0">
                          <a:effectLst/>
                        </a:rPr>
                        <a:t>Wardrobe</a:t>
                      </a:r>
                      <a:r>
                        <a:rPr lang="en-IN" sz="2000" b="0" kern="100" spc="-70" dirty="0">
                          <a:effectLst/>
                        </a:rPr>
                        <a:t> </a:t>
                      </a:r>
                      <a:r>
                        <a:rPr lang="en-IN" sz="2000" b="0" kern="100" dirty="0">
                          <a:effectLst/>
                        </a:rPr>
                        <a:t>locks</a:t>
                      </a:r>
                      <a:r>
                        <a:rPr lang="en-IN" sz="2000" b="0" kern="100" spc="-55"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Wall</a:t>
                      </a:r>
                      <a:r>
                        <a:rPr lang="en-IN" sz="2000" kern="100" spc="-40" dirty="0">
                          <a:effectLst/>
                        </a:rPr>
                        <a:t> </a:t>
                      </a:r>
                      <a:r>
                        <a:rPr lang="en-IN" sz="2000" kern="100" dirty="0">
                          <a:effectLst/>
                        </a:rPr>
                        <a:t>pelmets</a:t>
                      </a:r>
                      <a:r>
                        <a:rPr lang="en-IN" sz="2000" kern="100" spc="-20" dirty="0">
                          <a:effectLst/>
                        </a:rPr>
                        <a:t> </a:t>
                      </a:r>
                      <a:r>
                        <a:rPr lang="en-IN" sz="2000" kern="100" dirty="0">
                          <a:effectLst/>
                        </a:rPr>
                        <a:t>and</a:t>
                      </a:r>
                      <a:r>
                        <a:rPr lang="en-IN" sz="2000" kern="100" spc="-35" dirty="0">
                          <a:effectLst/>
                        </a:rPr>
                        <a:t> </a:t>
                      </a:r>
                      <a:r>
                        <a:rPr lang="en-IN" sz="2000" kern="100" dirty="0">
                          <a:effectLst/>
                        </a:rPr>
                        <a:t>decorative</a:t>
                      </a:r>
                      <a:r>
                        <a:rPr lang="en-IN" sz="2000" kern="100" spc="-25" dirty="0">
                          <a:effectLst/>
                        </a:rPr>
                        <a:t> </a:t>
                      </a:r>
                      <a:r>
                        <a:rPr lang="en-IN" sz="2000" kern="100" spc="-10" dirty="0">
                          <a:effectLst/>
                        </a:rPr>
                        <a:t>additions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dirty="0">
                          <a:effectLst/>
                        </a:rPr>
                        <a:t>Approved</a:t>
                      </a:r>
                      <a:r>
                        <a:rPr lang="en-IN" sz="2000" b="0" kern="100" spc="-60" dirty="0">
                          <a:effectLst/>
                        </a:rPr>
                        <a:t> </a:t>
                      </a:r>
                      <a:r>
                        <a:rPr lang="en-IN" sz="2000" b="0" kern="100" dirty="0">
                          <a:effectLst/>
                        </a:rPr>
                        <a:t>design</a:t>
                      </a:r>
                      <a:r>
                        <a:rPr lang="en-IN" sz="2000" b="0" kern="100" spc="-45" dirty="0">
                          <a:effectLst/>
                        </a:rPr>
                        <a:t> </a:t>
                      </a:r>
                      <a:r>
                        <a:rPr lang="en-IN" sz="2000" b="0" kern="100" dirty="0">
                          <a:effectLst/>
                        </a:rPr>
                        <a:t>and</a:t>
                      </a:r>
                      <a:r>
                        <a:rPr lang="en-IN" sz="2000" b="0" kern="100" spc="-60" dirty="0">
                          <a:effectLst/>
                        </a:rPr>
                        <a:t> </a:t>
                      </a:r>
                      <a:r>
                        <a:rPr lang="en-IN" sz="2000" b="0" kern="100" dirty="0">
                          <a:effectLst/>
                        </a:rPr>
                        <a:t>manufacturing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Locks</a:t>
                      </a:r>
                      <a:r>
                        <a:rPr lang="en-IN" sz="2000" kern="100" spc="-10" dirty="0">
                          <a:effectLst/>
                        </a:rPr>
                        <a:t> </a:t>
                      </a:r>
                      <a:r>
                        <a:rPr lang="en-IN" sz="2000" kern="100" dirty="0">
                          <a:effectLst/>
                        </a:rPr>
                        <a:t>for</a:t>
                      </a:r>
                      <a:r>
                        <a:rPr lang="en-IN" sz="2000" kern="100" spc="-30" dirty="0">
                          <a:effectLst/>
                        </a:rPr>
                        <a:t> </a:t>
                      </a:r>
                      <a:r>
                        <a:rPr lang="en-IN" sz="2000" kern="100" dirty="0">
                          <a:effectLst/>
                        </a:rPr>
                        <a:t>units</a:t>
                      </a:r>
                      <a:r>
                        <a:rPr lang="en-IN" sz="2000" kern="100" spc="-15" dirty="0">
                          <a:effectLst/>
                        </a:rPr>
                        <a:t> </a:t>
                      </a:r>
                      <a:r>
                        <a:rPr lang="en-IN" sz="2000" kern="100" dirty="0">
                          <a:effectLst/>
                        </a:rPr>
                        <a:t>other</a:t>
                      </a:r>
                      <a:r>
                        <a:rPr lang="en-IN" sz="2000" kern="100" spc="-5" dirty="0">
                          <a:effectLst/>
                        </a:rPr>
                        <a:t> </a:t>
                      </a:r>
                      <a:r>
                        <a:rPr lang="en-IN" sz="2000" kern="100" dirty="0">
                          <a:effectLst/>
                        </a:rPr>
                        <a:t>than </a:t>
                      </a:r>
                      <a:r>
                        <a:rPr lang="en-IN" sz="2000" kern="100" spc="-10" dirty="0">
                          <a:effectLst/>
                        </a:rPr>
                        <a:t>wardrobes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r h="972877">
                <a:tc>
                  <a:txBody>
                    <a:bodyPr/>
                    <a:lstStyle/>
                    <a:p>
                      <a:pPr algn="l">
                        <a:lnSpc>
                          <a:spcPct val="115000"/>
                        </a:lnSpc>
                        <a:spcAft>
                          <a:spcPts val="0"/>
                        </a:spcAft>
                      </a:pPr>
                      <a:r>
                        <a:rPr lang="en-IN" sz="2000" b="0" kern="100" spc="-10" dirty="0">
                          <a:effectLst/>
                        </a:rPr>
                        <a:t>Implementation of the </a:t>
                      </a:r>
                      <a:r>
                        <a:rPr lang="en-IN" sz="2000" b="0" kern="100" dirty="0">
                          <a:effectLst/>
                        </a:rPr>
                        <a:t>Final</a:t>
                      </a:r>
                      <a:r>
                        <a:rPr lang="en-IN" sz="2000" b="0" kern="100" spc="-30" dirty="0">
                          <a:effectLst/>
                        </a:rPr>
                        <a:t> </a:t>
                      </a:r>
                      <a:r>
                        <a:rPr lang="en-IN" sz="2000" b="0" kern="100" dirty="0">
                          <a:effectLst/>
                        </a:rPr>
                        <a:t>approved</a:t>
                      </a:r>
                      <a:r>
                        <a:rPr lang="en-IN" sz="2000" b="0" kern="100" spc="-20" dirty="0">
                          <a:effectLst/>
                        </a:rPr>
                        <a:t> </a:t>
                      </a:r>
                      <a:r>
                        <a:rPr lang="en-IN" sz="2000" b="0" kern="100" dirty="0">
                          <a:effectLst/>
                        </a:rPr>
                        <a:t>layout</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Design</a:t>
                      </a:r>
                      <a:r>
                        <a:rPr lang="en-US" sz="2000" kern="100" spc="-40" dirty="0">
                          <a:effectLst/>
                        </a:rPr>
                        <a:t> </a:t>
                      </a:r>
                      <a:r>
                        <a:rPr lang="en-US" sz="2000" kern="100" dirty="0">
                          <a:effectLst/>
                        </a:rPr>
                        <a:t>changes,</a:t>
                      </a:r>
                      <a:r>
                        <a:rPr lang="en-US" sz="2000" kern="100" spc="-5" dirty="0">
                          <a:effectLst/>
                        </a:rPr>
                        <a:t> </a:t>
                      </a:r>
                      <a:r>
                        <a:rPr lang="en-US" sz="2000" kern="100" dirty="0">
                          <a:effectLst/>
                        </a:rPr>
                        <a:t>alterations,</a:t>
                      </a:r>
                      <a:r>
                        <a:rPr lang="en-US" sz="2000" kern="100" spc="-20" dirty="0">
                          <a:effectLst/>
                        </a:rPr>
                        <a:t> </a:t>
                      </a:r>
                      <a:r>
                        <a:rPr lang="en-US" sz="2000" kern="100" dirty="0">
                          <a:effectLst/>
                        </a:rPr>
                        <a:t>or</a:t>
                      </a:r>
                      <a:r>
                        <a:rPr lang="en-US" sz="2000" kern="100" spc="-15" dirty="0">
                          <a:effectLst/>
                        </a:rPr>
                        <a:t> </a:t>
                      </a:r>
                      <a:r>
                        <a:rPr lang="en-US" sz="2000" kern="100" spc="-10" dirty="0">
                          <a:effectLst/>
                        </a:rPr>
                        <a:t>additions</a:t>
                      </a:r>
                      <a:endParaRPr lang="en-IN" sz="2000" kern="100" dirty="0">
                        <a:effectLst/>
                      </a:endParaRPr>
                    </a:p>
                    <a:p>
                      <a:pPr algn="r">
                        <a:lnSpc>
                          <a:spcPct val="115000"/>
                        </a:lnSpc>
                        <a:spcAft>
                          <a:spcPts val="0"/>
                        </a:spcAft>
                      </a:pPr>
                      <a:r>
                        <a:rPr lang="en-IN" sz="2000" kern="100" dirty="0">
                          <a:effectLst/>
                        </a:rPr>
                        <a:t>requested</a:t>
                      </a:r>
                      <a:r>
                        <a:rPr lang="en-IN" sz="2000" kern="100" spc="-15" dirty="0">
                          <a:effectLst/>
                        </a:rPr>
                        <a:t> </a:t>
                      </a:r>
                      <a:r>
                        <a:rPr lang="en-IN" sz="2000" kern="100" dirty="0">
                          <a:effectLst/>
                        </a:rPr>
                        <a:t>during</a:t>
                      </a:r>
                      <a:r>
                        <a:rPr lang="en-IN" sz="2000" kern="100" spc="-15" dirty="0">
                          <a:effectLst/>
                        </a:rPr>
                        <a:t> </a:t>
                      </a:r>
                      <a:r>
                        <a:rPr lang="en-IN" sz="2000" kern="100" spc="-10" dirty="0">
                          <a:effectLst/>
                        </a:rPr>
                        <a:t>installation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r>
            </a:tbl>
          </a:graphicData>
        </a:graphic>
      </p:graphicFrame>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698500"/>
            <a:ext cx="5562600" cy="461665"/>
          </a:xfrm>
          <a:prstGeom prst="rect">
            <a:avLst/>
          </a:prstGeom>
        </p:spPr>
        <p:txBody>
          <a:bodyPr wrap="square">
            <a:spAutoFit/>
          </a:bodyPr>
          <a:lstStyle/>
          <a:p>
            <a:r>
              <a:rPr lang="en-US" sz="2400" b="1" dirty="0">
                <a:solidFill>
                  <a:srgbClr val="C00000"/>
                </a:solidFill>
              </a:rPr>
              <a:t>PAYMENT TERMS AND WORK STAGES</a:t>
            </a:r>
            <a:endParaRPr lang="en-US" sz="2400" b="1" dirty="0">
              <a:solidFill>
                <a:srgbClr val="C00000"/>
              </a:solidFill>
            </a:endParaRPr>
          </a:p>
        </p:txBody>
      </p:sp>
      <p:graphicFrame>
        <p:nvGraphicFramePr>
          <p:cNvPr id="3" name="Table 2"/>
          <p:cNvGraphicFramePr>
            <a:graphicFrameLocks noGrp="1"/>
          </p:cNvGraphicFramePr>
          <p:nvPr/>
        </p:nvGraphicFramePr>
        <p:xfrm>
          <a:off x="679450" y="1460500"/>
          <a:ext cx="8763001" cy="11914760"/>
        </p:xfrm>
        <a:graphic>
          <a:graphicData uri="http://schemas.openxmlformats.org/drawingml/2006/table">
            <a:tbl>
              <a:tblPr firstRow="1" firstCol="1" bandRow="1">
                <a:tableStyleId>{D27102A9-8310-4765-A935-A1911B00CA55}</a:tableStyleId>
              </a:tblPr>
              <a:tblGrid>
                <a:gridCol w="1924439"/>
                <a:gridCol w="826149"/>
                <a:gridCol w="6012413"/>
              </a:tblGrid>
              <a:tr h="262661">
                <a:tc>
                  <a:txBody>
                    <a:bodyPr/>
                    <a:lstStyle/>
                    <a:p>
                      <a:pPr algn="ctr">
                        <a:lnSpc>
                          <a:spcPct val="115000"/>
                        </a:lnSpc>
                        <a:spcAft>
                          <a:spcPts val="0"/>
                        </a:spcAft>
                      </a:pPr>
                      <a:r>
                        <a:rPr lang="en-IN" sz="1800" kern="100" spc="-20" dirty="0">
                          <a:effectLst/>
                        </a:rPr>
                        <a:t>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50" dirty="0">
                          <a:effectLst/>
                        </a:rPr>
                        <a:t>%</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10">
                          <a:effectLst/>
                        </a:rPr>
                        <a:t>DETAILS</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15697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95"/>
                        </a:spcBef>
                        <a:spcAft>
                          <a:spcPts val="0"/>
                        </a:spcAft>
                      </a:pPr>
                      <a:r>
                        <a:rPr lang="en-US" sz="1800" kern="100" dirty="0">
                          <a:effectLst/>
                        </a:rPr>
                        <a:t> </a:t>
                      </a:r>
                      <a:r>
                        <a:rPr lang="en-IN" sz="1800" kern="100" dirty="0">
                          <a:effectLst/>
                        </a:rPr>
                        <a:t>Project</a:t>
                      </a:r>
                      <a:r>
                        <a:rPr lang="en-IN" sz="1800" kern="100" spc="-85" dirty="0">
                          <a:effectLst/>
                        </a:rPr>
                        <a:t> </a:t>
                      </a:r>
                      <a:r>
                        <a:rPr lang="en-IN" sz="1800" kern="100" dirty="0">
                          <a:effectLst/>
                        </a:rPr>
                        <a:t>Consultation</a:t>
                      </a:r>
                      <a:r>
                        <a:rPr lang="en-IN" sz="1800" kern="100" spc="-80" dirty="0">
                          <a:effectLst/>
                        </a:rPr>
                        <a:t> </a:t>
                      </a:r>
                      <a:r>
                        <a:rPr lang="en-IN" sz="1800" kern="100" dirty="0">
                          <a:effectLst/>
                        </a:rPr>
                        <a:t>&amp; </a:t>
                      </a:r>
                      <a:r>
                        <a:rPr lang="en-IN" sz="1800" kern="100" spc="-10" dirty="0">
                          <a:effectLst/>
                        </a:rPr>
                        <a:t>Estimation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119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Initial</a:t>
                      </a:r>
                      <a:r>
                        <a:rPr lang="en-US" sz="1800" kern="100" spc="-35" dirty="0">
                          <a:effectLst/>
                        </a:rPr>
                        <a:t> </a:t>
                      </a:r>
                      <a:r>
                        <a:rPr lang="en-US" sz="1800" kern="100" spc="0" dirty="0">
                          <a:effectLst/>
                        </a:rPr>
                        <a:t>requirement</a:t>
                      </a:r>
                      <a:r>
                        <a:rPr lang="en-US" sz="1800" kern="100" spc="-15" dirty="0">
                          <a:effectLst/>
                        </a:rPr>
                        <a:t> </a:t>
                      </a:r>
                      <a:r>
                        <a:rPr lang="en-US" sz="1800" kern="100" spc="0" dirty="0">
                          <a:effectLst/>
                        </a:rPr>
                        <a:t>gathering</a:t>
                      </a:r>
                      <a:r>
                        <a:rPr lang="en-US" sz="1800" kern="100" spc="-10" dirty="0">
                          <a:effectLst/>
                        </a:rPr>
                        <a:t> </a:t>
                      </a:r>
                      <a:r>
                        <a:rPr lang="en-US" sz="1800" kern="100" spc="0" dirty="0">
                          <a:effectLst/>
                        </a:rPr>
                        <a:t>and</a:t>
                      </a:r>
                      <a:r>
                        <a:rPr lang="en-US" sz="1800" kern="100" spc="-35" dirty="0">
                          <a:effectLst/>
                        </a:rPr>
                        <a:t> </a:t>
                      </a:r>
                      <a:r>
                        <a:rPr lang="en-US" sz="1800" kern="100" spc="0" dirty="0">
                          <a:effectLst/>
                        </a:rPr>
                        <a:t>design</a:t>
                      </a:r>
                      <a:r>
                        <a:rPr lang="en-US" sz="1800" kern="100" spc="-30" dirty="0">
                          <a:effectLst/>
                        </a:rPr>
                        <a:t> </a:t>
                      </a:r>
                      <a:r>
                        <a:rPr lang="en-US" sz="1800" kern="100" spc="-10" dirty="0">
                          <a:effectLst/>
                        </a:rPr>
                        <a:t>consultation.</a:t>
                      </a:r>
                      <a:endParaRPr lang="en-IN" sz="1800" kern="100" spc="0" dirty="0">
                        <a:effectLst/>
                      </a:endParaRPr>
                    </a:p>
                    <a:p>
                      <a:pPr marL="342900" lvl="0" indent="-342900" algn="just">
                        <a:spcBef>
                          <a:spcPts val="25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Site</a:t>
                      </a:r>
                      <a:r>
                        <a:rPr lang="en-US" sz="1800" kern="100" spc="-35" dirty="0">
                          <a:effectLst/>
                        </a:rPr>
                        <a:t> </a:t>
                      </a:r>
                      <a:r>
                        <a:rPr lang="en-US" sz="1800" kern="100" spc="0" dirty="0">
                          <a:effectLst/>
                        </a:rPr>
                        <a:t>assessment</a:t>
                      </a:r>
                      <a:r>
                        <a:rPr lang="en-US" sz="1800" kern="100" spc="-45" dirty="0">
                          <a:effectLst/>
                        </a:rPr>
                        <a:t> </a:t>
                      </a:r>
                      <a:r>
                        <a:rPr lang="en-US" sz="1800" kern="100" spc="0" dirty="0">
                          <a:effectLst/>
                        </a:rPr>
                        <a:t>and</a:t>
                      </a:r>
                      <a:r>
                        <a:rPr lang="en-US" sz="1800" kern="100" spc="-30" dirty="0">
                          <a:effectLst/>
                        </a:rPr>
                        <a:t> </a:t>
                      </a:r>
                      <a:r>
                        <a:rPr lang="en-US" sz="1800" kern="100" spc="0" dirty="0">
                          <a:effectLst/>
                        </a:rPr>
                        <a:t>project</a:t>
                      </a:r>
                      <a:r>
                        <a:rPr lang="en-US" sz="1800" kern="100" spc="-35" dirty="0">
                          <a:effectLst/>
                        </a:rPr>
                        <a:t> </a:t>
                      </a:r>
                      <a:r>
                        <a:rPr lang="en-US" sz="1800" kern="100" spc="0" dirty="0">
                          <a:effectLst/>
                        </a:rPr>
                        <a:t>feasibility</a:t>
                      </a:r>
                      <a:r>
                        <a:rPr lang="en-US" sz="1800" kern="100" spc="-25" dirty="0">
                          <a:effectLst/>
                        </a:rPr>
                        <a:t> </a:t>
                      </a:r>
                      <a:r>
                        <a:rPr lang="en-US" sz="1800" kern="100" spc="-10" dirty="0">
                          <a:effectLst/>
                        </a:rPr>
                        <a:t>discussion.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Variants, material options,</a:t>
                      </a:r>
                      <a:r>
                        <a:rPr lang="en-US" sz="1800" kern="100" spc="-30" dirty="0">
                          <a:effectLst/>
                        </a:rPr>
                        <a:t> </a:t>
                      </a:r>
                      <a:r>
                        <a:rPr lang="en-US" sz="1800" kern="100" spc="0" dirty="0">
                          <a:effectLst/>
                        </a:rPr>
                        <a:t>finishes,</a:t>
                      </a:r>
                      <a:r>
                        <a:rPr lang="en-US" sz="1800" kern="100" spc="-35" dirty="0">
                          <a:effectLst/>
                        </a:rPr>
                        <a:t> </a:t>
                      </a:r>
                      <a:r>
                        <a:rPr lang="en-US" sz="1800" kern="100" spc="0" dirty="0">
                          <a:effectLst/>
                        </a:rPr>
                        <a:t>and</a:t>
                      </a:r>
                      <a:r>
                        <a:rPr lang="en-US" sz="1800" kern="100" spc="-40" dirty="0">
                          <a:effectLst/>
                        </a:rPr>
                        <a:t> </a:t>
                      </a:r>
                      <a:r>
                        <a:rPr lang="en-US" sz="1800" kern="100" spc="0" dirty="0">
                          <a:effectLst/>
                        </a:rPr>
                        <a:t>budget</a:t>
                      </a:r>
                      <a:r>
                        <a:rPr lang="en-US" sz="1800" kern="100" spc="-25" dirty="0">
                          <a:effectLst/>
                        </a:rPr>
                        <a:t> </a:t>
                      </a:r>
                      <a:r>
                        <a:rPr lang="en-US" sz="1800" kern="100" spc="-10" dirty="0">
                          <a:effectLst/>
                        </a:rPr>
                        <a:t>alignment.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Preliminary</a:t>
                      </a:r>
                      <a:r>
                        <a:rPr lang="en-IN" sz="1800" kern="100" spc="-15" dirty="0">
                          <a:effectLst/>
                        </a:rPr>
                        <a:t> </a:t>
                      </a:r>
                      <a:r>
                        <a:rPr lang="en-IN" sz="1800" kern="100" dirty="0">
                          <a:effectLst/>
                        </a:rPr>
                        <a:t>scope</a:t>
                      </a:r>
                      <a:r>
                        <a:rPr lang="en-IN" sz="1800" kern="100" spc="-45" dirty="0">
                          <a:effectLst/>
                        </a:rPr>
                        <a:t> </a:t>
                      </a:r>
                      <a:r>
                        <a:rPr lang="en-IN" sz="1800" kern="100" dirty="0">
                          <a:effectLst/>
                        </a:rPr>
                        <a:t>definition</a:t>
                      </a:r>
                      <a:r>
                        <a:rPr lang="en-IN" sz="1800" kern="100" spc="-10" dirty="0">
                          <a:effectLst/>
                        </a:rPr>
                        <a:t> </a:t>
                      </a:r>
                      <a:r>
                        <a:rPr lang="en-IN" sz="1800" kern="100" dirty="0">
                          <a:effectLst/>
                        </a:rPr>
                        <a:t>and</a:t>
                      </a:r>
                      <a:r>
                        <a:rPr lang="en-IN" sz="1800" kern="100" spc="-15" dirty="0">
                          <a:effectLst/>
                        </a:rPr>
                        <a:t> </a:t>
                      </a:r>
                      <a:r>
                        <a:rPr lang="en-IN" sz="1800" kern="100" dirty="0">
                          <a:effectLst/>
                        </a:rPr>
                        <a:t>budgetary</a:t>
                      </a:r>
                      <a:r>
                        <a:rPr lang="en-IN" sz="1800" kern="100" spc="10" dirty="0">
                          <a:effectLst/>
                        </a:rPr>
                        <a:t> </a:t>
                      </a:r>
                      <a:r>
                        <a:rPr lang="en-IN" sz="1800" kern="100" spc="-10" dirty="0">
                          <a:effectLst/>
                        </a:rPr>
                        <a:t>estimate.</a:t>
                      </a:r>
                      <a:endParaRPr lang="en-IN" sz="1800" kern="100" spc="-10" dirty="0">
                        <a:effectLst/>
                      </a:endParaRPr>
                    </a:p>
                    <a:p>
                      <a:pPr marL="0" lvl="0" indent="0" algn="just">
                        <a:spcBef>
                          <a:spcPts val="240"/>
                        </a:spcBef>
                        <a:spcAft>
                          <a:spcPts val="0"/>
                        </a:spcAft>
                        <a:buClr>
                          <a:srgbClr val="333333"/>
                        </a:buClr>
                        <a:buSzPts val="1200"/>
                        <a:buFont typeface="Segoe UI Semibold" panose="020B0702040204020203" pitchFamily="34" charset="0"/>
                        <a:buNone/>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662632">
                <a:tc>
                  <a:txBody>
                    <a:bodyPr/>
                    <a:lstStyle/>
                    <a:p>
                      <a:pPr marL="76200">
                        <a:spcBef>
                          <a:spcPts val="565"/>
                        </a:spcBef>
                        <a:spcAft>
                          <a:spcPts val="0"/>
                        </a:spcAft>
                      </a:pPr>
                      <a:r>
                        <a:rPr lang="en-US" sz="1800" kern="100">
                          <a:effectLst/>
                        </a:rPr>
                        <a:t> </a:t>
                      </a:r>
                      <a:endParaRPr lang="en-IN" sz="1800" kern="100">
                        <a:effectLst/>
                      </a:endParaRPr>
                    </a:p>
                    <a:p>
                      <a:pPr marL="76200">
                        <a:spcBef>
                          <a:spcPts val="565"/>
                        </a:spcBef>
                        <a:spcAft>
                          <a:spcPts val="0"/>
                        </a:spcAft>
                      </a:pPr>
                      <a:r>
                        <a:rPr lang="en-US" sz="1800" kern="100">
                          <a:effectLst/>
                        </a:rPr>
                        <a:t> </a:t>
                      </a:r>
                      <a:endParaRPr lang="en-IN" sz="1800" kern="100">
                        <a:effectLst/>
                      </a:endParaRPr>
                    </a:p>
                    <a:p>
                      <a:pPr marL="76200">
                        <a:spcBef>
                          <a:spcPts val="32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Project</a:t>
                      </a:r>
                      <a:r>
                        <a:rPr lang="en-IN" sz="1800" kern="100" spc="-70">
                          <a:effectLst/>
                        </a:rPr>
                        <a:t> </a:t>
                      </a:r>
                      <a:r>
                        <a:rPr lang="en-IN" sz="1800" kern="100">
                          <a:effectLst/>
                        </a:rPr>
                        <a:t>Booking</a:t>
                      </a:r>
                      <a:r>
                        <a:rPr lang="en-IN" sz="1800" kern="100" spc="-80">
                          <a:effectLst/>
                        </a:rPr>
                        <a:t> </a:t>
                      </a:r>
                      <a:endParaRPr lang="en-IN" sz="1800" kern="100">
                        <a:effectLst/>
                      </a:endParaRPr>
                    </a:p>
                    <a:p>
                      <a:pPr>
                        <a:lnSpc>
                          <a:spcPct val="115000"/>
                        </a:lnSpc>
                        <a:spcAft>
                          <a:spcPts val="0"/>
                        </a:spcAft>
                      </a:pPr>
                      <a:r>
                        <a:rPr lang="en-IN" sz="1800" kern="100">
                          <a:effectLst/>
                        </a:rPr>
                        <a:t>&amp;</a:t>
                      </a:r>
                      <a:r>
                        <a:rPr lang="en-IN" sz="1800" kern="100" spc="-75">
                          <a:effectLst/>
                        </a:rPr>
                        <a:t> </a:t>
                      </a:r>
                      <a:r>
                        <a:rPr lang="en-IN" sz="1800" kern="100">
                          <a:effectLst/>
                        </a:rPr>
                        <a:t>Design </a:t>
                      </a:r>
                      <a:r>
                        <a:rPr lang="en-IN" sz="1800" kern="100" spc="-10">
                          <a:effectLst/>
                        </a:rPr>
                        <a:t>Initiation</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r>
                        <a:rPr lang="en-US" sz="1800" kern="100" dirty="0">
                          <a:effectLst/>
                        </a:rPr>
                        <a:t> </a:t>
                      </a:r>
                      <a:endParaRPr lang="en-IN" sz="1800" kern="100" dirty="0">
                        <a:effectLst/>
                      </a:endParaRPr>
                    </a:p>
                    <a:p>
                      <a:pPr marL="76200">
                        <a:spcBef>
                          <a:spcPts val="116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15%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Confirmation</a:t>
                      </a:r>
                      <a:r>
                        <a:rPr lang="en-US" sz="1800" kern="100" spc="-35" dirty="0">
                          <a:effectLst/>
                        </a:rPr>
                        <a:t> </a:t>
                      </a:r>
                      <a:r>
                        <a:rPr lang="en-US" sz="1800" kern="100" spc="0" dirty="0">
                          <a:effectLst/>
                        </a:rPr>
                        <a:t>of</a:t>
                      </a:r>
                      <a:r>
                        <a:rPr lang="en-US" sz="1800" kern="100" spc="-45" dirty="0">
                          <a:effectLst/>
                        </a:rPr>
                        <a:t> </a:t>
                      </a:r>
                      <a:r>
                        <a:rPr lang="en-US" sz="1800" kern="100" spc="0" dirty="0">
                          <a:effectLst/>
                        </a:rPr>
                        <a:t>project</a:t>
                      </a:r>
                      <a:r>
                        <a:rPr lang="en-US" sz="1800" kern="100" spc="-30" dirty="0">
                          <a:effectLst/>
                        </a:rPr>
                        <a:t> </a:t>
                      </a:r>
                      <a:r>
                        <a:rPr lang="en-US" sz="1800" kern="100" spc="-10" dirty="0">
                          <a:effectLst/>
                        </a:rPr>
                        <a:t>engagement.</a:t>
                      </a:r>
                      <a:endParaRPr lang="en-IN"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Detailed</a:t>
                      </a:r>
                      <a:r>
                        <a:rPr lang="en-US" sz="1800" kern="100" spc="-40" dirty="0">
                          <a:effectLst/>
                        </a:rPr>
                        <a:t> </a:t>
                      </a:r>
                      <a:r>
                        <a:rPr lang="en-US" sz="1800" kern="100" spc="0" dirty="0">
                          <a:effectLst/>
                        </a:rPr>
                        <a:t>site</a:t>
                      </a:r>
                      <a:r>
                        <a:rPr lang="en-US" sz="1800" kern="100" spc="-30" dirty="0">
                          <a:effectLst/>
                        </a:rPr>
                        <a:t> </a:t>
                      </a:r>
                      <a:r>
                        <a:rPr lang="en-US" sz="1800" kern="100" spc="0" dirty="0">
                          <a:effectLst/>
                        </a:rPr>
                        <a:t>measurement</a:t>
                      </a:r>
                      <a:r>
                        <a:rPr lang="en-US" sz="1800" kern="100" spc="-35" dirty="0">
                          <a:effectLst/>
                        </a:rPr>
                        <a:t> </a:t>
                      </a:r>
                      <a:r>
                        <a:rPr lang="en-US" sz="1800" kern="100" spc="0" dirty="0">
                          <a:effectLst/>
                        </a:rPr>
                        <a:t>and</a:t>
                      </a:r>
                      <a:r>
                        <a:rPr lang="en-US" sz="1800" kern="100" spc="-35" dirty="0">
                          <a:effectLst/>
                        </a:rPr>
                        <a:t> </a:t>
                      </a:r>
                      <a:r>
                        <a:rPr lang="en-US" sz="1800" kern="100" spc="0" dirty="0">
                          <a:effectLst/>
                        </a:rPr>
                        <a:t>technical</a:t>
                      </a:r>
                      <a:r>
                        <a:rPr lang="en-US" sz="1800" kern="100" spc="-15" dirty="0">
                          <a:effectLst/>
                        </a:rPr>
                        <a:t> </a:t>
                      </a:r>
                      <a:r>
                        <a:rPr lang="en-US" sz="1800" kern="100" spc="-10" dirty="0">
                          <a:effectLst/>
                        </a:rPr>
                        <a:t>assessment.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Design</a:t>
                      </a:r>
                      <a:r>
                        <a:rPr lang="en-US" sz="1800" kern="100" spc="-50" dirty="0">
                          <a:effectLst/>
                        </a:rPr>
                        <a:t> </a:t>
                      </a:r>
                      <a:r>
                        <a:rPr lang="en-US" sz="1800" kern="100" spc="0" dirty="0">
                          <a:effectLst/>
                        </a:rPr>
                        <a:t>development</a:t>
                      </a:r>
                      <a:r>
                        <a:rPr lang="en-US" sz="1800" kern="100" spc="-25" dirty="0">
                          <a:effectLst/>
                        </a:rPr>
                        <a:t> </a:t>
                      </a:r>
                      <a:r>
                        <a:rPr lang="en-US" sz="1800" kern="100" spc="0" dirty="0">
                          <a:effectLst/>
                        </a:rPr>
                        <a:t>discussions</a:t>
                      </a:r>
                      <a:r>
                        <a:rPr lang="en-US" sz="1800" kern="100" spc="-50" dirty="0">
                          <a:effectLst/>
                        </a:rPr>
                        <a:t> </a:t>
                      </a:r>
                      <a:r>
                        <a:rPr lang="en-US" sz="1800" kern="100" spc="0" dirty="0">
                          <a:effectLst/>
                        </a:rPr>
                        <a:t>and</a:t>
                      </a:r>
                      <a:r>
                        <a:rPr lang="en-US" sz="1800" kern="100" spc="-35" dirty="0">
                          <a:effectLst/>
                        </a:rPr>
                        <a:t> </a:t>
                      </a:r>
                      <a:r>
                        <a:rPr lang="en-US" sz="1800" kern="100" spc="0" dirty="0">
                          <a:effectLst/>
                        </a:rPr>
                        <a:t>layout</a:t>
                      </a:r>
                      <a:r>
                        <a:rPr lang="en-US" sz="1800" kern="100" spc="-30" dirty="0">
                          <a:effectLst/>
                        </a:rPr>
                        <a:t> </a:t>
                      </a:r>
                      <a:r>
                        <a:rPr lang="en-US" sz="1800" kern="100" spc="-10" dirty="0">
                          <a:effectLst/>
                        </a:rPr>
                        <a:t>planning.</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Selection</a:t>
                      </a:r>
                      <a:r>
                        <a:rPr lang="en-US" sz="1800" kern="100" spc="-55" dirty="0">
                          <a:effectLst/>
                        </a:rPr>
                        <a:t> </a:t>
                      </a:r>
                      <a:r>
                        <a:rPr lang="en-US" sz="1800" kern="100" spc="0" dirty="0">
                          <a:effectLst/>
                        </a:rPr>
                        <a:t>of</a:t>
                      </a:r>
                      <a:r>
                        <a:rPr lang="en-US" sz="1800" kern="100" spc="-35" dirty="0">
                          <a:effectLst/>
                        </a:rPr>
                        <a:t> </a:t>
                      </a:r>
                      <a:r>
                        <a:rPr lang="en-US" sz="1800" kern="100" spc="0" dirty="0">
                          <a:effectLst/>
                        </a:rPr>
                        <a:t>finishes,</a:t>
                      </a:r>
                      <a:r>
                        <a:rPr lang="en-US" sz="1800" kern="100" spc="-35" dirty="0">
                          <a:effectLst/>
                        </a:rPr>
                        <a:t> </a:t>
                      </a:r>
                      <a:r>
                        <a:rPr lang="en-US" sz="1800" kern="100" spc="0" dirty="0" err="1">
                          <a:effectLst/>
                        </a:rPr>
                        <a:t>colours</a:t>
                      </a:r>
                      <a:r>
                        <a:rPr lang="en-US" sz="1800" kern="100" spc="-10" dirty="0">
                          <a:effectLst/>
                        </a:rPr>
                        <a:t> </a:t>
                      </a:r>
                      <a:r>
                        <a:rPr lang="en-US" sz="1800" kern="100" spc="0" dirty="0">
                          <a:effectLst/>
                        </a:rPr>
                        <a:t>and</a:t>
                      </a:r>
                      <a:r>
                        <a:rPr lang="en-US" sz="1800" kern="100" spc="-40" dirty="0">
                          <a:effectLst/>
                        </a:rPr>
                        <a:t> </a:t>
                      </a:r>
                      <a:r>
                        <a:rPr lang="en-US" sz="1800" kern="100" spc="-10" dirty="0">
                          <a:effectLst/>
                        </a:rPr>
                        <a:t>accessories.</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Presentation</a:t>
                      </a:r>
                      <a:r>
                        <a:rPr lang="en-IN" sz="1800" kern="100" spc="-30" dirty="0">
                          <a:effectLst/>
                        </a:rPr>
                        <a:t> </a:t>
                      </a:r>
                      <a:r>
                        <a:rPr lang="en-IN" sz="1800" kern="100" dirty="0">
                          <a:effectLst/>
                        </a:rPr>
                        <a:t>of</a:t>
                      </a:r>
                      <a:r>
                        <a:rPr lang="en-IN" sz="1800" kern="100" spc="-50" dirty="0">
                          <a:effectLst/>
                        </a:rPr>
                        <a:t> </a:t>
                      </a:r>
                      <a:r>
                        <a:rPr lang="en-IN" sz="1800" kern="100" dirty="0">
                          <a:effectLst/>
                        </a:rPr>
                        <a:t>conceptual</a:t>
                      </a:r>
                      <a:r>
                        <a:rPr lang="en-IN" sz="1800" kern="100" spc="-40" dirty="0">
                          <a:effectLst/>
                        </a:rPr>
                        <a:t> </a:t>
                      </a:r>
                      <a:r>
                        <a:rPr lang="en-IN" sz="1800" kern="100" dirty="0">
                          <a:effectLst/>
                        </a:rPr>
                        <a:t>3D</a:t>
                      </a:r>
                      <a:r>
                        <a:rPr lang="en-IN" sz="1800" kern="100" spc="-50" dirty="0">
                          <a:effectLst/>
                        </a:rPr>
                        <a:t> </a:t>
                      </a:r>
                      <a:r>
                        <a:rPr lang="en-IN" sz="1800" kern="100" dirty="0">
                          <a:effectLst/>
                        </a:rPr>
                        <a:t>visualizations</a:t>
                      </a:r>
                      <a:r>
                        <a:rPr lang="en-IN" sz="1800" kern="100" spc="-40" dirty="0">
                          <a:effectLst/>
                        </a:rPr>
                        <a:t> </a:t>
                      </a:r>
                      <a:r>
                        <a:rPr lang="en-IN" sz="1800" kern="100" dirty="0">
                          <a:effectLst/>
                        </a:rPr>
                        <a:t>and</a:t>
                      </a:r>
                      <a:r>
                        <a:rPr lang="en-IN" sz="1800" kern="100" spc="-40" dirty="0">
                          <a:effectLst/>
                        </a:rPr>
                        <a:t> </a:t>
                      </a:r>
                      <a:r>
                        <a:rPr lang="en-IN" sz="1800" kern="100" dirty="0">
                          <a:effectLst/>
                        </a:rPr>
                        <a:t>design</a:t>
                      </a:r>
                      <a:r>
                        <a:rPr lang="en-IN" sz="1800" kern="100" spc="-40" dirty="0">
                          <a:effectLst/>
                        </a:rPr>
                        <a:t> </a:t>
                      </a:r>
                      <a:r>
                        <a:rPr lang="en-IN" sz="1800" kern="100" dirty="0">
                          <a:effectLst/>
                        </a:rPr>
                        <a:t>proposals</a:t>
                      </a:r>
                      <a:r>
                        <a:rPr lang="en-IN" sz="1800" kern="100" spc="-45" dirty="0">
                          <a:effectLst/>
                        </a:rPr>
                        <a:t> </a:t>
                      </a:r>
                      <a:r>
                        <a:rPr lang="en-IN" sz="1800" kern="100" dirty="0">
                          <a:effectLst/>
                        </a:rPr>
                        <a:t>for </a:t>
                      </a:r>
                      <a:r>
                        <a:rPr lang="en-IN" sz="1800" kern="100" spc="-10" dirty="0">
                          <a:effectLst/>
                        </a:rPr>
                        <a:t>approval.</a:t>
                      </a:r>
                      <a:endParaRPr lang="en-IN" sz="1800" kern="100" spc="-1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626385">
                <a:tc>
                  <a:txBody>
                    <a:bodyPr/>
                    <a:lstStyle/>
                    <a:p>
                      <a:pPr marL="76200">
                        <a:spcBef>
                          <a:spcPts val="565"/>
                        </a:spcBef>
                        <a:spcAft>
                          <a:spcPts val="0"/>
                        </a:spcAft>
                      </a:pPr>
                      <a:r>
                        <a:rPr lang="en-US" sz="1800" kern="100">
                          <a:effectLst/>
                        </a:rPr>
                        <a:t> </a:t>
                      </a:r>
                      <a:endParaRPr lang="en-IN" sz="1800" kern="100">
                        <a:effectLst/>
                      </a:endParaRPr>
                    </a:p>
                    <a:p>
                      <a:pPr marL="76200">
                        <a:spcBef>
                          <a:spcPts val="38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Design</a:t>
                      </a:r>
                      <a:r>
                        <a:rPr lang="en-IN" sz="1800" kern="100" spc="-65">
                          <a:effectLst/>
                        </a:rPr>
                        <a:t> </a:t>
                      </a:r>
                      <a:r>
                        <a:rPr lang="en-IN" sz="1800" kern="100">
                          <a:effectLst/>
                        </a:rPr>
                        <a:t>Approval</a:t>
                      </a:r>
                      <a:r>
                        <a:rPr lang="en-IN" sz="1800" kern="100" spc="-65">
                          <a:effectLst/>
                        </a:rPr>
                        <a:t> </a:t>
                      </a:r>
                      <a:endParaRPr lang="en-IN" sz="1800" kern="100">
                        <a:effectLst/>
                      </a:endParaRPr>
                    </a:p>
                    <a:p>
                      <a:pPr>
                        <a:lnSpc>
                          <a:spcPct val="115000"/>
                        </a:lnSpc>
                        <a:spcAft>
                          <a:spcPts val="0"/>
                        </a:spcAft>
                      </a:pPr>
                      <a:r>
                        <a:rPr lang="en-IN" sz="1800" kern="100">
                          <a:effectLst/>
                        </a:rPr>
                        <a:t>&amp; Production</a:t>
                      </a:r>
                      <a:r>
                        <a:rPr lang="en-IN" sz="1800" kern="100" spc="-65">
                          <a:effectLst/>
                        </a:rPr>
                        <a:t> </a:t>
                      </a:r>
                      <a:r>
                        <a:rPr lang="en-IN" sz="1800" kern="100" spc="-10">
                          <a:effectLst/>
                        </a:rPr>
                        <a:t>Release</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35%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Release</a:t>
                      </a:r>
                      <a:r>
                        <a:rPr lang="en-US" sz="1800" kern="100" spc="-50" dirty="0">
                          <a:effectLst/>
                        </a:rPr>
                        <a:t> </a:t>
                      </a:r>
                      <a:r>
                        <a:rPr lang="en-US" sz="1800" kern="100" spc="0" dirty="0">
                          <a:effectLst/>
                        </a:rPr>
                        <a:t>of</a:t>
                      </a:r>
                      <a:r>
                        <a:rPr lang="en-US" sz="1800" kern="100" spc="-50" dirty="0">
                          <a:effectLst/>
                        </a:rPr>
                        <a:t> </a:t>
                      </a:r>
                      <a:r>
                        <a:rPr lang="en-US" sz="1800" kern="100" spc="0" dirty="0">
                          <a:effectLst/>
                        </a:rPr>
                        <a:t>approved</a:t>
                      </a:r>
                      <a:r>
                        <a:rPr lang="en-US" sz="1800" kern="100" spc="-30" dirty="0">
                          <a:effectLst/>
                        </a:rPr>
                        <a:t> </a:t>
                      </a:r>
                      <a:r>
                        <a:rPr lang="en-US" sz="1800" kern="100" spc="0" dirty="0">
                          <a:effectLst/>
                        </a:rPr>
                        <a:t>designs</a:t>
                      </a:r>
                      <a:r>
                        <a:rPr lang="en-US" sz="1800" kern="100" spc="-40" dirty="0">
                          <a:effectLst/>
                        </a:rPr>
                        <a:t> </a:t>
                      </a:r>
                      <a:r>
                        <a:rPr lang="en-US" sz="1800" kern="100" spc="0" dirty="0">
                          <a:effectLst/>
                        </a:rPr>
                        <a:t>for</a:t>
                      </a:r>
                      <a:r>
                        <a:rPr lang="en-US" sz="1800" kern="100" spc="-45" dirty="0">
                          <a:effectLst/>
                        </a:rPr>
                        <a:t> </a:t>
                      </a:r>
                      <a:r>
                        <a:rPr lang="en-US" sz="1800" kern="100" spc="0" dirty="0">
                          <a:effectLst/>
                        </a:rPr>
                        <a:t>manufacturing</a:t>
                      </a:r>
                      <a:r>
                        <a:rPr lang="en-US" sz="1800" kern="100" spc="-15" dirty="0">
                          <a:effectLst/>
                        </a:rPr>
                        <a:t> </a:t>
                      </a:r>
                      <a:r>
                        <a:rPr lang="en-US" sz="1800" kern="100" spc="0" dirty="0">
                          <a:effectLst/>
                        </a:rPr>
                        <a:t>and</a:t>
                      </a:r>
                      <a:r>
                        <a:rPr lang="en-US" sz="1800" kern="100" spc="-35" dirty="0">
                          <a:effectLst/>
                        </a:rPr>
                        <a:t> </a:t>
                      </a:r>
                      <a:r>
                        <a:rPr lang="en-US" sz="1800" kern="100" spc="-10" dirty="0">
                          <a:effectLst/>
                        </a:rPr>
                        <a:t>production.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Procurement</a:t>
                      </a:r>
                      <a:r>
                        <a:rPr lang="en-US" sz="1800" kern="100" spc="-45" dirty="0">
                          <a:effectLst/>
                        </a:rPr>
                        <a:t> </a:t>
                      </a:r>
                      <a:r>
                        <a:rPr lang="en-US" sz="1800" kern="100" spc="0" dirty="0">
                          <a:effectLst/>
                        </a:rPr>
                        <a:t>planning</a:t>
                      </a:r>
                      <a:r>
                        <a:rPr lang="en-US" sz="1800" kern="100" spc="-35" dirty="0">
                          <a:effectLst/>
                        </a:rPr>
                        <a:t> </a:t>
                      </a:r>
                      <a:r>
                        <a:rPr lang="en-US" sz="1800" kern="100" spc="0" dirty="0">
                          <a:effectLst/>
                        </a:rPr>
                        <a:t>and</a:t>
                      </a:r>
                      <a:r>
                        <a:rPr lang="en-US" sz="1800" kern="100" spc="-45" dirty="0">
                          <a:effectLst/>
                        </a:rPr>
                        <a:t> </a:t>
                      </a:r>
                      <a:r>
                        <a:rPr lang="en-US" sz="1800" kern="100" spc="0" dirty="0">
                          <a:effectLst/>
                        </a:rPr>
                        <a:t>production</a:t>
                      </a:r>
                      <a:r>
                        <a:rPr lang="en-US" sz="1800" kern="100" spc="-50" dirty="0">
                          <a:effectLst/>
                        </a:rPr>
                        <a:t> </a:t>
                      </a:r>
                      <a:r>
                        <a:rPr lang="en-US" sz="1800" kern="100" spc="0" dirty="0">
                          <a:effectLst/>
                        </a:rPr>
                        <a:t>scheduling</a:t>
                      </a:r>
                      <a:r>
                        <a:rPr lang="en-US" sz="1800" kern="100" spc="-30" dirty="0">
                          <a:effectLst/>
                        </a:rPr>
                        <a:t> </a:t>
                      </a:r>
                      <a:r>
                        <a:rPr lang="en-US" sz="1800" kern="100" spc="-10" dirty="0">
                          <a:effectLst/>
                        </a:rPr>
                        <a:t>commence.</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No</a:t>
                      </a:r>
                      <a:r>
                        <a:rPr lang="en-US" sz="1800" kern="100" spc="-55" dirty="0">
                          <a:effectLst/>
                        </a:rPr>
                        <a:t> </a:t>
                      </a:r>
                      <a:r>
                        <a:rPr lang="en-US" sz="1800" kern="100" spc="0" dirty="0">
                          <a:effectLst/>
                        </a:rPr>
                        <a:t>modifications</a:t>
                      </a:r>
                      <a:r>
                        <a:rPr lang="en-US" sz="1800" kern="100" spc="-35" dirty="0">
                          <a:effectLst/>
                        </a:rPr>
                        <a:t> to the </a:t>
                      </a:r>
                      <a:r>
                        <a:rPr lang="en-US" sz="1800" kern="100" spc="0" dirty="0">
                          <a:effectLst/>
                        </a:rPr>
                        <a:t>approved</a:t>
                      </a:r>
                      <a:r>
                        <a:rPr lang="en-US" sz="1800" kern="100" spc="-20" dirty="0">
                          <a:effectLst/>
                        </a:rPr>
                        <a:t> </a:t>
                      </a:r>
                      <a:r>
                        <a:rPr lang="en-US" sz="1800" kern="100" spc="0" dirty="0">
                          <a:effectLst/>
                        </a:rPr>
                        <a:t>designs,</a:t>
                      </a:r>
                      <a:r>
                        <a:rPr lang="en-US" sz="1800" kern="100" spc="-30" dirty="0">
                          <a:effectLst/>
                        </a:rPr>
                        <a:t> </a:t>
                      </a:r>
                      <a:r>
                        <a:rPr lang="en-US" sz="1800" kern="100" spc="0" dirty="0">
                          <a:effectLst/>
                        </a:rPr>
                        <a:t>dimensions,</a:t>
                      </a:r>
                      <a:r>
                        <a:rPr lang="en-US" sz="1800" kern="100" spc="-40" dirty="0">
                          <a:effectLst/>
                        </a:rPr>
                        <a:t> </a:t>
                      </a:r>
                      <a:r>
                        <a:rPr lang="en-US" sz="1800" kern="100" spc="0" dirty="0">
                          <a:effectLst/>
                        </a:rPr>
                        <a:t>or</a:t>
                      </a:r>
                      <a:r>
                        <a:rPr lang="en-US" sz="1800" kern="100" spc="-35" dirty="0">
                          <a:effectLst/>
                        </a:rPr>
                        <a:t> </a:t>
                      </a:r>
                      <a:r>
                        <a:rPr lang="en-US" sz="1800" kern="100" spc="0" dirty="0">
                          <a:effectLst/>
                        </a:rPr>
                        <a:t>specifications</a:t>
                      </a:r>
                      <a:r>
                        <a:rPr lang="en-US" sz="1800" kern="100" spc="-40" dirty="0">
                          <a:effectLst/>
                        </a:rPr>
                        <a:t> </a:t>
                      </a:r>
                      <a:r>
                        <a:rPr lang="en-US" sz="1800" kern="100" spc="0" dirty="0">
                          <a:effectLst/>
                        </a:rPr>
                        <a:t>shall</a:t>
                      </a:r>
                      <a:r>
                        <a:rPr lang="en-US" sz="1800" kern="100" spc="-35" dirty="0">
                          <a:effectLst/>
                        </a:rPr>
                        <a:t> </a:t>
                      </a:r>
                      <a:r>
                        <a:rPr lang="en-US" sz="1800" kern="100" spc="-25" dirty="0">
                          <a:effectLst/>
                        </a:rPr>
                        <a:t>be </a:t>
                      </a:r>
                      <a:r>
                        <a:rPr lang="en-IN" sz="1800" kern="100" dirty="0">
                          <a:effectLst/>
                        </a:rPr>
                        <a:t>permitted</a:t>
                      </a:r>
                      <a:r>
                        <a:rPr lang="en-IN" sz="1800" kern="100" spc="-10" dirty="0">
                          <a:effectLst/>
                        </a:rPr>
                        <a:t> </a:t>
                      </a:r>
                      <a:r>
                        <a:rPr lang="en-IN" sz="1800" kern="100" dirty="0">
                          <a:effectLst/>
                        </a:rPr>
                        <a:t>after</a:t>
                      </a:r>
                      <a:r>
                        <a:rPr lang="en-IN" sz="1800" kern="100" spc="-15" dirty="0">
                          <a:effectLst/>
                        </a:rPr>
                        <a:t> </a:t>
                      </a:r>
                      <a:r>
                        <a:rPr lang="en-IN" sz="1800" kern="100" dirty="0">
                          <a:effectLst/>
                        </a:rPr>
                        <a:t>this</a:t>
                      </a:r>
                      <a:r>
                        <a:rPr lang="en-IN" sz="1800" kern="100" spc="-35" dirty="0">
                          <a:effectLst/>
                        </a:rPr>
                        <a:t> </a:t>
                      </a:r>
                      <a:r>
                        <a:rPr lang="en-IN" sz="1800" kern="100" spc="-10" dirty="0">
                          <a:effectLst/>
                        </a:rPr>
                        <a:t>stage.</a:t>
                      </a:r>
                      <a:endParaRPr lang="en-IN" sz="1800" kern="100" spc="-1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188836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endParaRPr lang="en-IN" sz="1800" kern="100" dirty="0">
                        <a:effectLst/>
                      </a:endParaRPr>
                    </a:p>
                    <a:p>
                      <a:pPr marL="76200">
                        <a:spcBef>
                          <a:spcPts val="565"/>
                        </a:spcBef>
                        <a:spcAft>
                          <a:spcPts val="0"/>
                        </a:spcAft>
                      </a:pPr>
                      <a:r>
                        <a:rPr lang="en-IN" sz="1800" kern="100" dirty="0">
                          <a:effectLst/>
                        </a:rPr>
                        <a:t>Production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QC Clearance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40%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65" dirty="0">
                          <a:effectLst/>
                        </a:rPr>
                        <a:t> </a:t>
                      </a:r>
                      <a:r>
                        <a:rPr lang="en-US" sz="1800" kern="100" spc="0" dirty="0">
                          <a:effectLst/>
                        </a:rPr>
                        <a:t>of</a:t>
                      </a:r>
                      <a:r>
                        <a:rPr lang="en-US" sz="1800" kern="100" spc="-55" dirty="0">
                          <a:effectLst/>
                        </a:rPr>
                        <a:t> </a:t>
                      </a:r>
                      <a:r>
                        <a:rPr lang="en-US" sz="1800" kern="100" spc="0" dirty="0">
                          <a:effectLst/>
                        </a:rPr>
                        <a:t>manufacturing</a:t>
                      </a:r>
                      <a:r>
                        <a:rPr lang="en-US" sz="1800" kern="100" spc="-20" dirty="0">
                          <a:effectLst/>
                        </a:rPr>
                        <a:t> </a:t>
                      </a:r>
                      <a:r>
                        <a:rPr lang="en-US" sz="1800" kern="100" spc="-10" dirty="0">
                          <a:effectLst/>
                        </a:rPr>
                        <a:t>activities.</a:t>
                      </a:r>
                      <a:endParaRPr lang="en-IN" sz="1800" kern="100" spc="0" dirty="0">
                        <a:effectLst/>
                      </a:endParaRPr>
                    </a:p>
                    <a:p>
                      <a:pPr marL="342900" marR="87757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Comprehensive</a:t>
                      </a:r>
                      <a:r>
                        <a:rPr lang="en-US" sz="1800" kern="100" spc="-35" dirty="0">
                          <a:effectLst/>
                        </a:rPr>
                        <a:t> </a:t>
                      </a:r>
                      <a:r>
                        <a:rPr lang="en-US" sz="1800" kern="100" spc="0" dirty="0">
                          <a:effectLst/>
                        </a:rPr>
                        <a:t>Quality</a:t>
                      </a:r>
                      <a:r>
                        <a:rPr lang="en-US" sz="1800" kern="100" spc="-35" dirty="0">
                          <a:effectLst/>
                        </a:rPr>
                        <a:t> </a:t>
                      </a:r>
                      <a:r>
                        <a:rPr lang="en-US" sz="1800" kern="100" spc="0" dirty="0">
                          <a:effectLst/>
                        </a:rPr>
                        <a:t>Control</a:t>
                      </a:r>
                      <a:r>
                        <a:rPr lang="en-US" sz="1800" kern="100" spc="-35" dirty="0">
                          <a:effectLst/>
                        </a:rPr>
                        <a:t> </a:t>
                      </a:r>
                      <a:r>
                        <a:rPr lang="en-US" sz="1800" kern="100" spc="0" dirty="0">
                          <a:effectLst/>
                        </a:rPr>
                        <a:t>(QC)</a:t>
                      </a:r>
                      <a:r>
                        <a:rPr lang="en-US" sz="1800" kern="100" spc="-20" dirty="0">
                          <a:effectLst/>
                        </a:rPr>
                        <a:t> </a:t>
                      </a:r>
                      <a:r>
                        <a:rPr lang="en-US" sz="1800" kern="100" spc="0" dirty="0">
                          <a:effectLst/>
                        </a:rPr>
                        <a:t>inspection</a:t>
                      </a:r>
                      <a:r>
                        <a:rPr lang="en-US" sz="1800" kern="100" spc="-50" dirty="0">
                          <a:effectLst/>
                        </a:rPr>
                        <a:t> </a:t>
                      </a:r>
                      <a:r>
                        <a:rPr lang="en-US" sz="1800" kern="100" spc="0" dirty="0">
                          <a:effectLst/>
                        </a:rPr>
                        <a:t>of</a:t>
                      </a:r>
                      <a:r>
                        <a:rPr lang="en-US" sz="1800" kern="100" spc="-40" dirty="0">
                          <a:effectLst/>
                        </a:rPr>
                        <a:t> </a:t>
                      </a:r>
                      <a:r>
                        <a:rPr lang="en-US" sz="1800" kern="100" spc="0" dirty="0">
                          <a:effectLst/>
                        </a:rPr>
                        <a:t>all</a:t>
                      </a:r>
                      <a:r>
                        <a:rPr lang="en-US" sz="1800" kern="100" spc="-45" dirty="0">
                          <a:effectLst/>
                        </a:rPr>
                        <a:t> </a:t>
                      </a:r>
                      <a:r>
                        <a:rPr lang="en-US" sz="1800" kern="100" spc="0" dirty="0">
                          <a:effectLst/>
                        </a:rPr>
                        <a:t>materials</a:t>
                      </a:r>
                      <a:r>
                        <a:rPr lang="en-US" sz="1800" kern="100" spc="-40" dirty="0">
                          <a:effectLst/>
                        </a:rPr>
                        <a:t> </a:t>
                      </a:r>
                      <a:r>
                        <a:rPr lang="en-US" sz="1800" kern="100" spc="0" dirty="0">
                          <a:effectLst/>
                        </a:rPr>
                        <a:t>and </a:t>
                      </a:r>
                      <a:r>
                        <a:rPr lang="en-US" sz="1800" kern="100" spc="-10" dirty="0">
                          <a:effectLst/>
                        </a:rPr>
                        <a:t>components.</a:t>
                      </a:r>
                      <a:endParaRPr lang="en-IN" sz="1800" kern="100" spc="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Approval</a:t>
                      </a:r>
                      <a:r>
                        <a:rPr lang="en-US" sz="1800" kern="100" spc="-35" dirty="0">
                          <a:effectLst/>
                        </a:rPr>
                        <a:t> </a:t>
                      </a:r>
                      <a:r>
                        <a:rPr lang="en-US" sz="1800" kern="100" spc="0" dirty="0">
                          <a:effectLst/>
                        </a:rPr>
                        <a:t>for</a:t>
                      </a:r>
                      <a:r>
                        <a:rPr lang="en-US" sz="1800" kern="100" spc="-40" dirty="0">
                          <a:effectLst/>
                        </a:rPr>
                        <a:t> </a:t>
                      </a:r>
                      <a:r>
                        <a:rPr lang="en-US" sz="1800" kern="100" spc="0" dirty="0">
                          <a:effectLst/>
                        </a:rPr>
                        <a:t>dispatch</a:t>
                      </a:r>
                      <a:r>
                        <a:rPr lang="en-US" sz="1800" kern="100" spc="-20" dirty="0">
                          <a:effectLst/>
                        </a:rPr>
                        <a:t> </a:t>
                      </a:r>
                      <a:r>
                        <a:rPr lang="en-US" sz="1800" kern="100" spc="0" dirty="0">
                          <a:effectLst/>
                        </a:rPr>
                        <a:t>from</a:t>
                      </a:r>
                      <a:r>
                        <a:rPr lang="en-US" sz="1800" kern="100" spc="-35" dirty="0">
                          <a:effectLst/>
                        </a:rPr>
                        <a:t> </a:t>
                      </a:r>
                      <a:r>
                        <a:rPr lang="en-US" sz="1800" kern="100" spc="0" dirty="0">
                          <a:effectLst/>
                        </a:rPr>
                        <a:t>the</a:t>
                      </a:r>
                      <a:r>
                        <a:rPr lang="en-US" sz="1800" kern="100" spc="-30" dirty="0">
                          <a:effectLst/>
                        </a:rPr>
                        <a:t> Factory </a:t>
                      </a:r>
                      <a:r>
                        <a:rPr lang="en-US" sz="1800" kern="100" spc="0" dirty="0">
                          <a:effectLst/>
                        </a:rPr>
                        <a:t>to</a:t>
                      </a:r>
                      <a:r>
                        <a:rPr lang="en-US" sz="1800" kern="100" spc="-35" dirty="0">
                          <a:effectLst/>
                        </a:rPr>
                        <a:t> </a:t>
                      </a:r>
                      <a:r>
                        <a:rPr lang="en-US" sz="1800" kern="100" spc="0" dirty="0">
                          <a:effectLst/>
                        </a:rPr>
                        <a:t>the</a:t>
                      </a:r>
                      <a:r>
                        <a:rPr lang="en-US" sz="1800" kern="100" spc="-30" dirty="0">
                          <a:effectLst/>
                        </a:rPr>
                        <a:t> </a:t>
                      </a:r>
                      <a:r>
                        <a:rPr lang="en-US" sz="1800" kern="100" spc="0" dirty="0">
                          <a:effectLst/>
                        </a:rPr>
                        <a:t>project</a:t>
                      </a:r>
                      <a:r>
                        <a:rPr lang="en-US" sz="1800" kern="100" spc="-30" dirty="0">
                          <a:effectLst/>
                        </a:rPr>
                        <a:t> </a:t>
                      </a:r>
                      <a:r>
                        <a:rPr lang="en-US" sz="1800" kern="100" spc="-10" dirty="0">
                          <a:effectLst/>
                        </a:rPr>
                        <a:t>site.</a:t>
                      </a:r>
                      <a:endParaRPr lang="en-US" sz="1800" kern="100" spc="-1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Payment</a:t>
                      </a:r>
                      <a:r>
                        <a:rPr lang="en-IN" sz="1800" kern="100" spc="-45" dirty="0">
                          <a:effectLst/>
                        </a:rPr>
                        <a:t> </a:t>
                      </a:r>
                      <a:r>
                        <a:rPr lang="en-IN" sz="1800" kern="100" dirty="0">
                          <a:effectLst/>
                        </a:rPr>
                        <a:t>due</a:t>
                      </a:r>
                      <a:r>
                        <a:rPr lang="en-IN" sz="1800" kern="100" spc="-30" dirty="0">
                          <a:effectLst/>
                        </a:rPr>
                        <a:t> before </a:t>
                      </a:r>
                      <a:r>
                        <a:rPr lang="en-IN" sz="1800" kern="100" dirty="0">
                          <a:effectLst/>
                        </a:rPr>
                        <a:t>material</a:t>
                      </a:r>
                      <a:r>
                        <a:rPr lang="en-IN" sz="1800" kern="100" spc="-35" dirty="0">
                          <a:effectLst/>
                        </a:rPr>
                        <a:t> </a:t>
                      </a:r>
                      <a:r>
                        <a:rPr lang="en-IN" sz="1800" kern="100" dirty="0">
                          <a:effectLst/>
                        </a:rPr>
                        <a:t>dispatch</a:t>
                      </a:r>
                      <a:r>
                        <a:rPr lang="en-IN" sz="1800" kern="100" spc="-20" dirty="0">
                          <a:effectLst/>
                        </a:rPr>
                        <a:t> </a:t>
                      </a:r>
                      <a:r>
                        <a:rPr lang="en-IN" sz="1800" kern="100" dirty="0">
                          <a:effectLst/>
                        </a:rPr>
                        <a:t>and</a:t>
                      </a:r>
                      <a:r>
                        <a:rPr lang="en-IN" sz="1800" kern="100" spc="-30" dirty="0">
                          <a:effectLst/>
                        </a:rPr>
                        <a:t> </a:t>
                      </a:r>
                      <a:r>
                        <a:rPr lang="en-IN" sz="1800" kern="100" spc="-10" dirty="0">
                          <a:effectLst/>
                        </a:rPr>
                        <a:t>commencement of site installation.</a:t>
                      </a:r>
                      <a:endParaRPr lang="en-IN" sz="1800" kern="100" spc="-1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r h="2823338">
                <a:tc>
                  <a:txBody>
                    <a:bodyPr/>
                    <a:lstStyle/>
                    <a:p>
                      <a:pPr marL="76200">
                        <a:spcBef>
                          <a:spcPts val="93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dirty="0">
                        <a:effectLst/>
                      </a:endParaRPr>
                    </a:p>
                    <a:p>
                      <a:pPr>
                        <a:lnSpc>
                          <a:spcPct val="115000"/>
                        </a:lnSpc>
                        <a:spcAft>
                          <a:spcPts val="0"/>
                        </a:spcAft>
                      </a:pPr>
                      <a:r>
                        <a:rPr lang="en-IN" sz="1800" kern="100" dirty="0">
                          <a:effectLst/>
                        </a:rPr>
                        <a:t>Installation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Handover 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6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10%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50" dirty="0">
                          <a:effectLst/>
                        </a:rPr>
                        <a:t> </a:t>
                      </a:r>
                      <a:r>
                        <a:rPr lang="en-US" sz="1800" kern="100" spc="0" dirty="0">
                          <a:effectLst/>
                        </a:rPr>
                        <a:t>of</a:t>
                      </a:r>
                      <a:r>
                        <a:rPr lang="en-US" sz="1800" kern="100" spc="-35" dirty="0">
                          <a:effectLst/>
                        </a:rPr>
                        <a:t> </a:t>
                      </a:r>
                      <a:r>
                        <a:rPr lang="en-US" sz="1800" kern="100" spc="0" dirty="0">
                          <a:effectLst/>
                        </a:rPr>
                        <a:t>modular</a:t>
                      </a:r>
                      <a:r>
                        <a:rPr lang="en-US" sz="1800" kern="100" spc="-20" dirty="0">
                          <a:effectLst/>
                        </a:rPr>
                        <a:t> </a:t>
                      </a:r>
                      <a:r>
                        <a:rPr lang="en-US" sz="1800" kern="100" spc="0" dirty="0">
                          <a:effectLst/>
                        </a:rPr>
                        <a:t>woodwork</a:t>
                      </a:r>
                      <a:r>
                        <a:rPr lang="en-US" sz="1800" kern="100" spc="-60" dirty="0">
                          <a:effectLst/>
                        </a:rPr>
                        <a:t> </a:t>
                      </a:r>
                      <a:r>
                        <a:rPr lang="en-US" sz="1800" kern="100" spc="0" dirty="0">
                          <a:effectLst/>
                        </a:rPr>
                        <a:t>installation</a:t>
                      </a:r>
                      <a:r>
                        <a:rPr lang="en-US" sz="1800" kern="100" spc="-25" dirty="0">
                          <a:effectLst/>
                        </a:rPr>
                        <a:t> </a:t>
                      </a:r>
                      <a:r>
                        <a:rPr lang="en-US" sz="1800" kern="100" spc="0" dirty="0">
                          <a:effectLst/>
                        </a:rPr>
                        <a:t>at</a:t>
                      </a:r>
                      <a:r>
                        <a:rPr lang="en-US" sz="1800" kern="100" spc="-20" dirty="0">
                          <a:effectLst/>
                        </a:rPr>
                        <a:t> the </a:t>
                      </a:r>
                      <a:r>
                        <a:rPr lang="en-US" sz="1800" kern="100" spc="-10" dirty="0">
                          <a:effectLst/>
                        </a:rPr>
                        <a:t>site.</a:t>
                      </a:r>
                      <a:endParaRPr lang="en-IN"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Final</a:t>
                      </a:r>
                      <a:r>
                        <a:rPr lang="en-US" sz="1800" kern="100" spc="-45" dirty="0">
                          <a:effectLst/>
                        </a:rPr>
                        <a:t> </a:t>
                      </a:r>
                      <a:r>
                        <a:rPr lang="en-US" sz="1800" kern="100" spc="0" dirty="0">
                          <a:effectLst/>
                        </a:rPr>
                        <a:t>payment</a:t>
                      </a:r>
                      <a:r>
                        <a:rPr lang="en-US" sz="1800" kern="100" spc="-40" dirty="0">
                          <a:effectLst/>
                        </a:rPr>
                        <a:t> is </a:t>
                      </a:r>
                      <a:r>
                        <a:rPr lang="en-US" sz="1800" kern="100" spc="0" dirty="0">
                          <a:effectLst/>
                        </a:rPr>
                        <a:t>due</a:t>
                      </a:r>
                      <a:r>
                        <a:rPr lang="en-US" sz="1800" kern="100" spc="-40" dirty="0">
                          <a:effectLst/>
                        </a:rPr>
                        <a:t> </a:t>
                      </a:r>
                      <a:r>
                        <a:rPr lang="en-US" sz="1800" kern="100" spc="0" dirty="0">
                          <a:effectLst/>
                        </a:rPr>
                        <a:t>before the</a:t>
                      </a:r>
                      <a:r>
                        <a:rPr lang="en-US" sz="1800" kern="100" spc="-40" dirty="0">
                          <a:effectLst/>
                        </a:rPr>
                        <a:t> </a:t>
                      </a:r>
                      <a:r>
                        <a:rPr lang="en-US" sz="1800" kern="100" spc="0" dirty="0">
                          <a:effectLst/>
                        </a:rPr>
                        <a:t>installation</a:t>
                      </a:r>
                      <a:r>
                        <a:rPr lang="en-US" sz="1800" kern="100" spc="-40" dirty="0">
                          <a:effectLst/>
                        </a:rPr>
                        <a:t> </a:t>
                      </a:r>
                      <a:r>
                        <a:rPr lang="en-US" sz="1800" kern="100" spc="0" dirty="0">
                          <a:effectLst/>
                        </a:rPr>
                        <a:t>of</a:t>
                      </a:r>
                      <a:r>
                        <a:rPr lang="en-US" sz="1800" kern="100" spc="-40" dirty="0">
                          <a:effectLst/>
                        </a:rPr>
                        <a:t> </a:t>
                      </a:r>
                      <a:r>
                        <a:rPr lang="en-US" sz="1800" kern="100" spc="0" dirty="0">
                          <a:effectLst/>
                        </a:rPr>
                        <a:t>accessories,</a:t>
                      </a:r>
                      <a:r>
                        <a:rPr lang="en-US" sz="1800" kern="100" spc="-60" dirty="0">
                          <a:effectLst/>
                        </a:rPr>
                        <a:t> </a:t>
                      </a:r>
                      <a:r>
                        <a:rPr lang="en-US" sz="1800" kern="100" spc="0" dirty="0">
                          <a:effectLst/>
                        </a:rPr>
                        <a:t>hardware</a:t>
                      </a:r>
                      <a:r>
                        <a:rPr lang="en-US" sz="1800" kern="100" spc="-40" dirty="0">
                          <a:effectLst/>
                        </a:rPr>
                        <a:t> </a:t>
                      </a:r>
                      <a:r>
                        <a:rPr lang="en-US" sz="1800" kern="100" spc="0" dirty="0">
                          <a:effectLst/>
                        </a:rPr>
                        <a:t>and finishing elements.</a:t>
                      </a:r>
                      <a:endParaRPr lang="en-US"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IN" sz="1800" kern="100" dirty="0">
                          <a:effectLst/>
                        </a:rPr>
                        <a:t>The project</a:t>
                      </a:r>
                      <a:r>
                        <a:rPr lang="en-IN" sz="1800" kern="100" spc="-45" dirty="0">
                          <a:effectLst/>
                        </a:rPr>
                        <a:t> </a:t>
                      </a:r>
                      <a:r>
                        <a:rPr lang="en-IN" sz="1800" kern="100" dirty="0">
                          <a:effectLst/>
                        </a:rPr>
                        <a:t>proceeds</a:t>
                      </a:r>
                      <a:r>
                        <a:rPr lang="en-IN" sz="1800" kern="100" spc="-45" dirty="0">
                          <a:effectLst/>
                        </a:rPr>
                        <a:t> </a:t>
                      </a:r>
                      <a:r>
                        <a:rPr lang="en-IN" sz="1800" kern="100" dirty="0">
                          <a:effectLst/>
                        </a:rPr>
                        <a:t>to</a:t>
                      </a:r>
                      <a:r>
                        <a:rPr lang="en-IN" sz="1800" kern="100" spc="-30" dirty="0">
                          <a:effectLst/>
                        </a:rPr>
                        <a:t> the </a:t>
                      </a:r>
                      <a:r>
                        <a:rPr lang="en-IN" sz="1800" kern="100" dirty="0">
                          <a:effectLst/>
                        </a:rPr>
                        <a:t>final</a:t>
                      </a:r>
                      <a:r>
                        <a:rPr lang="en-IN" sz="1800" kern="100" spc="-30" dirty="0">
                          <a:effectLst/>
                        </a:rPr>
                        <a:t> </a:t>
                      </a:r>
                      <a:r>
                        <a:rPr lang="en-IN" sz="1800" kern="100" dirty="0">
                          <a:effectLst/>
                        </a:rPr>
                        <a:t>quality</a:t>
                      </a:r>
                      <a:r>
                        <a:rPr lang="en-IN" sz="1800" kern="100" spc="-35" dirty="0">
                          <a:effectLst/>
                        </a:rPr>
                        <a:t> </a:t>
                      </a:r>
                      <a:r>
                        <a:rPr lang="en-IN" sz="1800" kern="100" dirty="0">
                          <a:effectLst/>
                        </a:rPr>
                        <a:t>inspection,</a:t>
                      </a:r>
                      <a:r>
                        <a:rPr lang="en-IN" sz="1800" kern="100" spc="-35" dirty="0">
                          <a:effectLst/>
                        </a:rPr>
                        <a:t> </a:t>
                      </a:r>
                      <a:r>
                        <a:rPr lang="en-IN" sz="1800" kern="100" dirty="0">
                          <a:effectLst/>
                        </a:rPr>
                        <a:t>and</a:t>
                      </a:r>
                      <a:r>
                        <a:rPr lang="en-IN" sz="1800" kern="100" spc="-35" dirty="0">
                          <a:effectLst/>
                        </a:rPr>
                        <a:t> </a:t>
                      </a:r>
                      <a:r>
                        <a:rPr lang="en-IN" sz="1800" kern="100" dirty="0">
                          <a:effectLst/>
                        </a:rPr>
                        <a:t>handover</a:t>
                      </a:r>
                      <a:r>
                        <a:rPr lang="en-IN" sz="1800" kern="100" spc="-30" dirty="0">
                          <a:effectLst/>
                        </a:rPr>
                        <a:t> </a:t>
                      </a:r>
                      <a:r>
                        <a:rPr lang="en-IN" sz="1800" kern="100" spc="-10" dirty="0">
                          <a:effectLst/>
                        </a:rPr>
                        <a:t>process.</a:t>
                      </a:r>
                      <a:endParaRPr lang="en-IN" sz="1800" kern="100" spc="-1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10" dirty="0">
                          <a:effectLst/>
                          <a:latin typeface="Calibri" panose="020F0502020204030204" pitchFamily="34" charset="0"/>
                          <a:ea typeface="Calibri" panose="020F0502020204030204" pitchFamily="34" charset="0"/>
                          <a:cs typeface="Times New Roman" panose="02020603050405020304" pitchFamily="18" charset="0"/>
                        </a:rPr>
                        <a:t>A 1</a:t>
                      </a:r>
                      <a:r>
                        <a:rPr lang="en-IN" sz="1800" kern="100" spc="-10" dirty="0">
                          <a:effectLst/>
                          <a:latin typeface="Calibri" panose="020F0502020204030204" pitchFamily="34" charset="0"/>
                          <a:ea typeface="Calibri" panose="020F0502020204030204" pitchFamily="34" charset="0"/>
                          <a:cs typeface="Times New Roman" panose="02020603050405020304" pitchFamily="18" charset="0"/>
                        </a:rPr>
                        <a:t>0 - Years Guarantee Certificate will be provided, For Applicable Variants.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r>
            </a:tbl>
          </a:graphicData>
        </a:graphic>
      </p:graphicFrame>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60500"/>
            <a:ext cx="8686800" cy="11541621"/>
          </a:xfrm>
          <a:prstGeom prst="rect">
            <a:avLst/>
          </a:prstGeom>
        </p:spPr>
        <p:txBody>
          <a:bodyPr wrap="square">
            <a:spAutoFit/>
          </a:bodyPr>
          <a:lstStyle/>
          <a:p>
            <a:pPr algn="ctr"/>
            <a:r>
              <a:rPr lang="en-US" sz="2000" b="1" dirty="0">
                <a:solidFill>
                  <a:srgbClr val="C00000"/>
                </a:solidFill>
              </a:rPr>
              <a:t>TERMS &amp; CONDITIONS</a:t>
            </a:r>
            <a:endParaRPr lang="en-US" sz="2000" b="1" dirty="0">
              <a:solidFill>
                <a:srgbClr val="C00000"/>
              </a:solidFill>
            </a:endParaRPr>
          </a:p>
          <a:p>
            <a:pPr algn="just"/>
            <a:endParaRPr lang="en-US" b="1" dirty="0">
              <a:solidFill>
                <a:srgbClr val="C00000"/>
              </a:solidFill>
            </a:endParaRPr>
          </a:p>
          <a:p>
            <a:pPr algn="just"/>
            <a:r>
              <a:rPr lang="en-US" b="1" dirty="0">
                <a:solidFill>
                  <a:srgbClr val="000000"/>
                </a:solidFill>
                <a:latin typeface="Calibri" panose="020F0502020204030204" pitchFamily="34" charset="0"/>
              </a:rPr>
              <a:t>1. Builder &amp; Site-Related Delays: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shall not be responsible for delays arising from builder-related activities, pending civil works, Pending </a:t>
            </a:r>
            <a:r>
              <a:rPr lang="en-US" b="1" dirty="0">
                <a:solidFill>
                  <a:srgbClr val="000000"/>
                </a:solidFill>
                <a:latin typeface="Calibri" panose="020F0502020204030204" pitchFamily="34" charset="0"/>
              </a:rPr>
              <a:t>Plumbing and Electrical Works,</a:t>
            </a:r>
            <a:r>
              <a:rPr lang="en-US" dirty="0">
                <a:solidFill>
                  <a:srgbClr val="000000"/>
                </a:solidFill>
                <a:latin typeface="Calibri" panose="020F0502020204030204" pitchFamily="34" charset="0"/>
              </a:rPr>
              <a:t> site readiness issues or other third-party dependencies. Any such delays may affect the overall project timeline.</a:t>
            </a:r>
            <a:endParaRPr lang="en-US" dirty="0"/>
          </a:p>
          <a:p>
            <a:pPr algn="just"/>
            <a:br>
              <a:rPr lang="en-US" b="1" dirty="0"/>
            </a:br>
            <a:r>
              <a:rPr lang="en-US" b="1" dirty="0">
                <a:solidFill>
                  <a:srgbClr val="000000"/>
                </a:solidFill>
                <a:latin typeface="Calibri" panose="020F0502020204030204" pitchFamily="34" charset="0"/>
              </a:rPr>
              <a:t>2. Payment-Linked Material Supply: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materials shall be invoiced prior to dispatch. Procurement, Production, Quality Certification and dispatch the </a:t>
            </a:r>
            <a:r>
              <a:rPr lang="en-US" b="1" dirty="0">
                <a:solidFill>
                  <a:srgbClr val="000000"/>
                </a:solidFill>
                <a:latin typeface="Calibri" panose="020F0502020204030204" pitchFamily="34" charset="0"/>
              </a:rPr>
              <a:t>installation activities are subject to the receipt of the respective payment </a:t>
            </a:r>
            <a:r>
              <a:rPr lang="en-US" dirty="0">
                <a:solidFill>
                  <a:srgbClr val="000000"/>
                </a:solidFill>
                <a:latin typeface="Calibri" panose="020F0502020204030204" pitchFamily="34" charset="0"/>
              </a:rPr>
              <a:t>as per the agreed payment schedule.</a:t>
            </a:r>
            <a:endParaRPr lang="en-US" dirty="0"/>
          </a:p>
          <a:p>
            <a:pPr algn="just"/>
            <a:br>
              <a:rPr lang="en-US" b="1" dirty="0"/>
            </a:br>
            <a:r>
              <a:rPr lang="en-US" b="1" dirty="0">
                <a:solidFill>
                  <a:srgbClr val="000000"/>
                </a:solidFill>
                <a:latin typeface="Calibri" panose="020F0502020204030204" pitchFamily="34" charset="0"/>
              </a:rPr>
              <a:t>3. Additional Transportation &amp; </a:t>
            </a:r>
            <a:r>
              <a:rPr lang="en-US" b="1" dirty="0" err="1">
                <a:solidFill>
                  <a:srgbClr val="000000"/>
                </a:solidFill>
                <a:latin typeface="Calibri" panose="020F0502020204030204" pitchFamily="34" charset="0"/>
              </a:rPr>
              <a:t>Labour</a:t>
            </a:r>
            <a:r>
              <a:rPr lang="en-US" b="1" dirty="0">
                <a:solidFill>
                  <a:srgbClr val="000000"/>
                </a:solidFill>
                <a:latin typeface="Calibri" panose="020F0502020204030204" pitchFamily="34" charset="0"/>
              </a:rPr>
              <a:t> Charges:</a:t>
            </a:r>
            <a:endParaRPr lang="en-US" b="1" dirty="0"/>
          </a:p>
          <a:p>
            <a:pPr algn="just"/>
            <a:r>
              <a:rPr lang="en-US" dirty="0">
                <a:solidFill>
                  <a:srgbClr val="000000"/>
                </a:solidFill>
                <a:latin typeface="Calibri" panose="020F0502020204030204" pitchFamily="34" charset="0"/>
              </a:rPr>
              <a:t>	Once the Order (has been released for production), any additional orders, scope enhancements, or revisions beyond the approved proposal may incur additional transportation, logistics, and labor charges.</a:t>
            </a:r>
            <a:endParaRPr lang="en-US" dirty="0"/>
          </a:p>
          <a:p>
            <a:pPr algn="just"/>
            <a:br>
              <a:rPr lang="en-US" b="1" dirty="0"/>
            </a:br>
            <a:r>
              <a:rPr lang="en-US" b="1" dirty="0">
                <a:solidFill>
                  <a:srgbClr val="000000"/>
                </a:solidFill>
                <a:latin typeface="Calibri" panose="020F0502020204030204" pitchFamily="34" charset="0"/>
              </a:rPr>
              <a:t>4. Dispatch, Invoicing &amp; E-Way Bill Compliance:</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Materials shall be dispatched only against valid invoices and statutory documentation, including E-Way Bills wherever applicable. </a:t>
            </a:r>
            <a:r>
              <a:rPr lang="en-US" b="1" dirty="0">
                <a:solidFill>
                  <a:srgbClr val="000000"/>
                </a:solidFill>
                <a:latin typeface="Calibri" panose="020F0502020204030204" pitchFamily="34" charset="0"/>
              </a:rPr>
              <a:t>Dispatch schedules are subject to payment clearance.</a:t>
            </a:r>
            <a:endParaRPr lang="en-US" dirty="0"/>
          </a:p>
          <a:p>
            <a:pPr algn="just"/>
            <a:br>
              <a:rPr lang="en-US" dirty="0"/>
            </a:br>
            <a:r>
              <a:rPr lang="en-US" b="1" dirty="0">
                <a:solidFill>
                  <a:srgbClr val="000000"/>
                </a:solidFill>
                <a:latin typeface="Calibri" panose="020F0502020204030204" pitchFamily="34" charset="0"/>
              </a:rPr>
              <a:t>5. Final Material Dispatch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the project material shall be supplied in accordance with the agreed payment schedule. Cookscape reserves the right to withhold dispatch of material against outstanding payments.</a:t>
            </a:r>
            <a:endParaRPr lang="en-US" dirty="0"/>
          </a:p>
          <a:p>
            <a:pPr algn="just"/>
            <a:br>
              <a:rPr lang="en-US" dirty="0"/>
            </a:br>
            <a:r>
              <a:rPr lang="en-US" b="1" dirty="0">
                <a:solidFill>
                  <a:srgbClr val="000000"/>
                </a:solidFill>
                <a:latin typeface="Calibri" panose="020F0502020204030204" pitchFamily="34" charset="0"/>
              </a:rPr>
              <a:t>6. Accessories, Hardware &amp; Finishing Components:</a:t>
            </a:r>
            <a:endParaRPr lang="en-US" b="1" dirty="0">
              <a:solidFill>
                <a:srgbClr val="000000"/>
              </a:solidFill>
              <a:latin typeface="Calibri" panose="020F0502020204030204" pitchFamily="34" charset="0"/>
            </a:endParaRPr>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Accessories, hardware fittings, appliances, and décor elements form an integral part of the project and shall be supplied and installed upon clearance of the applicable payment milestone.</a:t>
            </a:r>
            <a:endParaRPr lang="en-US" dirty="0"/>
          </a:p>
          <a:p>
            <a:pPr algn="just"/>
            <a:br>
              <a:rPr lang="en-US" b="1" dirty="0"/>
            </a:br>
            <a:r>
              <a:rPr lang="en-US" b="1" dirty="0">
                <a:solidFill>
                  <a:srgbClr val="000000"/>
                </a:solidFill>
                <a:latin typeface="Calibri" panose="020F0502020204030204" pitchFamily="34" charset="0"/>
              </a:rPr>
              <a:t>7. Scope Variations: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Any addition, deletion, design revisions, material upgrades, or scope changes requested </a:t>
            </a:r>
            <a:r>
              <a:rPr lang="en-US" b="1" dirty="0">
                <a:solidFill>
                  <a:srgbClr val="000000"/>
                </a:solidFill>
                <a:latin typeface="Calibri" panose="020F0502020204030204" pitchFamily="34" charset="0"/>
              </a:rPr>
              <a:t>after approval of the drawings </a:t>
            </a:r>
            <a:r>
              <a:rPr lang="en-US" dirty="0">
                <a:solidFill>
                  <a:srgbClr val="000000"/>
                </a:solidFill>
                <a:latin typeface="Calibri" panose="020F0502020204030204" pitchFamily="34" charset="0"/>
              </a:rPr>
              <a:t>may result in revised costs and timelines and shall be executed only after mutual approval.</a:t>
            </a:r>
            <a:endParaRPr lang="en-US" dirty="0"/>
          </a:p>
          <a:p>
            <a:pPr algn="just"/>
            <a:br>
              <a:rPr lang="en-US" dirty="0"/>
            </a:br>
            <a:r>
              <a:rPr lang="en-US" b="1" dirty="0">
                <a:solidFill>
                  <a:srgbClr val="000000"/>
                </a:solidFill>
                <a:latin typeface="Calibri" panose="020F0502020204030204" pitchFamily="34" charset="0"/>
              </a:rPr>
              <a:t>8. Cancellation &amp; Refund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In the event of project cancellation, booking advances and amounts paid towards site measurements, design development, working drawings, 3D visualizations, and production planning shall be non-refundable.</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460500"/>
            <a:ext cx="8686800" cy="1200329"/>
          </a:xfrm>
          <a:prstGeom prst="rect">
            <a:avLst/>
          </a:prstGeom>
        </p:spPr>
        <p:txBody>
          <a:bodyPr wrap="square">
            <a:spAutoFit/>
          </a:bodyPr>
          <a:lstStyle/>
          <a:p>
            <a:pPr algn="just"/>
            <a:r>
              <a:rPr lang="en-US" b="1" dirty="0">
                <a:solidFill>
                  <a:srgbClr val="000000"/>
                </a:solidFill>
                <a:latin typeface="Calibri" panose="020F0502020204030204" pitchFamily="34" charset="0"/>
              </a:rPr>
              <a:t>9. Quality &amp; Handover:</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maintains stringent quality standards throughout project execution. Clients are encouraged to communicate any concerns identified during the final inspection or handover process to ensure prompt resolution.</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dirty="0"/>
          </a:p>
        </p:txBody>
      </p:sp>
      <p:sp>
        <p:nvSpPr>
          <p:cNvPr id="6" name="Rectangle 5"/>
          <p:cNvSpPr/>
          <p:nvPr/>
        </p:nvSpPr>
        <p:spPr>
          <a:xfrm>
            <a:off x="679450" y="2891750"/>
            <a:ext cx="8686800" cy="10464403"/>
          </a:xfrm>
          <a:prstGeom prst="rect">
            <a:avLst/>
          </a:prstGeom>
        </p:spPr>
        <p:txBody>
          <a:bodyPr wrap="square">
            <a:spAutoFit/>
          </a:bodyPr>
          <a:lstStyle/>
          <a:p>
            <a:pPr algn="just"/>
            <a:r>
              <a:rPr lang="en-US" sz="2000" b="1" dirty="0">
                <a:solidFill>
                  <a:srgbClr val="C00000"/>
                </a:solidFill>
              </a:rPr>
              <a:t>FREQUENTLY ASKED QUESTIONS (FAQS)</a:t>
            </a:r>
            <a:endParaRPr lang="en-US" sz="2000" b="1" dirty="0">
              <a:solidFill>
                <a:srgbClr val="C00000"/>
              </a:solidFill>
            </a:endParaRPr>
          </a:p>
          <a:p>
            <a:pPr algn="just"/>
            <a:endParaRPr lang="en-US" sz="2400" b="1" dirty="0">
              <a:solidFill>
                <a:srgbClr val="C00000"/>
              </a:solidFill>
            </a:endParaRPr>
          </a:p>
          <a:p>
            <a:pPr algn="just"/>
            <a:r>
              <a:rPr lang="en-US" b="1" dirty="0"/>
              <a:t>1.What exactly is included in the quoted price?</a:t>
            </a:r>
            <a:endParaRPr lang="en-US" b="1" dirty="0"/>
          </a:p>
          <a:p>
            <a:pPr algn="just"/>
            <a:r>
              <a:rPr lang="en-US" dirty="0"/>
              <a:t>	The quoted price includes Design services, PDI, woodwork related materials, Hardware, manufacturing, Transportation, installation, Supervision, Inspection and services work specifically mentioned in the quotation.</a:t>
            </a:r>
            <a:endParaRPr lang="en-US" dirty="0"/>
          </a:p>
          <a:p>
            <a:pPr algn="just"/>
            <a:endParaRPr lang="en-US" dirty="0"/>
          </a:p>
          <a:p>
            <a:pPr algn="just"/>
            <a:r>
              <a:rPr lang="en-US" b="1" dirty="0"/>
              <a:t>2.How long is this quotation valid?</a:t>
            </a:r>
            <a:endParaRPr lang="en-US" b="1" dirty="0"/>
          </a:p>
          <a:p>
            <a:pPr algn="just"/>
            <a:r>
              <a:rPr lang="en-US" dirty="0"/>
              <a:t>	This quotation is valid for 15 days from the date of issue unless otherwise specified. Prices may be revised after the validity period due to market fluctuations in material and labor costs.</a:t>
            </a:r>
            <a:endParaRPr lang="en-US" dirty="0"/>
          </a:p>
          <a:p>
            <a:pPr algn="just"/>
            <a:endParaRPr lang="en-US" dirty="0"/>
          </a:p>
          <a:p>
            <a:pPr algn="just"/>
            <a:r>
              <a:rPr lang="en-US" b="1" dirty="0"/>
              <a:t>3.How is the total project cost calculated?</a:t>
            </a:r>
            <a:endParaRPr lang="en-US" b="1" dirty="0"/>
          </a:p>
          <a:p>
            <a:pPr algn="just"/>
            <a:r>
              <a:rPr lang="en-US" dirty="0"/>
              <a:t>	The total project cost is calculated based on the approved design, material specifications, project scope, installation work, and site conditions.</a:t>
            </a:r>
            <a:endParaRPr lang="en-US" dirty="0"/>
          </a:p>
          <a:p>
            <a:pPr algn="just"/>
            <a:endParaRPr lang="en-US" dirty="0"/>
          </a:p>
          <a:p>
            <a:pPr algn="just"/>
            <a:r>
              <a:rPr lang="en-US" b="1" dirty="0"/>
              <a:t>4.Are design services and drawings included in the quotation?</a:t>
            </a:r>
            <a:endParaRPr lang="en-US" b="1" dirty="0"/>
          </a:p>
          <a:p>
            <a:pPr algn="just"/>
            <a:r>
              <a:rPr lang="en-US" dirty="0"/>
              <a:t>	Yes. Design consultation, space planning, and relevant drawings are included in accordance with the scope defined in the quotation.</a:t>
            </a:r>
            <a:endParaRPr lang="en-US" dirty="0"/>
          </a:p>
          <a:p>
            <a:pPr algn="just"/>
            <a:endParaRPr lang="en-US" dirty="0"/>
          </a:p>
          <a:p>
            <a:pPr algn="just"/>
            <a:r>
              <a:rPr lang="en-US" b="1" dirty="0"/>
              <a:t>5.Can the design be modified after final approval?</a:t>
            </a:r>
            <a:endParaRPr lang="en-US" b="1" dirty="0"/>
          </a:p>
          <a:p>
            <a:pPr algn="just"/>
            <a:r>
              <a:rPr lang="en-US" dirty="0"/>
              <a:t>	Minor modifications may be accommodated before production begins. Significant design changes after approval may impact project cost and timeline.</a:t>
            </a:r>
            <a:endParaRPr lang="en-US" dirty="0"/>
          </a:p>
          <a:p>
            <a:pPr algn="just"/>
            <a:endParaRPr lang="en-US" dirty="0"/>
          </a:p>
          <a:p>
            <a:pPr algn="just"/>
            <a:r>
              <a:rPr lang="en-US" b="1" dirty="0"/>
              <a:t>6.Can additional requirements be added during project execution?</a:t>
            </a:r>
            <a:endParaRPr lang="en-US" b="1" dirty="0"/>
          </a:p>
          <a:p>
            <a:pPr algn="just"/>
            <a:r>
              <a:rPr lang="en-US" dirty="0"/>
              <a:t>	Yes. Additional requirements can be incorporated through a variation order process, subject to feasibility, revised pricing, and timeline adjustments.</a:t>
            </a:r>
            <a:endParaRPr lang="en-US" dirty="0"/>
          </a:p>
          <a:p>
            <a:pPr algn="just"/>
            <a:endParaRPr lang="en-US" dirty="0"/>
          </a:p>
          <a:p>
            <a:pPr algn="just"/>
            <a:r>
              <a:rPr lang="en-US" b="1" dirty="0"/>
              <a:t>7.What materials, brands, and finishes will be used for my project?</a:t>
            </a:r>
            <a:endParaRPr lang="en-US" b="1" dirty="0"/>
          </a:p>
          <a:p>
            <a:pPr algn="just"/>
            <a:r>
              <a:rPr lang="en-US" dirty="0"/>
              <a:t>	All materials, brands, and finishes will be selected in accordance with the approved specifications and material schedule provided during the design stage.</a:t>
            </a:r>
            <a:endParaRPr lang="en-US" dirty="0"/>
          </a:p>
          <a:p>
            <a:pPr algn="just"/>
            <a:endParaRPr lang="en-US" dirty="0"/>
          </a:p>
          <a:p>
            <a:pPr algn="just"/>
            <a:r>
              <a:rPr lang="en-US" b="1" dirty="0"/>
              <a:t>8.Will I receive material samples before production begins?</a:t>
            </a:r>
            <a:endParaRPr lang="en-US" b="1" dirty="0"/>
          </a:p>
          <a:p>
            <a:pPr algn="just"/>
            <a:r>
              <a:rPr lang="en-US" dirty="0"/>
              <a:t>	Yes. Material samples, finish swatches, or references will be shared for approval wherever applicable before production commences.</a:t>
            </a:r>
            <a:endParaRPr lang="en-US" dirty="0"/>
          </a:p>
          <a:p>
            <a:pPr algn="just"/>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9450" y="1215350"/>
            <a:ext cx="8686800" cy="10618291"/>
          </a:xfrm>
          <a:prstGeom prst="rect">
            <a:avLst/>
          </a:prstGeom>
        </p:spPr>
        <p:txBody>
          <a:bodyPr wrap="square">
            <a:spAutoFit/>
          </a:bodyPr>
          <a:lstStyle/>
          <a:p>
            <a:pPr algn="just"/>
            <a:endParaRPr lang="en-US" b="1" dirty="0"/>
          </a:p>
          <a:p>
            <a:pPr algn="just"/>
            <a:r>
              <a:rPr lang="en-US" b="1" dirty="0"/>
              <a:t>9.Can materials or finishes be upgraded after project confirmation?</a:t>
            </a:r>
            <a:endParaRPr lang="en-US" b="1" dirty="0"/>
          </a:p>
          <a:p>
            <a:pPr algn="just"/>
            <a:r>
              <a:rPr lang="en-US" dirty="0"/>
              <a:t>	Yes. Material or finishes can be upgraded during the loading stage. However , Once the order has been released for production no further changes can be accommodated. </a:t>
            </a:r>
            <a:endParaRPr lang="en-US" dirty="0"/>
          </a:p>
          <a:p>
            <a:pPr algn="just"/>
            <a:endParaRPr lang="en-US" dirty="0"/>
          </a:p>
          <a:p>
            <a:pPr algn="just"/>
            <a:r>
              <a:rPr lang="en-US" b="1" dirty="0"/>
              <a:t>10.Is GST included in the quoted amount?</a:t>
            </a:r>
            <a:endParaRPr lang="en-US" b="1" dirty="0"/>
          </a:p>
          <a:p>
            <a:pPr algn="just"/>
            <a:r>
              <a:rPr lang="en-US" dirty="0"/>
              <a:t>	</a:t>
            </a:r>
            <a:r>
              <a:rPr lang="en-US" b="1" dirty="0"/>
              <a:t>GST is applicable</a:t>
            </a:r>
            <a:r>
              <a:rPr lang="en-US" dirty="0"/>
              <a:t> as per prevailing government regulations. The quotation will clearly specify whether GST is included in the quoted amount or charged separately.</a:t>
            </a:r>
            <a:endParaRPr lang="en-US" dirty="0"/>
          </a:p>
          <a:p>
            <a:pPr algn="just"/>
            <a:endParaRPr lang="en-US" dirty="0"/>
          </a:p>
          <a:p>
            <a:pPr algn="just"/>
            <a:r>
              <a:rPr lang="en-US" b="1" dirty="0"/>
              <a:t>11.What is the estimated project completion timeline?</a:t>
            </a:r>
            <a:endParaRPr lang="en-US" b="1" dirty="0"/>
          </a:p>
          <a:p>
            <a:pPr algn="just"/>
            <a:r>
              <a:rPr lang="en-US" dirty="0"/>
              <a:t>	The estimated project timeline will be communicated based on project scope, design complexity, material availability, and site readiness.</a:t>
            </a:r>
            <a:endParaRPr lang="en-US" dirty="0"/>
          </a:p>
          <a:p>
            <a:pPr algn="just"/>
            <a:endParaRPr lang="en-US" dirty="0"/>
          </a:p>
          <a:p>
            <a:pPr algn="just"/>
            <a:r>
              <a:rPr lang="en-US" b="1" dirty="0"/>
              <a:t>12.When does the project timeline officially begin?</a:t>
            </a:r>
            <a:endParaRPr lang="en-US" b="1" dirty="0"/>
          </a:p>
          <a:p>
            <a:pPr algn="just"/>
            <a:r>
              <a:rPr lang="en-US" dirty="0"/>
              <a:t>	The project timeline officially begins upon receipt of the advance payment, final design approval, and confirmation of site readiness.</a:t>
            </a:r>
            <a:endParaRPr lang="en-US" dirty="0"/>
          </a:p>
          <a:p>
            <a:pPr algn="just"/>
            <a:endParaRPr lang="en-US" dirty="0"/>
          </a:p>
          <a:p>
            <a:pPr algn="just"/>
            <a:r>
              <a:rPr lang="en-US" b="1" dirty="0"/>
              <a:t>13.What factors could delay the project completion?</a:t>
            </a:r>
            <a:endParaRPr lang="en-US" b="1" dirty="0"/>
          </a:p>
          <a:p>
            <a:pPr algn="just"/>
            <a:r>
              <a:rPr lang="en-US" dirty="0"/>
              <a:t>	Project delays may occur due to design changes, delayed approvals, site readiness issues, material shortages, unforeseen site conditions, or other external factors beyond our control.</a:t>
            </a:r>
            <a:endParaRPr lang="en-US" dirty="0"/>
          </a:p>
          <a:p>
            <a:pPr algn="just"/>
            <a:endParaRPr lang="en-US" dirty="0"/>
          </a:p>
          <a:p>
            <a:pPr algn="just"/>
            <a:r>
              <a:rPr lang="en-US" b="1" dirty="0"/>
              <a:t>14.What is the payment schedule and payment structure?</a:t>
            </a:r>
            <a:endParaRPr lang="en-US" b="1" dirty="0"/>
          </a:p>
          <a:p>
            <a:pPr algn="just"/>
            <a:r>
              <a:rPr lang="en-US" dirty="0"/>
              <a:t>	</a:t>
            </a:r>
            <a:r>
              <a:rPr lang="en-US" b="1" dirty="0"/>
              <a:t>Payments are generally structured in stages</a:t>
            </a:r>
            <a:r>
              <a:rPr lang="en-US" dirty="0"/>
              <a:t>, including advance payment, production milestone payments, and final payment before handover. The detailed schedule will be specified in the quotation. </a:t>
            </a:r>
            <a:endParaRPr lang="en-US" dirty="0"/>
          </a:p>
          <a:p>
            <a:pPr algn="just"/>
            <a:endParaRPr lang="en-US" dirty="0"/>
          </a:p>
          <a:p>
            <a:pPr algn="just"/>
            <a:r>
              <a:rPr lang="en-US" b="1" dirty="0"/>
              <a:t>15.Are transportation and installation charges included in the quotation?</a:t>
            </a:r>
            <a:endParaRPr lang="en-US" b="1" dirty="0"/>
          </a:p>
          <a:p>
            <a:pPr algn="just"/>
            <a:r>
              <a:rPr lang="en-US" dirty="0"/>
              <a:t>	</a:t>
            </a:r>
            <a:r>
              <a:rPr lang="en-US" b="1" dirty="0">
                <a:solidFill>
                  <a:srgbClr val="000000"/>
                </a:solidFill>
                <a:latin typeface="Calibri" panose="020F0502020204030204" pitchFamily="34" charset="0"/>
              </a:rPr>
              <a:t>Transportation and installation charges are included</a:t>
            </a:r>
            <a:r>
              <a:rPr lang="en-US" dirty="0">
                <a:solidFill>
                  <a:srgbClr val="000000"/>
                </a:solidFill>
                <a:latin typeface="Calibri" panose="020F0502020204030204" pitchFamily="34" charset="0"/>
              </a:rPr>
              <a:t> for orders above 3 lakhs. Onsite Partitioning, Assembly of Space-saving furniture and Removal of existing units during renovation projects additional charges may be applied separately with the client’s approval. </a:t>
            </a:r>
            <a:endParaRPr lang="en-US" dirty="0">
              <a:solidFill>
                <a:srgbClr val="000000"/>
              </a:solidFill>
              <a:latin typeface="Calibri" panose="020F0502020204030204" pitchFamily="34" charset="0"/>
            </a:endParaRPr>
          </a:p>
          <a:p>
            <a:pPr algn="just"/>
            <a:endParaRPr lang="en-US" dirty="0">
              <a:solidFill>
                <a:srgbClr val="000000"/>
              </a:solidFill>
              <a:latin typeface="Calibri" panose="020F0502020204030204" pitchFamily="34" charset="0"/>
            </a:endParaRPr>
          </a:p>
          <a:p>
            <a:pPr algn="just"/>
            <a:r>
              <a:rPr lang="en-US" b="1" dirty="0"/>
              <a:t>16. Is Annual Maintenance Service Chargeable?</a:t>
            </a:r>
            <a:endParaRPr lang="en-US" b="1" dirty="0"/>
          </a:p>
          <a:p>
            <a:pPr algn="just"/>
            <a:r>
              <a:rPr lang="en-US" dirty="0"/>
              <a:t>	No, Annual maintenance service is provided free of charge for the first 10 years from the date of installation, subject to the terms and conditions specified in the guarantee services will be chargeable on a call-out basis.</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
        <p:nvSpPr>
          <p:cNvPr id="5" name="Footer Placeholder 4"/>
          <p:cNvSpPr>
            <a:spLocks noGrp="1"/>
          </p:cNvSpPr>
          <p:nvPr>
            <p:ph type="ftr" sz="quarter" idx="11"/>
          </p:nvPr>
        </p:nvSpPr>
        <p:spPr/>
        <p:txBody>
          <a:bodyPr/>
          <a:lstStyle/>
          <a:p>
            <a:r>
              <a:rPr lang="en-US"/>
              <a:t>Mr. Aravindan | Individual Villa Adyar | 7418414780</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
        <p:nvSpPr>
          <p:cNvPr id="6" name="Footer Placeholder 5"/>
          <p:cNvSpPr>
            <a:spLocks noGrp="1"/>
          </p:cNvSpPr>
          <p:nvPr>
            <p:ph type="ftr" sz="quarter" idx="11"/>
          </p:nvPr>
        </p:nvSpPr>
        <p:spPr/>
        <p:txBody>
          <a:bodyPr/>
          <a:lstStyle/>
          <a:p>
            <a:r>
              <a:rPr lang="en-US"/>
              <a:t>Mr. Aravindan | Individual Villa Adyar | 7418414780</a:t>
            </a:r>
            <a:endParaRPr lang="en-US"/>
          </a:p>
        </p:txBody>
      </p:sp>
      <p:pic>
        <p:nvPicPr>
          <p:cNvPr id="3" name="Picture 2"/>
          <p:cNvPicPr>
            <a:picLocks noChangeAspect="1"/>
          </p:cNvPicPr>
          <p:nvPr/>
        </p:nvPicPr>
        <p:blipFill>
          <a:blip r:embed="rId1"/>
          <a:stretch>
            <a:fillRect/>
          </a:stretch>
        </p:blipFill>
        <p:spPr>
          <a:xfrm>
            <a:off x="0" y="656"/>
            <a:ext cx="10045700" cy="141972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20180</Words>
  <Application>WPS Presentation</Application>
  <PresentationFormat>Custom</PresentationFormat>
  <Paragraphs>1036</Paragraphs>
  <Slides>29</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29</vt:i4>
      </vt:variant>
    </vt:vector>
  </HeadingPairs>
  <TitlesOfParts>
    <vt:vector size="44" baseType="lpstr">
      <vt:lpstr>Arial</vt:lpstr>
      <vt:lpstr>SimSun</vt:lpstr>
      <vt:lpstr>Wingdings</vt:lpstr>
      <vt:lpstr>Klein</vt:lpstr>
      <vt:lpstr>Baskerville Display PT</vt:lpstr>
      <vt:lpstr>Inter</vt:lpstr>
      <vt:lpstr>Caudex Bold</vt:lpstr>
      <vt:lpstr>Baskerville Display PT</vt:lpstr>
      <vt:lpstr>Moontime</vt:lpstr>
      <vt:lpstr>Calibri</vt:lpstr>
      <vt:lpstr>Times New Roman</vt:lpstr>
      <vt:lpstr>Microsoft YaHei</vt:lpstr>
      <vt:lpstr>Arial Unicode MS</vt:lpstr>
      <vt:lpstr>Segoe UI Semibold</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Aravind-Techie</dc:creator>
  <cp:lastModifiedBy>Elakkiya Sakthivelu</cp:lastModifiedBy>
  <cp:revision>71</cp:revision>
  <cp:lastPrinted>2026-10-09T10:58:00Z</cp:lastPrinted>
  <dcterms:created xsi:type="dcterms:W3CDTF">2006-08-16T00:00:00Z</dcterms:created>
  <dcterms:modified xsi:type="dcterms:W3CDTF">2026-10-22T11:34:23Z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5911505961B340918B6E2FCD837C92AA_12</vt:lpwstr>
  </property>
</Properties>
</file>